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oboto Bold" charset="1" panose="02000000000000000000"/>
      <p:regular r:id="rId21"/>
    </p:embeddedFont>
    <p:embeddedFont>
      <p:font typeface="Public Sans Bold" charset="1" panose="00000000000000000000"/>
      <p:regular r:id="rId22"/>
    </p:embeddedFont>
    <p:embeddedFont>
      <p:font typeface="Public Sans" charset="1" panose="00000000000000000000"/>
      <p:regular r:id="rId23"/>
    </p:embeddedFont>
    <p:embeddedFont>
      <p:font typeface="Canva Sans Bold" charset="1" panose="020B0803030501040103"/>
      <p:regular r:id="rId24"/>
    </p:embeddedFont>
    <p:embeddedFont>
      <p:font typeface="Canva Sans" charset="1" panose="020B0503030501040103"/>
      <p:regular r:id="rId25"/>
    </p:embeddedFont>
    <p:embeddedFont>
      <p:font typeface="Roboto" charset="1" panose="02000000000000000000"/>
      <p:regular r:id="rId26"/>
    </p:embeddedFont>
    <p:embeddedFont>
      <p:font typeface="Roboto Condensed Bold" charset="1" panose="02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png" Type="http://schemas.openxmlformats.org/officeDocument/2006/relationships/image"/><Relationship Id="rId12" Target="../media/image28.png" Type="http://schemas.openxmlformats.org/officeDocument/2006/relationships/image"/><Relationship Id="rId13" Target="../media/image29.png" Type="http://schemas.openxmlformats.org/officeDocument/2006/relationships/image"/><Relationship Id="rId14" Target="../media/image30.png" Type="http://schemas.openxmlformats.org/officeDocument/2006/relationships/image"/><Relationship Id="rId15" Target="../media/image31.png" Type="http://schemas.openxmlformats.org/officeDocument/2006/relationships/image"/><Relationship Id="rId16" Target="../media/image32.png" Type="http://schemas.openxmlformats.org/officeDocument/2006/relationships/image"/><Relationship Id="rId17" Target="../media/image33.png" Type="http://schemas.openxmlformats.org/officeDocument/2006/relationships/image"/><Relationship Id="rId18" Target="../media/image34.png" Type="http://schemas.openxmlformats.org/officeDocument/2006/relationships/image"/><Relationship Id="rId19" Target="../media/image35.png" Type="http://schemas.openxmlformats.org/officeDocument/2006/relationships/image"/><Relationship Id="rId2" Target="../media/image18.png" Type="http://schemas.openxmlformats.org/officeDocument/2006/relationships/image"/><Relationship Id="rId20" Target="../media/image36.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38.png" Type="http://schemas.openxmlformats.org/officeDocument/2006/relationships/image"/><Relationship Id="rId4" Target="../media/image39.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 Id="rId7" Target="../media/image4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11" Target="../media/image53.png" Type="http://schemas.openxmlformats.org/officeDocument/2006/relationships/image"/><Relationship Id="rId12" Target="../media/image54.png" Type="http://schemas.openxmlformats.org/officeDocument/2006/relationships/image"/><Relationship Id="rId13" Target="../media/image55.png" Type="http://schemas.openxmlformats.org/officeDocument/2006/relationships/image"/><Relationship Id="rId14" Target="../media/image56.png" Type="http://schemas.openxmlformats.org/officeDocument/2006/relationships/image"/><Relationship Id="rId15" Target="../media/image57.png" Type="http://schemas.openxmlformats.org/officeDocument/2006/relationships/image"/><Relationship Id="rId16" Target="../media/image58.png" Type="http://schemas.openxmlformats.org/officeDocument/2006/relationships/image"/><Relationship Id="rId17" Target="../media/image59.png" Type="http://schemas.openxmlformats.org/officeDocument/2006/relationships/image"/><Relationship Id="rId18" Target="../media/image60.png" Type="http://schemas.openxmlformats.org/officeDocument/2006/relationships/image"/><Relationship Id="rId19" Target="../media/image61.png" Type="http://schemas.openxmlformats.org/officeDocument/2006/relationships/image"/><Relationship Id="rId2" Target="../media/image44.png" Type="http://schemas.openxmlformats.org/officeDocument/2006/relationships/image"/><Relationship Id="rId20" Target="../media/image62.png" Type="http://schemas.openxmlformats.org/officeDocument/2006/relationships/image"/><Relationship Id="rId21" Target="../media/image63.png" Type="http://schemas.openxmlformats.org/officeDocument/2006/relationships/image"/><Relationship Id="rId22" Target="../media/image6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50.png" Type="http://schemas.openxmlformats.org/officeDocument/2006/relationships/image"/><Relationship Id="rId9" Target="../media/image5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png" Type="http://schemas.openxmlformats.org/officeDocument/2006/relationships/image"/><Relationship Id="rId12" Target="../media/image75.png" Type="http://schemas.openxmlformats.org/officeDocument/2006/relationships/image"/><Relationship Id="rId13" Target="../media/image76.png" Type="http://schemas.openxmlformats.org/officeDocument/2006/relationships/image"/><Relationship Id="rId14" Target="../media/image77.png" Type="http://schemas.openxmlformats.org/officeDocument/2006/relationships/image"/><Relationship Id="rId15" Target="../media/image78.png" Type="http://schemas.openxmlformats.org/officeDocument/2006/relationships/image"/><Relationship Id="rId16" Target="../media/image79.png" Type="http://schemas.openxmlformats.org/officeDocument/2006/relationships/image"/><Relationship Id="rId17" Target="../media/image80.png" Type="http://schemas.openxmlformats.org/officeDocument/2006/relationships/image"/><Relationship Id="rId18" Target="../media/image81.png" Type="http://schemas.openxmlformats.org/officeDocument/2006/relationships/image"/><Relationship Id="rId19" Target="../media/image82.png" Type="http://schemas.openxmlformats.org/officeDocument/2006/relationships/image"/><Relationship Id="rId2" Target="../media/image65.png" Type="http://schemas.openxmlformats.org/officeDocument/2006/relationships/image"/><Relationship Id="rId20" Target="../media/image83.png" Type="http://schemas.openxmlformats.org/officeDocument/2006/relationships/image"/><Relationship Id="rId21" Target="../media/image84.png" Type="http://schemas.openxmlformats.org/officeDocument/2006/relationships/image"/><Relationship Id="rId22" Target="../media/image85.png" Type="http://schemas.openxmlformats.org/officeDocument/2006/relationships/image"/><Relationship Id="rId3" Target="../media/image66.pn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 Id="rId7" Target="../media/image70.png" Type="http://schemas.openxmlformats.org/officeDocument/2006/relationships/image"/><Relationship Id="rId8" Target="../media/image71.png" Type="http://schemas.openxmlformats.org/officeDocument/2006/relationships/image"/><Relationship Id="rId9" Target="../media/image7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4.png" Type="http://schemas.openxmlformats.org/officeDocument/2006/relationships/image"/><Relationship Id="rId11" Target="../media/image95.png" Type="http://schemas.openxmlformats.org/officeDocument/2006/relationships/image"/><Relationship Id="rId12" Target="../media/image96.png" Type="http://schemas.openxmlformats.org/officeDocument/2006/relationships/image"/><Relationship Id="rId13" Target="../media/image97.png" Type="http://schemas.openxmlformats.org/officeDocument/2006/relationships/image"/><Relationship Id="rId14" Target="../media/image98.png" Type="http://schemas.openxmlformats.org/officeDocument/2006/relationships/image"/><Relationship Id="rId15" Target="../media/image99.png" Type="http://schemas.openxmlformats.org/officeDocument/2006/relationships/image"/><Relationship Id="rId16" Target="../media/image100.png" Type="http://schemas.openxmlformats.org/officeDocument/2006/relationships/image"/><Relationship Id="rId17" Target="../media/image101.png" Type="http://schemas.openxmlformats.org/officeDocument/2006/relationships/image"/><Relationship Id="rId2" Target="../media/image86.png" Type="http://schemas.openxmlformats.org/officeDocument/2006/relationships/image"/><Relationship Id="rId3" Target="../media/image87.png" Type="http://schemas.openxmlformats.org/officeDocument/2006/relationships/image"/><Relationship Id="rId4" Target="../media/image88.png" Type="http://schemas.openxmlformats.org/officeDocument/2006/relationships/image"/><Relationship Id="rId5" Target="../media/image89.png" Type="http://schemas.openxmlformats.org/officeDocument/2006/relationships/image"/><Relationship Id="rId6" Target="../media/image90.png" Type="http://schemas.openxmlformats.org/officeDocument/2006/relationships/image"/><Relationship Id="rId7" Target="../media/image91.png" Type="http://schemas.openxmlformats.org/officeDocument/2006/relationships/image"/><Relationship Id="rId8" Target="../media/image92.png" Type="http://schemas.openxmlformats.org/officeDocument/2006/relationships/image"/><Relationship Id="rId9" Target="../media/image9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svg" Type="http://schemas.openxmlformats.org/officeDocument/2006/relationships/image"/><Relationship Id="rId2" Target="../media/image37.jpeg" Type="http://schemas.openxmlformats.org/officeDocument/2006/relationships/image"/><Relationship Id="rId3" Target="../media/image102.png" Type="http://schemas.openxmlformats.org/officeDocument/2006/relationships/image"/><Relationship Id="rId4" Target="../media/image103.svg" Type="http://schemas.openxmlformats.org/officeDocument/2006/relationships/image"/><Relationship Id="rId5" Target="../media/image104.png" Type="http://schemas.openxmlformats.org/officeDocument/2006/relationships/image"/><Relationship Id="rId6" Target="../media/image105.svg" Type="http://schemas.openxmlformats.org/officeDocument/2006/relationships/image"/><Relationship Id="rId7" Target="../media/image106.png" Type="http://schemas.openxmlformats.org/officeDocument/2006/relationships/image"/><Relationship Id="rId8" Target="../media/image107.svg" Type="http://schemas.openxmlformats.org/officeDocument/2006/relationships/image"/><Relationship Id="rId9" Target="../media/image10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110.png" Type="http://schemas.openxmlformats.org/officeDocument/2006/relationships/image"/><Relationship Id="rId4" Target="../media/image111.png" Type="http://schemas.openxmlformats.org/officeDocument/2006/relationships/image"/><Relationship Id="rId5" Target="../media/image112.png" Type="http://schemas.openxmlformats.org/officeDocument/2006/relationships/image"/><Relationship Id="rId6" Target="../media/image1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524000" cy="1714500"/>
          </a:xfrm>
          <a:custGeom>
            <a:avLst/>
            <a:gdLst/>
            <a:ahLst/>
            <a:cxnLst/>
            <a:rect r="r" b="b" t="t" l="l"/>
            <a:pathLst>
              <a:path h="1714500" w="1524000">
                <a:moveTo>
                  <a:pt x="0" y="0"/>
                </a:moveTo>
                <a:lnTo>
                  <a:pt x="1524000" y="0"/>
                </a:lnTo>
                <a:lnTo>
                  <a:pt x="1524000" y="1714500"/>
                </a:lnTo>
                <a:lnTo>
                  <a:pt x="0" y="1714500"/>
                </a:lnTo>
                <a:lnTo>
                  <a:pt x="0" y="0"/>
                </a:lnTo>
                <a:close/>
              </a:path>
            </a:pathLst>
          </a:custGeom>
          <a:blipFill>
            <a:blip r:embed="rId3"/>
            <a:stretch>
              <a:fillRect l="0" t="0" r="0" b="0"/>
            </a:stretch>
          </a:blipFill>
        </p:spPr>
      </p:sp>
      <p:sp>
        <p:nvSpPr>
          <p:cNvPr name="Freeform 4" id="4"/>
          <p:cNvSpPr/>
          <p:nvPr/>
        </p:nvSpPr>
        <p:spPr>
          <a:xfrm flipH="false" flipV="false" rot="0">
            <a:off x="8924925" y="0"/>
            <a:ext cx="9363075" cy="10287000"/>
          </a:xfrm>
          <a:custGeom>
            <a:avLst/>
            <a:gdLst/>
            <a:ahLst/>
            <a:cxnLst/>
            <a:rect r="r" b="b" t="t" l="l"/>
            <a:pathLst>
              <a:path h="10287000" w="9363075">
                <a:moveTo>
                  <a:pt x="0" y="0"/>
                </a:moveTo>
                <a:lnTo>
                  <a:pt x="9363075" y="0"/>
                </a:lnTo>
                <a:lnTo>
                  <a:pt x="9363075" y="10287000"/>
                </a:lnTo>
                <a:lnTo>
                  <a:pt x="0" y="10287000"/>
                </a:lnTo>
                <a:lnTo>
                  <a:pt x="0" y="0"/>
                </a:lnTo>
                <a:close/>
              </a:path>
            </a:pathLst>
          </a:custGeom>
          <a:blipFill>
            <a:blip r:embed="rId4"/>
            <a:stretch>
              <a:fillRect l="0" t="0" r="0" b="0"/>
            </a:stretch>
          </a:blipFill>
        </p:spPr>
      </p:sp>
      <p:sp>
        <p:nvSpPr>
          <p:cNvPr name="Freeform 5" id="5"/>
          <p:cNvSpPr/>
          <p:nvPr/>
        </p:nvSpPr>
        <p:spPr>
          <a:xfrm flipH="false" flipV="false" rot="0">
            <a:off x="14144625" y="1495425"/>
            <a:ext cx="3714750" cy="3219450"/>
          </a:xfrm>
          <a:custGeom>
            <a:avLst/>
            <a:gdLst/>
            <a:ahLst/>
            <a:cxnLst/>
            <a:rect r="r" b="b" t="t" l="l"/>
            <a:pathLst>
              <a:path h="3219450" w="3714750">
                <a:moveTo>
                  <a:pt x="0" y="0"/>
                </a:moveTo>
                <a:lnTo>
                  <a:pt x="3714750" y="0"/>
                </a:lnTo>
                <a:lnTo>
                  <a:pt x="3714750" y="3219450"/>
                </a:lnTo>
                <a:lnTo>
                  <a:pt x="0" y="3219450"/>
                </a:lnTo>
                <a:lnTo>
                  <a:pt x="0" y="0"/>
                </a:lnTo>
                <a:close/>
              </a:path>
            </a:pathLst>
          </a:custGeom>
          <a:blipFill>
            <a:blip r:embed="rId5"/>
            <a:stretch>
              <a:fillRect l="0" t="0" r="0" b="0"/>
            </a:stretch>
          </a:blipFill>
        </p:spPr>
      </p:sp>
      <p:sp>
        <p:nvSpPr>
          <p:cNvPr name="Freeform 6" id="6"/>
          <p:cNvSpPr/>
          <p:nvPr/>
        </p:nvSpPr>
        <p:spPr>
          <a:xfrm flipH="false" flipV="false" rot="0">
            <a:off x="9791700" y="2352675"/>
            <a:ext cx="8496300" cy="6438900"/>
          </a:xfrm>
          <a:custGeom>
            <a:avLst/>
            <a:gdLst/>
            <a:ahLst/>
            <a:cxnLst/>
            <a:rect r="r" b="b" t="t" l="l"/>
            <a:pathLst>
              <a:path h="6438900" w="8496300">
                <a:moveTo>
                  <a:pt x="0" y="0"/>
                </a:moveTo>
                <a:lnTo>
                  <a:pt x="8496300" y="0"/>
                </a:lnTo>
                <a:lnTo>
                  <a:pt x="8496300" y="6438900"/>
                </a:lnTo>
                <a:lnTo>
                  <a:pt x="0" y="6438900"/>
                </a:lnTo>
                <a:lnTo>
                  <a:pt x="0" y="0"/>
                </a:lnTo>
                <a:close/>
              </a:path>
            </a:pathLst>
          </a:custGeom>
          <a:blipFill>
            <a:blip r:embed="rId6"/>
            <a:stretch>
              <a:fillRect l="0" t="0" r="0" b="0"/>
            </a:stretch>
          </a:blipFill>
        </p:spPr>
      </p:sp>
      <p:sp>
        <p:nvSpPr>
          <p:cNvPr name="TextBox 7" id="7"/>
          <p:cNvSpPr txBox="true"/>
          <p:nvPr/>
        </p:nvSpPr>
        <p:spPr>
          <a:xfrm rot="0">
            <a:off x="620658" y="1206945"/>
            <a:ext cx="7585727" cy="953942"/>
          </a:xfrm>
          <a:prstGeom prst="rect">
            <a:avLst/>
          </a:prstGeom>
        </p:spPr>
        <p:txBody>
          <a:bodyPr anchor="t" rtlCol="false" tIns="0" lIns="0" bIns="0" rIns="0">
            <a:spAutoFit/>
          </a:bodyPr>
          <a:lstStyle/>
          <a:p>
            <a:pPr algn="l">
              <a:lnSpc>
                <a:spcPts val="7684"/>
              </a:lnSpc>
            </a:pPr>
            <a:r>
              <a:rPr lang="en-US" b="true" sz="6147" spc="60">
                <a:solidFill>
                  <a:srgbClr val="092B62"/>
                </a:solidFill>
                <a:latin typeface="Roboto Bold"/>
                <a:ea typeface="Roboto Bold"/>
                <a:cs typeface="Roboto Bold"/>
                <a:sym typeface="Roboto Bold"/>
              </a:rPr>
              <a:t>HỆ THỐNG QUẢN LÝ</a:t>
            </a:r>
          </a:p>
        </p:txBody>
      </p:sp>
      <p:sp>
        <p:nvSpPr>
          <p:cNvPr name="TextBox 8" id="8"/>
          <p:cNvSpPr txBox="true"/>
          <p:nvPr/>
        </p:nvSpPr>
        <p:spPr>
          <a:xfrm rot="0">
            <a:off x="619148" y="2192070"/>
            <a:ext cx="7736784" cy="1892657"/>
          </a:xfrm>
          <a:prstGeom prst="rect">
            <a:avLst/>
          </a:prstGeom>
        </p:spPr>
        <p:txBody>
          <a:bodyPr anchor="t" rtlCol="false" tIns="0" lIns="0" bIns="0" rIns="0">
            <a:spAutoFit/>
          </a:bodyPr>
          <a:lstStyle/>
          <a:p>
            <a:pPr algn="l">
              <a:lnSpc>
                <a:spcPts val="7586"/>
              </a:lnSpc>
            </a:pPr>
            <a:r>
              <a:rPr lang="en-US" b="true" sz="6068" spc="59">
                <a:solidFill>
                  <a:srgbClr val="56B0FA"/>
                </a:solidFill>
                <a:latin typeface="Roboto Bold"/>
                <a:ea typeface="Roboto Bold"/>
                <a:cs typeface="Roboto Bold"/>
                <a:sym typeface="Roboto Bold"/>
              </a:rPr>
              <a:t>HỌC VỤ VÀ ĐĂNG KÝ</a:t>
            </a:r>
          </a:p>
          <a:p>
            <a:pPr algn="l">
              <a:lnSpc>
                <a:spcPts val="7586"/>
              </a:lnSpc>
            </a:pPr>
            <a:r>
              <a:rPr lang="en-US" b="true" sz="6068" spc="59">
                <a:solidFill>
                  <a:srgbClr val="56B0FA"/>
                </a:solidFill>
                <a:latin typeface="Roboto Bold"/>
                <a:ea typeface="Roboto Bold"/>
                <a:cs typeface="Roboto Bold"/>
                <a:sym typeface="Roboto Bold"/>
              </a:rPr>
              <a:t>TÍN CHỈ ĐẠI HỌC</a:t>
            </a:r>
          </a:p>
        </p:txBody>
      </p:sp>
      <p:sp>
        <p:nvSpPr>
          <p:cNvPr name="Freeform 9" id="9"/>
          <p:cNvSpPr/>
          <p:nvPr/>
        </p:nvSpPr>
        <p:spPr>
          <a:xfrm flipH="false" flipV="false" rot="0">
            <a:off x="647700" y="4067175"/>
            <a:ext cx="7848600" cy="438150"/>
          </a:xfrm>
          <a:custGeom>
            <a:avLst/>
            <a:gdLst/>
            <a:ahLst/>
            <a:cxnLst/>
            <a:rect r="r" b="b" t="t" l="l"/>
            <a:pathLst>
              <a:path h="438150" w="7848600">
                <a:moveTo>
                  <a:pt x="0" y="0"/>
                </a:moveTo>
                <a:lnTo>
                  <a:pt x="7848600" y="0"/>
                </a:lnTo>
                <a:lnTo>
                  <a:pt x="7848600" y="438150"/>
                </a:lnTo>
                <a:lnTo>
                  <a:pt x="0" y="438150"/>
                </a:lnTo>
                <a:lnTo>
                  <a:pt x="0" y="0"/>
                </a:lnTo>
                <a:close/>
              </a:path>
            </a:pathLst>
          </a:custGeom>
          <a:blipFill>
            <a:blip r:embed="rId7"/>
            <a:stretch>
              <a:fillRect l="0" t="0" r="0" b="0"/>
            </a:stretch>
          </a:blipFill>
        </p:spPr>
      </p:sp>
      <p:sp>
        <p:nvSpPr>
          <p:cNvPr name="Freeform 10" id="10"/>
          <p:cNvSpPr/>
          <p:nvPr/>
        </p:nvSpPr>
        <p:spPr>
          <a:xfrm flipH="false" flipV="false" rot="0">
            <a:off x="647700" y="4495800"/>
            <a:ext cx="7848600" cy="2152650"/>
          </a:xfrm>
          <a:custGeom>
            <a:avLst/>
            <a:gdLst/>
            <a:ahLst/>
            <a:cxnLst/>
            <a:rect r="r" b="b" t="t" l="l"/>
            <a:pathLst>
              <a:path h="2152650" w="7848600">
                <a:moveTo>
                  <a:pt x="0" y="0"/>
                </a:moveTo>
                <a:lnTo>
                  <a:pt x="7848600" y="0"/>
                </a:lnTo>
                <a:lnTo>
                  <a:pt x="7848600" y="2152650"/>
                </a:lnTo>
                <a:lnTo>
                  <a:pt x="0" y="2152650"/>
                </a:lnTo>
                <a:lnTo>
                  <a:pt x="0" y="0"/>
                </a:lnTo>
                <a:close/>
              </a:path>
            </a:pathLst>
          </a:custGeom>
          <a:blipFill>
            <a:blip r:embed="rId8"/>
            <a:stretch>
              <a:fillRect l="0" t="0" r="0" b="0"/>
            </a:stretch>
          </a:blipFill>
        </p:spPr>
      </p:sp>
      <p:sp>
        <p:nvSpPr>
          <p:cNvPr name="Freeform 11" id="11"/>
          <p:cNvSpPr/>
          <p:nvPr/>
        </p:nvSpPr>
        <p:spPr>
          <a:xfrm flipH="false" flipV="false" rot="0">
            <a:off x="1085850" y="4714875"/>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9"/>
            <a:stretch>
              <a:fillRect l="0" t="0" r="0" b="0"/>
            </a:stretch>
          </a:blipFill>
        </p:spPr>
      </p:sp>
      <p:sp>
        <p:nvSpPr>
          <p:cNvPr name="Freeform 12" id="12"/>
          <p:cNvSpPr/>
          <p:nvPr/>
        </p:nvSpPr>
        <p:spPr>
          <a:xfrm flipH="false" flipV="false" rot="0">
            <a:off x="1733550" y="4924425"/>
            <a:ext cx="228600" cy="647700"/>
          </a:xfrm>
          <a:custGeom>
            <a:avLst/>
            <a:gdLst/>
            <a:ahLst/>
            <a:cxnLst/>
            <a:rect r="r" b="b" t="t" l="l"/>
            <a:pathLst>
              <a:path h="647700" w="228600">
                <a:moveTo>
                  <a:pt x="0" y="0"/>
                </a:moveTo>
                <a:lnTo>
                  <a:pt x="228600" y="0"/>
                </a:lnTo>
                <a:lnTo>
                  <a:pt x="228600" y="647700"/>
                </a:lnTo>
                <a:lnTo>
                  <a:pt x="0" y="647700"/>
                </a:lnTo>
                <a:lnTo>
                  <a:pt x="0" y="0"/>
                </a:lnTo>
                <a:close/>
              </a:path>
            </a:pathLst>
          </a:custGeom>
          <a:blipFill>
            <a:blip r:embed="rId10"/>
            <a:stretch>
              <a:fillRect l="0" t="0" r="0" b="0"/>
            </a:stretch>
          </a:blipFill>
        </p:spPr>
      </p:sp>
      <p:sp>
        <p:nvSpPr>
          <p:cNvPr name="TextBox 13" id="13"/>
          <p:cNvSpPr txBox="true"/>
          <p:nvPr/>
        </p:nvSpPr>
        <p:spPr>
          <a:xfrm rot="0">
            <a:off x="2058917" y="5013856"/>
            <a:ext cx="5741925" cy="327124"/>
          </a:xfrm>
          <a:prstGeom prst="rect">
            <a:avLst/>
          </a:prstGeom>
        </p:spPr>
        <p:txBody>
          <a:bodyPr anchor="t" rtlCol="false" tIns="0" lIns="0" bIns="0" rIns="0">
            <a:spAutoFit/>
          </a:bodyPr>
          <a:lstStyle/>
          <a:p>
            <a:pPr algn="l">
              <a:lnSpc>
                <a:spcPts val="2636"/>
              </a:lnSpc>
            </a:pPr>
            <a:r>
              <a:rPr lang="en-US" sz="2109" spc="20" b="true">
                <a:solidFill>
                  <a:srgbClr val="092B62"/>
                </a:solidFill>
                <a:latin typeface="Public Sans Bold"/>
                <a:ea typeface="Public Sans Bold"/>
                <a:cs typeface="Public Sans Bold"/>
                <a:sym typeface="Public Sans Bold"/>
              </a:rPr>
              <a:t>Học phần: Hệ quản trị cơ sở dữ liệu (DBMS)</a:t>
            </a:r>
          </a:p>
        </p:txBody>
      </p:sp>
      <p:sp>
        <p:nvSpPr>
          <p:cNvPr name="Freeform 14" id="14"/>
          <p:cNvSpPr/>
          <p:nvPr/>
        </p:nvSpPr>
        <p:spPr>
          <a:xfrm flipH="false" flipV="false" rot="0">
            <a:off x="1085850" y="5572125"/>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11"/>
            <a:stretch>
              <a:fillRect l="0" t="0" r="0" b="0"/>
            </a:stretch>
          </a:blipFill>
        </p:spPr>
      </p:sp>
      <p:sp>
        <p:nvSpPr>
          <p:cNvPr name="Freeform 15" id="15"/>
          <p:cNvSpPr/>
          <p:nvPr/>
        </p:nvSpPr>
        <p:spPr>
          <a:xfrm flipH="false" flipV="false" rot="0">
            <a:off x="1733550" y="5572125"/>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12"/>
            <a:stretch>
              <a:fillRect l="0" t="0" r="0" b="0"/>
            </a:stretch>
          </a:blipFill>
        </p:spPr>
      </p:sp>
      <p:sp>
        <p:nvSpPr>
          <p:cNvPr name="TextBox 16" id="16"/>
          <p:cNvSpPr txBox="true"/>
          <p:nvPr/>
        </p:nvSpPr>
        <p:spPr>
          <a:xfrm rot="0">
            <a:off x="2078543" y="5842642"/>
            <a:ext cx="3779322" cy="327124"/>
          </a:xfrm>
          <a:prstGeom prst="rect">
            <a:avLst/>
          </a:prstGeom>
        </p:spPr>
        <p:txBody>
          <a:bodyPr anchor="t" rtlCol="false" tIns="0" lIns="0" bIns="0" rIns="0">
            <a:spAutoFit/>
          </a:bodyPr>
          <a:lstStyle/>
          <a:p>
            <a:pPr algn="l">
              <a:lnSpc>
                <a:spcPts val="2636"/>
              </a:lnSpc>
            </a:pPr>
            <a:r>
              <a:rPr lang="en-US" sz="2109" spc="20" b="true">
                <a:solidFill>
                  <a:srgbClr val="092B62"/>
                </a:solidFill>
                <a:latin typeface="Public Sans Bold"/>
                <a:ea typeface="Public Sans Bold"/>
                <a:cs typeface="Public Sans Bold"/>
                <a:sym typeface="Public Sans Bold"/>
              </a:rPr>
              <a:t>Giảng viên: TS. Phan Thị Thế</a:t>
            </a:r>
          </a:p>
        </p:txBody>
      </p:sp>
      <p:sp>
        <p:nvSpPr>
          <p:cNvPr name="Freeform 17" id="17"/>
          <p:cNvSpPr/>
          <p:nvPr/>
        </p:nvSpPr>
        <p:spPr>
          <a:xfrm flipH="false" flipV="false" rot="0">
            <a:off x="647700" y="6638925"/>
            <a:ext cx="7848600" cy="3219450"/>
          </a:xfrm>
          <a:custGeom>
            <a:avLst/>
            <a:gdLst/>
            <a:ahLst/>
            <a:cxnLst/>
            <a:rect r="r" b="b" t="t" l="l"/>
            <a:pathLst>
              <a:path h="3219450" w="7848600">
                <a:moveTo>
                  <a:pt x="0" y="0"/>
                </a:moveTo>
                <a:lnTo>
                  <a:pt x="7848600" y="0"/>
                </a:lnTo>
                <a:lnTo>
                  <a:pt x="7848600" y="3219450"/>
                </a:lnTo>
                <a:lnTo>
                  <a:pt x="0" y="3219450"/>
                </a:lnTo>
                <a:lnTo>
                  <a:pt x="0" y="0"/>
                </a:lnTo>
                <a:close/>
              </a:path>
            </a:pathLst>
          </a:custGeom>
          <a:blipFill>
            <a:blip r:embed="rId13"/>
            <a:stretch>
              <a:fillRect l="0" t="0" r="0" b="0"/>
            </a:stretch>
          </a:blipFill>
        </p:spPr>
      </p:sp>
      <p:sp>
        <p:nvSpPr>
          <p:cNvPr name="Freeform 18" id="18"/>
          <p:cNvSpPr/>
          <p:nvPr/>
        </p:nvSpPr>
        <p:spPr>
          <a:xfrm flipH="false" flipV="false" rot="0">
            <a:off x="647700" y="6638925"/>
            <a:ext cx="2619375" cy="866775"/>
          </a:xfrm>
          <a:custGeom>
            <a:avLst/>
            <a:gdLst/>
            <a:ahLst/>
            <a:cxnLst/>
            <a:rect r="r" b="b" t="t" l="l"/>
            <a:pathLst>
              <a:path h="866775" w="2619375">
                <a:moveTo>
                  <a:pt x="0" y="0"/>
                </a:moveTo>
                <a:lnTo>
                  <a:pt x="2619375" y="0"/>
                </a:lnTo>
                <a:lnTo>
                  <a:pt x="2619375" y="866775"/>
                </a:lnTo>
                <a:lnTo>
                  <a:pt x="0" y="866775"/>
                </a:lnTo>
                <a:lnTo>
                  <a:pt x="0" y="0"/>
                </a:lnTo>
                <a:close/>
              </a:path>
            </a:pathLst>
          </a:custGeom>
          <a:blipFill>
            <a:blip r:embed="rId14"/>
            <a:stretch>
              <a:fillRect l="0" t="0" r="0" b="0"/>
            </a:stretch>
          </a:blipFill>
        </p:spPr>
      </p:sp>
      <p:sp>
        <p:nvSpPr>
          <p:cNvPr name="TextBox 19" id="19"/>
          <p:cNvSpPr txBox="true"/>
          <p:nvPr/>
        </p:nvSpPr>
        <p:spPr>
          <a:xfrm rot="0">
            <a:off x="1140281" y="6882393"/>
            <a:ext cx="1164833" cy="327124"/>
          </a:xfrm>
          <a:prstGeom prst="rect">
            <a:avLst/>
          </a:prstGeom>
        </p:spPr>
        <p:txBody>
          <a:bodyPr anchor="t" rtlCol="false" tIns="0" lIns="0" bIns="0" rIns="0">
            <a:spAutoFit/>
          </a:bodyPr>
          <a:lstStyle/>
          <a:p>
            <a:pPr algn="l">
              <a:lnSpc>
                <a:spcPts val="2636"/>
              </a:lnSpc>
            </a:pPr>
            <a:r>
              <a:rPr lang="en-US" sz="2109" spc="20" b="true">
                <a:solidFill>
                  <a:srgbClr val="FFFFFF"/>
                </a:solidFill>
                <a:latin typeface="Public Sans Bold"/>
                <a:ea typeface="Public Sans Bold"/>
                <a:cs typeface="Public Sans Bold"/>
                <a:sym typeface="Public Sans Bold"/>
              </a:rPr>
              <a:t>Nhóm 16</a:t>
            </a:r>
          </a:p>
        </p:txBody>
      </p:sp>
      <p:sp>
        <p:nvSpPr>
          <p:cNvPr name="Freeform 20" id="20"/>
          <p:cNvSpPr/>
          <p:nvPr/>
        </p:nvSpPr>
        <p:spPr>
          <a:xfrm flipH="false" flipV="false" rot="0">
            <a:off x="1085850" y="7496175"/>
            <a:ext cx="438150" cy="438150"/>
          </a:xfrm>
          <a:custGeom>
            <a:avLst/>
            <a:gdLst/>
            <a:ahLst/>
            <a:cxnLst/>
            <a:rect r="r" b="b" t="t" l="l"/>
            <a:pathLst>
              <a:path h="438150" w="438150">
                <a:moveTo>
                  <a:pt x="0" y="0"/>
                </a:moveTo>
                <a:lnTo>
                  <a:pt x="438150" y="0"/>
                </a:lnTo>
                <a:lnTo>
                  <a:pt x="438150" y="438150"/>
                </a:lnTo>
                <a:lnTo>
                  <a:pt x="0" y="438150"/>
                </a:lnTo>
                <a:lnTo>
                  <a:pt x="0" y="0"/>
                </a:lnTo>
                <a:close/>
              </a:path>
            </a:pathLst>
          </a:custGeom>
          <a:blipFill>
            <a:blip r:embed="rId15"/>
            <a:stretch>
              <a:fillRect l="0" t="0" r="0" b="0"/>
            </a:stretch>
          </a:blipFill>
        </p:spPr>
      </p:sp>
      <p:sp>
        <p:nvSpPr>
          <p:cNvPr name="TextBox 21" id="21"/>
          <p:cNvSpPr txBox="true"/>
          <p:nvPr/>
        </p:nvSpPr>
        <p:spPr>
          <a:xfrm rot="0">
            <a:off x="1600476" y="7470078"/>
            <a:ext cx="3365728" cy="327124"/>
          </a:xfrm>
          <a:prstGeom prst="rect">
            <a:avLst/>
          </a:prstGeom>
        </p:spPr>
        <p:txBody>
          <a:bodyPr anchor="t" rtlCol="false" tIns="0" lIns="0" bIns="0" rIns="0">
            <a:spAutoFit/>
          </a:bodyPr>
          <a:lstStyle/>
          <a:p>
            <a:pPr algn="l">
              <a:lnSpc>
                <a:spcPts val="2636"/>
              </a:lnSpc>
            </a:pPr>
            <a:r>
              <a:rPr lang="en-US" sz="2109" spc="20">
                <a:solidFill>
                  <a:srgbClr val="092B62"/>
                </a:solidFill>
                <a:latin typeface="Public Sans"/>
                <a:ea typeface="Public Sans"/>
                <a:cs typeface="Public Sans"/>
                <a:sym typeface="Public Sans"/>
              </a:rPr>
              <a:t>Lê Trung Đông - 24110201</a:t>
            </a:r>
          </a:p>
        </p:txBody>
      </p:sp>
      <p:sp>
        <p:nvSpPr>
          <p:cNvPr name="Freeform 22" id="22"/>
          <p:cNvSpPr/>
          <p:nvPr/>
        </p:nvSpPr>
        <p:spPr>
          <a:xfrm flipH="false" flipV="false" rot="0">
            <a:off x="1085850" y="7924800"/>
            <a:ext cx="438150" cy="647700"/>
          </a:xfrm>
          <a:custGeom>
            <a:avLst/>
            <a:gdLst/>
            <a:ahLst/>
            <a:cxnLst/>
            <a:rect r="r" b="b" t="t" l="l"/>
            <a:pathLst>
              <a:path h="647700" w="438150">
                <a:moveTo>
                  <a:pt x="0" y="0"/>
                </a:moveTo>
                <a:lnTo>
                  <a:pt x="438150" y="0"/>
                </a:lnTo>
                <a:lnTo>
                  <a:pt x="438150" y="647700"/>
                </a:lnTo>
                <a:lnTo>
                  <a:pt x="0" y="647700"/>
                </a:lnTo>
                <a:lnTo>
                  <a:pt x="0" y="0"/>
                </a:lnTo>
                <a:close/>
              </a:path>
            </a:pathLst>
          </a:custGeom>
          <a:blipFill>
            <a:blip r:embed="rId16"/>
            <a:stretch>
              <a:fillRect l="0" t="0" r="0" b="0"/>
            </a:stretch>
          </a:blipFill>
        </p:spPr>
      </p:sp>
      <p:sp>
        <p:nvSpPr>
          <p:cNvPr name="Freeform 23" id="23"/>
          <p:cNvSpPr/>
          <p:nvPr/>
        </p:nvSpPr>
        <p:spPr>
          <a:xfrm flipH="false" flipV="false" rot="0">
            <a:off x="1085850" y="8572500"/>
            <a:ext cx="438150" cy="428625"/>
          </a:xfrm>
          <a:custGeom>
            <a:avLst/>
            <a:gdLst/>
            <a:ahLst/>
            <a:cxnLst/>
            <a:rect r="r" b="b" t="t" l="l"/>
            <a:pathLst>
              <a:path h="428625" w="438150">
                <a:moveTo>
                  <a:pt x="0" y="0"/>
                </a:moveTo>
                <a:lnTo>
                  <a:pt x="438150" y="0"/>
                </a:lnTo>
                <a:lnTo>
                  <a:pt x="438150" y="428625"/>
                </a:lnTo>
                <a:lnTo>
                  <a:pt x="0" y="428625"/>
                </a:lnTo>
                <a:lnTo>
                  <a:pt x="0" y="0"/>
                </a:lnTo>
                <a:close/>
              </a:path>
            </a:pathLst>
          </a:custGeom>
          <a:blipFill>
            <a:blip r:embed="rId17"/>
            <a:stretch>
              <a:fillRect l="0" t="0" r="0" b="0"/>
            </a:stretch>
          </a:blipFill>
        </p:spPr>
      </p:sp>
      <p:sp>
        <p:nvSpPr>
          <p:cNvPr name="TextBox 24" id="24"/>
          <p:cNvSpPr txBox="true"/>
          <p:nvPr/>
        </p:nvSpPr>
        <p:spPr>
          <a:xfrm rot="0">
            <a:off x="1596853" y="8630379"/>
            <a:ext cx="3727960" cy="327124"/>
          </a:xfrm>
          <a:prstGeom prst="rect">
            <a:avLst/>
          </a:prstGeom>
        </p:spPr>
        <p:txBody>
          <a:bodyPr anchor="t" rtlCol="false" tIns="0" lIns="0" bIns="0" rIns="0">
            <a:spAutoFit/>
          </a:bodyPr>
          <a:lstStyle/>
          <a:p>
            <a:pPr algn="l">
              <a:lnSpc>
                <a:spcPts val="2636"/>
              </a:lnSpc>
            </a:pPr>
            <a:r>
              <a:rPr lang="en-US" sz="2109" spc="20">
                <a:solidFill>
                  <a:srgbClr val="092B62"/>
                </a:solidFill>
                <a:latin typeface="Public Sans"/>
                <a:ea typeface="Public Sans"/>
                <a:cs typeface="Public Sans"/>
                <a:sym typeface="Public Sans"/>
              </a:rPr>
              <a:t>Trần Biểu Hương - 24110234</a:t>
            </a:r>
          </a:p>
        </p:txBody>
      </p:sp>
      <p:sp>
        <p:nvSpPr>
          <p:cNvPr name="Freeform 25" id="25"/>
          <p:cNvSpPr/>
          <p:nvPr/>
        </p:nvSpPr>
        <p:spPr>
          <a:xfrm flipH="false" flipV="false" rot="0">
            <a:off x="1085850" y="9210675"/>
            <a:ext cx="438150" cy="438150"/>
          </a:xfrm>
          <a:custGeom>
            <a:avLst/>
            <a:gdLst/>
            <a:ahLst/>
            <a:cxnLst/>
            <a:rect r="r" b="b" t="t" l="l"/>
            <a:pathLst>
              <a:path h="438150" w="438150">
                <a:moveTo>
                  <a:pt x="0" y="0"/>
                </a:moveTo>
                <a:lnTo>
                  <a:pt x="438150" y="0"/>
                </a:lnTo>
                <a:lnTo>
                  <a:pt x="438150" y="438150"/>
                </a:lnTo>
                <a:lnTo>
                  <a:pt x="0" y="438150"/>
                </a:lnTo>
                <a:lnTo>
                  <a:pt x="0" y="0"/>
                </a:lnTo>
                <a:close/>
              </a:path>
            </a:pathLst>
          </a:custGeom>
          <a:blipFill>
            <a:blip r:embed="rId18"/>
            <a:stretch>
              <a:fillRect l="0" t="0" r="0" b="0"/>
            </a:stretch>
          </a:blipFill>
        </p:spPr>
      </p:sp>
      <p:sp>
        <p:nvSpPr>
          <p:cNvPr name="TextBox 26" id="26"/>
          <p:cNvSpPr txBox="true"/>
          <p:nvPr/>
        </p:nvSpPr>
        <p:spPr>
          <a:xfrm rot="0">
            <a:off x="1598943" y="9202995"/>
            <a:ext cx="3518948" cy="327124"/>
          </a:xfrm>
          <a:prstGeom prst="rect">
            <a:avLst/>
          </a:prstGeom>
        </p:spPr>
        <p:txBody>
          <a:bodyPr anchor="t" rtlCol="false" tIns="0" lIns="0" bIns="0" rIns="0">
            <a:spAutoFit/>
          </a:bodyPr>
          <a:lstStyle/>
          <a:p>
            <a:pPr algn="l">
              <a:lnSpc>
                <a:spcPts val="2636"/>
              </a:lnSpc>
            </a:pPr>
            <a:r>
              <a:rPr lang="en-US" sz="2109" spc="20">
                <a:solidFill>
                  <a:srgbClr val="092B62"/>
                </a:solidFill>
                <a:latin typeface="Public Sans"/>
                <a:ea typeface="Public Sans"/>
                <a:cs typeface="Public Sans"/>
                <a:sym typeface="Public Sans"/>
              </a:rPr>
              <a:t>Âu Quốc Khánh - 24110246</a:t>
            </a:r>
          </a:p>
        </p:txBody>
      </p:sp>
      <p:sp>
        <p:nvSpPr>
          <p:cNvPr name="TextBox 27" id="27"/>
          <p:cNvSpPr txBox="true"/>
          <p:nvPr/>
        </p:nvSpPr>
        <p:spPr>
          <a:xfrm rot="0">
            <a:off x="1595396" y="8057763"/>
            <a:ext cx="3873717" cy="327124"/>
          </a:xfrm>
          <a:prstGeom prst="rect">
            <a:avLst/>
          </a:prstGeom>
        </p:spPr>
        <p:txBody>
          <a:bodyPr anchor="t" rtlCol="false" tIns="0" lIns="0" bIns="0" rIns="0">
            <a:spAutoFit/>
          </a:bodyPr>
          <a:lstStyle/>
          <a:p>
            <a:pPr algn="l">
              <a:lnSpc>
                <a:spcPts val="2636"/>
              </a:lnSpc>
            </a:pPr>
            <a:r>
              <a:rPr lang="en-US" sz="2109" spc="20">
                <a:solidFill>
                  <a:srgbClr val="092B62"/>
                </a:solidFill>
                <a:latin typeface="Public Sans"/>
                <a:ea typeface="Public Sans"/>
                <a:cs typeface="Public Sans"/>
                <a:sym typeface="Public Sans"/>
              </a:rPr>
              <a:t>Lương Viết Vĩ Đông - 2411022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9001125"/>
            <a:ext cx="10020300" cy="1285875"/>
          </a:xfrm>
          <a:custGeom>
            <a:avLst/>
            <a:gdLst/>
            <a:ahLst/>
            <a:cxnLst/>
            <a:rect r="r" b="b" t="t" l="l"/>
            <a:pathLst>
              <a:path h="1285875" w="10020300">
                <a:moveTo>
                  <a:pt x="0" y="0"/>
                </a:moveTo>
                <a:lnTo>
                  <a:pt x="10020300" y="0"/>
                </a:lnTo>
                <a:lnTo>
                  <a:pt x="10020300" y="1285875"/>
                </a:lnTo>
                <a:lnTo>
                  <a:pt x="0" y="1285875"/>
                </a:lnTo>
                <a:lnTo>
                  <a:pt x="0" y="0"/>
                </a:lnTo>
                <a:close/>
              </a:path>
            </a:pathLst>
          </a:custGeom>
          <a:blipFill>
            <a:blip r:embed="rId3"/>
            <a:stretch>
              <a:fillRect l="0" t="0" r="0" b="0"/>
            </a:stretch>
          </a:blipFill>
        </p:spPr>
      </p:sp>
      <p:sp>
        <p:nvSpPr>
          <p:cNvPr name="Freeform 4" id="4"/>
          <p:cNvSpPr/>
          <p:nvPr/>
        </p:nvSpPr>
        <p:spPr>
          <a:xfrm flipH="false" flipV="false" rot="0">
            <a:off x="0" y="8353425"/>
            <a:ext cx="1314450" cy="1933575"/>
          </a:xfrm>
          <a:custGeom>
            <a:avLst/>
            <a:gdLst/>
            <a:ahLst/>
            <a:cxnLst/>
            <a:rect r="r" b="b" t="t" l="l"/>
            <a:pathLst>
              <a:path h="1933575" w="1314450">
                <a:moveTo>
                  <a:pt x="0" y="0"/>
                </a:moveTo>
                <a:lnTo>
                  <a:pt x="1314450" y="0"/>
                </a:lnTo>
                <a:lnTo>
                  <a:pt x="1314450" y="1933575"/>
                </a:lnTo>
                <a:lnTo>
                  <a:pt x="0" y="1933575"/>
                </a:lnTo>
                <a:lnTo>
                  <a:pt x="0" y="0"/>
                </a:lnTo>
                <a:close/>
              </a:path>
            </a:pathLst>
          </a:custGeom>
          <a:blipFill>
            <a:blip r:embed="rId4"/>
            <a:stretch>
              <a:fillRect l="0" t="0" r="0" b="0"/>
            </a:stretch>
          </a:blipFill>
        </p:spPr>
      </p:sp>
      <p:sp>
        <p:nvSpPr>
          <p:cNvPr name="Freeform 5" id="5"/>
          <p:cNvSpPr/>
          <p:nvPr/>
        </p:nvSpPr>
        <p:spPr>
          <a:xfrm flipH="false" flipV="false" rot="0">
            <a:off x="16325850" y="0"/>
            <a:ext cx="1962150" cy="1285875"/>
          </a:xfrm>
          <a:custGeom>
            <a:avLst/>
            <a:gdLst/>
            <a:ahLst/>
            <a:cxnLst/>
            <a:rect r="r" b="b" t="t" l="l"/>
            <a:pathLst>
              <a:path h="1285875" w="1962150">
                <a:moveTo>
                  <a:pt x="0" y="0"/>
                </a:moveTo>
                <a:lnTo>
                  <a:pt x="1962150" y="0"/>
                </a:lnTo>
                <a:lnTo>
                  <a:pt x="1962150" y="1285875"/>
                </a:lnTo>
                <a:lnTo>
                  <a:pt x="0" y="1285875"/>
                </a:lnTo>
                <a:lnTo>
                  <a:pt x="0" y="0"/>
                </a:lnTo>
                <a:close/>
              </a:path>
            </a:pathLst>
          </a:custGeom>
          <a:blipFill>
            <a:blip r:embed="rId5"/>
            <a:stretch>
              <a:fillRect l="0" t="0" r="0" b="0"/>
            </a:stretch>
          </a:blipFill>
        </p:spPr>
      </p:sp>
      <p:sp>
        <p:nvSpPr>
          <p:cNvPr name="Freeform 6" id="6"/>
          <p:cNvSpPr/>
          <p:nvPr/>
        </p:nvSpPr>
        <p:spPr>
          <a:xfrm flipH="false" flipV="false" rot="0">
            <a:off x="15887700" y="638175"/>
            <a:ext cx="447675" cy="438150"/>
          </a:xfrm>
          <a:custGeom>
            <a:avLst/>
            <a:gdLst/>
            <a:ahLst/>
            <a:cxnLst/>
            <a:rect r="r" b="b" t="t" l="l"/>
            <a:pathLst>
              <a:path h="438150" w="447675">
                <a:moveTo>
                  <a:pt x="0" y="0"/>
                </a:moveTo>
                <a:lnTo>
                  <a:pt x="447675" y="0"/>
                </a:lnTo>
                <a:lnTo>
                  <a:pt x="447675" y="438150"/>
                </a:lnTo>
                <a:lnTo>
                  <a:pt x="0" y="438150"/>
                </a:lnTo>
                <a:lnTo>
                  <a:pt x="0" y="0"/>
                </a:lnTo>
                <a:close/>
              </a:path>
            </a:pathLst>
          </a:custGeom>
          <a:blipFill>
            <a:blip r:embed="rId6"/>
            <a:stretch>
              <a:fillRect l="0" t="0" r="0" b="0"/>
            </a:stretch>
          </a:blipFill>
        </p:spPr>
      </p:sp>
      <p:sp>
        <p:nvSpPr>
          <p:cNvPr name="Freeform 7" id="7"/>
          <p:cNvSpPr/>
          <p:nvPr/>
        </p:nvSpPr>
        <p:spPr>
          <a:xfrm flipH="false" flipV="false" rot="0">
            <a:off x="17411700" y="2571750"/>
            <a:ext cx="876300" cy="1285875"/>
          </a:xfrm>
          <a:custGeom>
            <a:avLst/>
            <a:gdLst/>
            <a:ahLst/>
            <a:cxnLst/>
            <a:rect r="r" b="b" t="t" l="l"/>
            <a:pathLst>
              <a:path h="1285875" w="876300">
                <a:moveTo>
                  <a:pt x="0" y="0"/>
                </a:moveTo>
                <a:lnTo>
                  <a:pt x="876300" y="0"/>
                </a:lnTo>
                <a:lnTo>
                  <a:pt x="876300" y="1285875"/>
                </a:lnTo>
                <a:lnTo>
                  <a:pt x="0" y="1285875"/>
                </a:lnTo>
                <a:lnTo>
                  <a:pt x="0" y="0"/>
                </a:lnTo>
                <a:close/>
              </a:path>
            </a:pathLst>
          </a:custGeom>
          <a:blipFill>
            <a:blip r:embed="rId7"/>
            <a:stretch>
              <a:fillRect l="0" t="0" r="0" b="0"/>
            </a:stretch>
          </a:blipFill>
        </p:spPr>
      </p:sp>
      <p:sp>
        <p:nvSpPr>
          <p:cNvPr name="Freeform 8" id="8"/>
          <p:cNvSpPr/>
          <p:nvPr/>
        </p:nvSpPr>
        <p:spPr>
          <a:xfrm flipH="false" flipV="false" rot="0">
            <a:off x="1085850" y="8782050"/>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8"/>
            <a:stretch>
              <a:fillRect l="0" t="0" r="0" b="0"/>
            </a:stretch>
          </a:blipFill>
        </p:spPr>
      </p:sp>
      <p:sp>
        <p:nvSpPr>
          <p:cNvPr name="Freeform 9" id="9"/>
          <p:cNvSpPr/>
          <p:nvPr/>
        </p:nvSpPr>
        <p:spPr>
          <a:xfrm flipH="false" flipV="false" rot="0">
            <a:off x="428625" y="638175"/>
            <a:ext cx="4362450" cy="8153400"/>
          </a:xfrm>
          <a:custGeom>
            <a:avLst/>
            <a:gdLst/>
            <a:ahLst/>
            <a:cxnLst/>
            <a:rect r="r" b="b" t="t" l="l"/>
            <a:pathLst>
              <a:path h="8153400" w="4362450">
                <a:moveTo>
                  <a:pt x="0" y="0"/>
                </a:moveTo>
                <a:lnTo>
                  <a:pt x="4362450" y="0"/>
                </a:lnTo>
                <a:lnTo>
                  <a:pt x="4362450" y="8153400"/>
                </a:lnTo>
                <a:lnTo>
                  <a:pt x="0" y="8153400"/>
                </a:lnTo>
                <a:lnTo>
                  <a:pt x="0" y="0"/>
                </a:lnTo>
                <a:close/>
              </a:path>
            </a:pathLst>
          </a:custGeom>
          <a:blipFill>
            <a:blip r:embed="rId9"/>
            <a:stretch>
              <a:fillRect l="0" t="0" r="0" b="0"/>
            </a:stretch>
          </a:blipFill>
        </p:spPr>
      </p:sp>
      <p:sp>
        <p:nvSpPr>
          <p:cNvPr name="Freeform 10" id="10"/>
          <p:cNvSpPr/>
          <p:nvPr/>
        </p:nvSpPr>
        <p:spPr>
          <a:xfrm flipH="false" flipV="false" rot="0">
            <a:off x="4133850" y="3857625"/>
            <a:ext cx="3705225" cy="4933950"/>
          </a:xfrm>
          <a:custGeom>
            <a:avLst/>
            <a:gdLst/>
            <a:ahLst/>
            <a:cxnLst/>
            <a:rect r="r" b="b" t="t" l="l"/>
            <a:pathLst>
              <a:path h="4933950" w="3705225">
                <a:moveTo>
                  <a:pt x="0" y="0"/>
                </a:moveTo>
                <a:lnTo>
                  <a:pt x="3705225" y="0"/>
                </a:lnTo>
                <a:lnTo>
                  <a:pt x="3705225" y="4933950"/>
                </a:lnTo>
                <a:lnTo>
                  <a:pt x="0" y="4933950"/>
                </a:lnTo>
                <a:lnTo>
                  <a:pt x="0" y="0"/>
                </a:lnTo>
                <a:close/>
              </a:path>
            </a:pathLst>
          </a:custGeom>
          <a:blipFill>
            <a:blip r:embed="rId10"/>
            <a:stretch>
              <a:fillRect l="0" t="0" r="0" b="0"/>
            </a:stretch>
          </a:blipFill>
        </p:spPr>
      </p:sp>
      <p:sp>
        <p:nvSpPr>
          <p:cNvPr name="TextBox 11" id="11"/>
          <p:cNvSpPr txBox="true"/>
          <p:nvPr/>
        </p:nvSpPr>
        <p:spPr>
          <a:xfrm rot="0">
            <a:off x="7700837" y="1228725"/>
            <a:ext cx="10491933" cy="581025"/>
          </a:xfrm>
          <a:prstGeom prst="rect">
            <a:avLst/>
          </a:prstGeom>
        </p:spPr>
        <p:txBody>
          <a:bodyPr anchor="t" rtlCol="false" tIns="0" lIns="0" bIns="0" rIns="0">
            <a:spAutoFit/>
          </a:bodyPr>
          <a:lstStyle/>
          <a:p>
            <a:pPr algn="l">
              <a:lnSpc>
                <a:spcPts val="4499"/>
              </a:lnSpc>
            </a:pPr>
            <a:r>
              <a:rPr lang="en-US" b="true" sz="4499" spc="-134">
                <a:solidFill>
                  <a:srgbClr val="173A78"/>
                </a:solidFill>
                <a:latin typeface="Canva Sans Bold"/>
                <a:ea typeface="Canva Sans Bold"/>
                <a:cs typeface="Canva Sans Bold"/>
                <a:sym typeface="Canva Sans Bold"/>
              </a:rPr>
              <a:t>BÀI TOÁN  &amp; PHÂN HỆ NGHIỆP VỤ</a:t>
            </a:r>
          </a:p>
        </p:txBody>
      </p:sp>
      <p:sp>
        <p:nvSpPr>
          <p:cNvPr name="Freeform 12" id="12"/>
          <p:cNvSpPr/>
          <p:nvPr/>
        </p:nvSpPr>
        <p:spPr>
          <a:xfrm flipH="false" flipV="false" rot="0">
            <a:off x="7620000" y="2352675"/>
            <a:ext cx="1962150" cy="219075"/>
          </a:xfrm>
          <a:custGeom>
            <a:avLst/>
            <a:gdLst/>
            <a:ahLst/>
            <a:cxnLst/>
            <a:rect r="r" b="b" t="t" l="l"/>
            <a:pathLst>
              <a:path h="219075" w="1962150">
                <a:moveTo>
                  <a:pt x="0" y="0"/>
                </a:moveTo>
                <a:lnTo>
                  <a:pt x="1962150" y="0"/>
                </a:lnTo>
                <a:lnTo>
                  <a:pt x="1962150" y="219075"/>
                </a:lnTo>
                <a:lnTo>
                  <a:pt x="0" y="219075"/>
                </a:lnTo>
                <a:lnTo>
                  <a:pt x="0" y="0"/>
                </a:lnTo>
                <a:close/>
              </a:path>
            </a:pathLst>
          </a:custGeom>
          <a:blipFill>
            <a:blip r:embed="rId11"/>
            <a:stretch>
              <a:fillRect l="0" t="0" r="0" b="0"/>
            </a:stretch>
          </a:blipFill>
        </p:spPr>
      </p:sp>
      <p:sp>
        <p:nvSpPr>
          <p:cNvPr name="TextBox 13" id="13"/>
          <p:cNvSpPr txBox="true"/>
          <p:nvPr/>
        </p:nvSpPr>
        <p:spPr>
          <a:xfrm rot="0">
            <a:off x="8267700" y="2678608"/>
            <a:ext cx="8394080" cy="1308735"/>
          </a:xfrm>
          <a:prstGeom prst="rect">
            <a:avLst/>
          </a:prstGeom>
        </p:spPr>
        <p:txBody>
          <a:bodyPr anchor="t" rtlCol="false" tIns="0" lIns="0" bIns="0" rIns="0">
            <a:spAutoFit/>
          </a:bodyPr>
          <a:lstStyle/>
          <a:p>
            <a:pPr algn="l">
              <a:lnSpc>
                <a:spcPts val="3599"/>
              </a:lnSpc>
            </a:pPr>
            <a:r>
              <a:rPr lang="en-US" sz="2399">
                <a:solidFill>
                  <a:srgbClr val="000000"/>
                </a:solidFill>
                <a:latin typeface="Canva Sans"/>
                <a:ea typeface="Canva Sans"/>
                <a:cs typeface="Canva Sans"/>
                <a:sym typeface="Canva Sans"/>
              </a:rPr>
              <a:t>Hệ thống kết nối đào tạo, tài khoản, đăng ký lớp học phần và học phí. Quy tắc phải nhất quán ngay cả khi nhiều sinh viên thao tác cùng lúc.</a:t>
            </a:r>
          </a:p>
        </p:txBody>
      </p:sp>
      <p:sp>
        <p:nvSpPr>
          <p:cNvPr name="Freeform 14" id="14"/>
          <p:cNvSpPr/>
          <p:nvPr/>
        </p:nvSpPr>
        <p:spPr>
          <a:xfrm flipH="false" flipV="false" rot="0">
            <a:off x="8267700" y="4286250"/>
            <a:ext cx="2838450" cy="4505325"/>
          </a:xfrm>
          <a:custGeom>
            <a:avLst/>
            <a:gdLst/>
            <a:ahLst/>
            <a:cxnLst/>
            <a:rect r="r" b="b" t="t" l="l"/>
            <a:pathLst>
              <a:path h="4505325" w="2838450">
                <a:moveTo>
                  <a:pt x="0" y="0"/>
                </a:moveTo>
                <a:lnTo>
                  <a:pt x="2838450" y="0"/>
                </a:lnTo>
                <a:lnTo>
                  <a:pt x="2838450" y="4505325"/>
                </a:lnTo>
                <a:lnTo>
                  <a:pt x="0" y="4505325"/>
                </a:lnTo>
                <a:lnTo>
                  <a:pt x="0" y="0"/>
                </a:lnTo>
                <a:close/>
              </a:path>
            </a:pathLst>
          </a:custGeom>
          <a:blipFill>
            <a:blip r:embed="rId12"/>
            <a:stretch>
              <a:fillRect l="0" t="0" r="0" b="0"/>
            </a:stretch>
          </a:blipFill>
        </p:spPr>
      </p:sp>
      <p:sp>
        <p:nvSpPr>
          <p:cNvPr name="Freeform 15" id="15"/>
          <p:cNvSpPr/>
          <p:nvPr/>
        </p:nvSpPr>
        <p:spPr>
          <a:xfrm flipH="false" flipV="false" rot="0">
            <a:off x="8924925" y="4714875"/>
            <a:ext cx="1533525" cy="1504950"/>
          </a:xfrm>
          <a:custGeom>
            <a:avLst/>
            <a:gdLst/>
            <a:ahLst/>
            <a:cxnLst/>
            <a:rect r="r" b="b" t="t" l="l"/>
            <a:pathLst>
              <a:path h="1504950" w="1533525">
                <a:moveTo>
                  <a:pt x="0" y="0"/>
                </a:moveTo>
                <a:lnTo>
                  <a:pt x="1533525" y="0"/>
                </a:lnTo>
                <a:lnTo>
                  <a:pt x="1533525" y="1504950"/>
                </a:lnTo>
                <a:lnTo>
                  <a:pt x="0" y="1504950"/>
                </a:lnTo>
                <a:lnTo>
                  <a:pt x="0" y="0"/>
                </a:lnTo>
                <a:close/>
              </a:path>
            </a:pathLst>
          </a:custGeom>
          <a:blipFill>
            <a:blip r:embed="rId13"/>
            <a:stretch>
              <a:fillRect l="0" t="0" r="0" b="0"/>
            </a:stretch>
          </a:blipFill>
        </p:spPr>
      </p:sp>
      <p:sp>
        <p:nvSpPr>
          <p:cNvPr name="Freeform 16" id="16"/>
          <p:cNvSpPr/>
          <p:nvPr/>
        </p:nvSpPr>
        <p:spPr>
          <a:xfrm flipH="false" flipV="false" rot="0">
            <a:off x="9144000" y="6210300"/>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14"/>
            <a:stretch>
              <a:fillRect l="0" t="0" r="0" b="0"/>
            </a:stretch>
          </a:blipFill>
        </p:spPr>
      </p:sp>
      <p:sp>
        <p:nvSpPr>
          <p:cNvPr name="Freeform 17" id="17"/>
          <p:cNvSpPr/>
          <p:nvPr/>
        </p:nvSpPr>
        <p:spPr>
          <a:xfrm flipH="false" flipV="false" rot="0">
            <a:off x="11315700" y="4286250"/>
            <a:ext cx="3057525" cy="4505325"/>
          </a:xfrm>
          <a:custGeom>
            <a:avLst/>
            <a:gdLst/>
            <a:ahLst/>
            <a:cxnLst/>
            <a:rect r="r" b="b" t="t" l="l"/>
            <a:pathLst>
              <a:path h="4505325" w="3057525">
                <a:moveTo>
                  <a:pt x="0" y="0"/>
                </a:moveTo>
                <a:lnTo>
                  <a:pt x="3057525" y="0"/>
                </a:lnTo>
                <a:lnTo>
                  <a:pt x="3057525" y="4505325"/>
                </a:lnTo>
                <a:lnTo>
                  <a:pt x="0" y="4505325"/>
                </a:lnTo>
                <a:lnTo>
                  <a:pt x="0" y="0"/>
                </a:lnTo>
                <a:close/>
              </a:path>
            </a:pathLst>
          </a:custGeom>
          <a:blipFill>
            <a:blip r:embed="rId15"/>
            <a:stretch>
              <a:fillRect l="0" t="0" r="0" b="0"/>
            </a:stretch>
          </a:blipFill>
        </p:spPr>
      </p:sp>
      <p:sp>
        <p:nvSpPr>
          <p:cNvPr name="Freeform 18" id="18"/>
          <p:cNvSpPr/>
          <p:nvPr/>
        </p:nvSpPr>
        <p:spPr>
          <a:xfrm flipH="false" flipV="false" rot="0">
            <a:off x="11972925" y="4714875"/>
            <a:ext cx="1743075" cy="1504950"/>
          </a:xfrm>
          <a:custGeom>
            <a:avLst/>
            <a:gdLst/>
            <a:ahLst/>
            <a:cxnLst/>
            <a:rect r="r" b="b" t="t" l="l"/>
            <a:pathLst>
              <a:path h="1504950" w="1743075">
                <a:moveTo>
                  <a:pt x="0" y="0"/>
                </a:moveTo>
                <a:lnTo>
                  <a:pt x="1743075" y="0"/>
                </a:lnTo>
                <a:lnTo>
                  <a:pt x="1743075" y="1504950"/>
                </a:lnTo>
                <a:lnTo>
                  <a:pt x="0" y="1504950"/>
                </a:lnTo>
                <a:lnTo>
                  <a:pt x="0" y="0"/>
                </a:lnTo>
                <a:close/>
              </a:path>
            </a:pathLst>
          </a:custGeom>
          <a:blipFill>
            <a:blip r:embed="rId16"/>
            <a:stretch>
              <a:fillRect l="0" t="0" r="0" b="0"/>
            </a:stretch>
          </a:blipFill>
        </p:spPr>
      </p:sp>
      <p:sp>
        <p:nvSpPr>
          <p:cNvPr name="Freeform 19" id="19"/>
          <p:cNvSpPr/>
          <p:nvPr/>
        </p:nvSpPr>
        <p:spPr>
          <a:xfrm flipH="false" flipV="false" rot="0">
            <a:off x="12192000" y="6210300"/>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17"/>
            <a:stretch>
              <a:fillRect l="0" t="0" r="0" b="0"/>
            </a:stretch>
          </a:blipFill>
        </p:spPr>
      </p:sp>
      <p:sp>
        <p:nvSpPr>
          <p:cNvPr name="TextBox 20" id="20"/>
          <p:cNvSpPr txBox="true"/>
          <p:nvPr/>
        </p:nvSpPr>
        <p:spPr>
          <a:xfrm rot="0">
            <a:off x="11729941" y="6690281"/>
            <a:ext cx="2433724" cy="1442141"/>
          </a:xfrm>
          <a:prstGeom prst="rect">
            <a:avLst/>
          </a:prstGeom>
        </p:spPr>
        <p:txBody>
          <a:bodyPr anchor="t" rtlCol="false" tIns="0" lIns="0" bIns="0" rIns="0">
            <a:spAutoFit/>
          </a:bodyPr>
          <a:lstStyle/>
          <a:p>
            <a:pPr algn="l">
              <a:lnSpc>
                <a:spcPts val="3959"/>
              </a:lnSpc>
            </a:pPr>
            <a:r>
              <a:rPr lang="en-US" sz="2199">
                <a:solidFill>
                  <a:srgbClr val="000000"/>
                </a:solidFill>
                <a:latin typeface="Canva Sans"/>
                <a:ea typeface="Canva Sans"/>
                <a:cs typeface="Canva Sans"/>
                <a:sym typeface="Canva Sans"/>
              </a:rPr>
              <a:t>Tập trung hồ sơ, lớp học phần, điểm và công nợ</a:t>
            </a:r>
          </a:p>
        </p:txBody>
      </p:sp>
      <p:sp>
        <p:nvSpPr>
          <p:cNvPr name="Freeform 21" id="21"/>
          <p:cNvSpPr/>
          <p:nvPr/>
        </p:nvSpPr>
        <p:spPr>
          <a:xfrm flipH="false" flipV="false" rot="0">
            <a:off x="14582775" y="4286250"/>
            <a:ext cx="2838450" cy="4505325"/>
          </a:xfrm>
          <a:custGeom>
            <a:avLst/>
            <a:gdLst/>
            <a:ahLst/>
            <a:cxnLst/>
            <a:rect r="r" b="b" t="t" l="l"/>
            <a:pathLst>
              <a:path h="4505325" w="2838450">
                <a:moveTo>
                  <a:pt x="0" y="0"/>
                </a:moveTo>
                <a:lnTo>
                  <a:pt x="2838450" y="0"/>
                </a:lnTo>
                <a:lnTo>
                  <a:pt x="2838450" y="4505325"/>
                </a:lnTo>
                <a:lnTo>
                  <a:pt x="0" y="4505325"/>
                </a:lnTo>
                <a:lnTo>
                  <a:pt x="0" y="0"/>
                </a:lnTo>
                <a:close/>
              </a:path>
            </a:pathLst>
          </a:custGeom>
          <a:blipFill>
            <a:blip r:embed="rId18"/>
            <a:stretch>
              <a:fillRect l="0" t="0" r="0" b="0"/>
            </a:stretch>
          </a:blipFill>
        </p:spPr>
      </p:sp>
      <p:sp>
        <p:nvSpPr>
          <p:cNvPr name="Freeform 22" id="22"/>
          <p:cNvSpPr/>
          <p:nvPr/>
        </p:nvSpPr>
        <p:spPr>
          <a:xfrm flipH="false" flipV="false" rot="0">
            <a:off x="15240000" y="4714875"/>
            <a:ext cx="1743075" cy="1504950"/>
          </a:xfrm>
          <a:custGeom>
            <a:avLst/>
            <a:gdLst/>
            <a:ahLst/>
            <a:cxnLst/>
            <a:rect r="r" b="b" t="t" l="l"/>
            <a:pathLst>
              <a:path h="1504950" w="1743075">
                <a:moveTo>
                  <a:pt x="0" y="0"/>
                </a:moveTo>
                <a:lnTo>
                  <a:pt x="1743075" y="0"/>
                </a:lnTo>
                <a:lnTo>
                  <a:pt x="1743075" y="1504950"/>
                </a:lnTo>
                <a:lnTo>
                  <a:pt x="0" y="1504950"/>
                </a:lnTo>
                <a:lnTo>
                  <a:pt x="0" y="0"/>
                </a:lnTo>
                <a:close/>
              </a:path>
            </a:pathLst>
          </a:custGeom>
          <a:blipFill>
            <a:blip r:embed="rId19"/>
            <a:stretch>
              <a:fillRect l="0" t="0" r="0" b="0"/>
            </a:stretch>
          </a:blipFill>
        </p:spPr>
      </p:sp>
      <p:sp>
        <p:nvSpPr>
          <p:cNvPr name="Freeform 23" id="23"/>
          <p:cNvSpPr/>
          <p:nvPr/>
        </p:nvSpPr>
        <p:spPr>
          <a:xfrm flipH="false" flipV="false" rot="0">
            <a:off x="15449550" y="6210300"/>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20"/>
            <a:stretch>
              <a:fillRect l="0" t="0" r="0" b="0"/>
            </a:stretch>
          </a:blipFill>
        </p:spPr>
      </p:sp>
      <p:sp>
        <p:nvSpPr>
          <p:cNvPr name="TextBox 24" id="24"/>
          <p:cNvSpPr txBox="true"/>
          <p:nvPr/>
        </p:nvSpPr>
        <p:spPr>
          <a:xfrm rot="0">
            <a:off x="14925675" y="6515976"/>
            <a:ext cx="2333625" cy="1579307"/>
          </a:xfrm>
          <a:prstGeom prst="rect">
            <a:avLst/>
          </a:prstGeom>
        </p:spPr>
        <p:txBody>
          <a:bodyPr anchor="t" rtlCol="false" tIns="0" lIns="0" bIns="0" rIns="0">
            <a:spAutoFit/>
          </a:bodyPr>
          <a:lstStyle/>
          <a:p>
            <a:pPr algn="l">
              <a:lnSpc>
                <a:spcPts val="4319"/>
              </a:lnSpc>
            </a:pPr>
            <a:r>
              <a:rPr lang="en-US" sz="2399">
                <a:solidFill>
                  <a:srgbClr val="000000"/>
                </a:solidFill>
                <a:latin typeface="Canva Sans"/>
                <a:ea typeface="Canva Sans"/>
                <a:cs typeface="Canva Sans"/>
                <a:sym typeface="Canva Sans"/>
              </a:rPr>
              <a:t>Kiểm tra dữ liệu trước khi ghi nhận nghiệp vụ</a:t>
            </a:r>
          </a:p>
        </p:txBody>
      </p:sp>
      <p:sp>
        <p:nvSpPr>
          <p:cNvPr name="TextBox 25" id="25"/>
          <p:cNvSpPr txBox="true"/>
          <p:nvPr/>
        </p:nvSpPr>
        <p:spPr>
          <a:xfrm rot="0">
            <a:off x="8534208" y="6525501"/>
            <a:ext cx="2433724" cy="1937441"/>
          </a:xfrm>
          <a:prstGeom prst="rect">
            <a:avLst/>
          </a:prstGeom>
        </p:spPr>
        <p:txBody>
          <a:bodyPr anchor="t" rtlCol="false" tIns="0" lIns="0" bIns="0" rIns="0">
            <a:spAutoFit/>
          </a:bodyPr>
          <a:lstStyle/>
          <a:p>
            <a:pPr algn="l">
              <a:lnSpc>
                <a:spcPts val="3959"/>
              </a:lnSpc>
            </a:pPr>
            <a:r>
              <a:rPr lang="en-US" sz="2199">
                <a:solidFill>
                  <a:srgbClr val="000000"/>
                </a:solidFill>
                <a:latin typeface="Canva Sans"/>
                <a:ea typeface="Canva Sans"/>
                <a:cs typeface="Canva Sans"/>
                <a:sym typeface="Canva Sans"/>
              </a:rPr>
              <a:t>Chặn trùng lịch học, thiếu môn học tiên quyết, vượt sức chứa lớp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Freeform 3" id="3"/>
          <p:cNvSpPr/>
          <p:nvPr/>
        </p:nvSpPr>
        <p:spPr>
          <a:xfrm flipH="false" flipV="true" rot="0">
            <a:off x="16900451" y="8112607"/>
            <a:ext cx="3413800" cy="3810315"/>
          </a:xfrm>
          <a:custGeom>
            <a:avLst/>
            <a:gdLst/>
            <a:ahLst/>
            <a:cxnLst/>
            <a:rect r="r" b="b" t="t" l="l"/>
            <a:pathLst>
              <a:path h="3810315" w="3413800">
                <a:moveTo>
                  <a:pt x="0" y="3810315"/>
                </a:moveTo>
                <a:lnTo>
                  <a:pt x="3413801" y="3810315"/>
                </a:lnTo>
                <a:lnTo>
                  <a:pt x="3413801" y="0"/>
                </a:lnTo>
                <a:lnTo>
                  <a:pt x="0" y="0"/>
                </a:lnTo>
                <a:lnTo>
                  <a:pt x="0" y="381031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910323" y="8848616"/>
            <a:ext cx="3413800" cy="3810315"/>
          </a:xfrm>
          <a:custGeom>
            <a:avLst/>
            <a:gdLst/>
            <a:ahLst/>
            <a:cxnLst/>
            <a:rect r="r" b="b" t="t" l="l"/>
            <a:pathLst>
              <a:path h="3810315" w="3413800">
                <a:moveTo>
                  <a:pt x="0" y="3810315"/>
                </a:moveTo>
                <a:lnTo>
                  <a:pt x="3413800" y="3810315"/>
                </a:lnTo>
                <a:lnTo>
                  <a:pt x="3413800" y="0"/>
                </a:lnTo>
                <a:lnTo>
                  <a:pt x="0" y="0"/>
                </a:lnTo>
                <a:lnTo>
                  <a:pt x="0" y="381031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509351" y="-1424056"/>
            <a:ext cx="2401451" cy="3023042"/>
          </a:xfrm>
          <a:custGeom>
            <a:avLst/>
            <a:gdLst/>
            <a:ahLst/>
            <a:cxnLst/>
            <a:rect r="r" b="b" t="t" l="l"/>
            <a:pathLst>
              <a:path h="3023042" w="2401451">
                <a:moveTo>
                  <a:pt x="2401451" y="0"/>
                </a:moveTo>
                <a:lnTo>
                  <a:pt x="0" y="0"/>
                </a:lnTo>
                <a:lnTo>
                  <a:pt x="0" y="3023043"/>
                </a:lnTo>
                <a:lnTo>
                  <a:pt x="2401451" y="3023043"/>
                </a:lnTo>
                <a:lnTo>
                  <a:pt x="2401451" y="0"/>
                </a:lnTo>
                <a:close/>
              </a:path>
            </a:pathLst>
          </a:custGeom>
          <a:blipFill>
            <a:blip r:embed="rId5">
              <a:extLst>
                <a:ext uri="{96DAC541-7B7A-43D3-8B79-37D633B846F1}">
                  <asvg:svgBlip xmlns:asvg="http://schemas.microsoft.com/office/drawing/2016/SVG/main" r:embed="rId6"/>
                </a:ext>
              </a:extLst>
            </a:blip>
            <a:stretch>
              <a:fillRect l="0" t="0" r="-117723" b="0"/>
            </a:stretch>
          </a:blipFill>
        </p:spPr>
      </p:sp>
      <p:sp>
        <p:nvSpPr>
          <p:cNvPr name="TextBox 6" id="6"/>
          <p:cNvSpPr txBox="true"/>
          <p:nvPr/>
        </p:nvSpPr>
        <p:spPr>
          <a:xfrm rot="0">
            <a:off x="685800" y="371475"/>
            <a:ext cx="16916400" cy="755015"/>
          </a:xfrm>
          <a:prstGeom prst="rect">
            <a:avLst/>
          </a:prstGeom>
        </p:spPr>
        <p:txBody>
          <a:bodyPr anchor="t" rtlCol="false" tIns="0" lIns="0" bIns="0" rIns="0">
            <a:spAutoFit/>
          </a:bodyPr>
          <a:lstStyle/>
          <a:p>
            <a:pPr algn="l">
              <a:lnSpc>
                <a:spcPts val="6159"/>
              </a:lnSpc>
            </a:pPr>
            <a:r>
              <a:rPr lang="en-US" sz="4399" b="true">
                <a:solidFill>
                  <a:srgbClr val="173A78"/>
                </a:solidFill>
                <a:latin typeface="Canva Sans Bold"/>
                <a:ea typeface="Canva Sans Bold"/>
                <a:cs typeface="Canva Sans Bold"/>
                <a:sym typeface="Canva Sans Bold"/>
              </a:rPr>
              <a:t>1. THIẾT KẾ &amp; CHUẨN HÓA CSDL</a:t>
            </a:r>
          </a:p>
        </p:txBody>
      </p:sp>
      <p:grpSp>
        <p:nvGrpSpPr>
          <p:cNvPr name="Group 7" id="7"/>
          <p:cNvGrpSpPr/>
          <p:nvPr/>
        </p:nvGrpSpPr>
        <p:grpSpPr>
          <a:xfrm rot="0">
            <a:off x="685800" y="1428750"/>
            <a:ext cx="5810250" cy="1543050"/>
            <a:chOff x="0" y="0"/>
            <a:chExt cx="7747000" cy="2057400"/>
          </a:xfrm>
        </p:grpSpPr>
        <p:sp>
          <p:nvSpPr>
            <p:cNvPr name="Freeform 8" id="8"/>
            <p:cNvSpPr/>
            <p:nvPr/>
          </p:nvSpPr>
          <p:spPr>
            <a:xfrm flipH="false" flipV="false" rot="0">
              <a:off x="0" y="0"/>
              <a:ext cx="7747000" cy="2057400"/>
            </a:xfrm>
            <a:custGeom>
              <a:avLst/>
              <a:gdLst/>
              <a:ahLst/>
              <a:cxnLst/>
              <a:rect r="r" b="b" t="t" l="l"/>
              <a:pathLst>
                <a:path h="2057400" w="7747000">
                  <a:moveTo>
                    <a:pt x="228600" y="0"/>
                  </a:moveTo>
                  <a:lnTo>
                    <a:pt x="7518400" y="0"/>
                  </a:lnTo>
                  <a:cubicBezTo>
                    <a:pt x="7644652" y="0"/>
                    <a:pt x="7747000" y="102348"/>
                    <a:pt x="7747000" y="228600"/>
                  </a:cubicBezTo>
                  <a:lnTo>
                    <a:pt x="7747000" y="1828800"/>
                  </a:lnTo>
                  <a:cubicBezTo>
                    <a:pt x="7747000" y="1955052"/>
                    <a:pt x="7644652" y="2057400"/>
                    <a:pt x="7518400" y="2057400"/>
                  </a:cubicBezTo>
                  <a:lnTo>
                    <a:pt x="228600" y="2057400"/>
                  </a:lnTo>
                  <a:cubicBezTo>
                    <a:pt x="102348" y="2057400"/>
                    <a:pt x="0" y="1955052"/>
                    <a:pt x="0" y="1828800"/>
                  </a:cubicBezTo>
                  <a:lnTo>
                    <a:pt x="0" y="228600"/>
                  </a:lnTo>
                  <a:cubicBezTo>
                    <a:pt x="0" y="102348"/>
                    <a:pt x="102348" y="0"/>
                    <a:pt x="228600" y="0"/>
                  </a:cubicBezTo>
                  <a:close/>
                </a:path>
              </a:pathLst>
            </a:custGeom>
            <a:solidFill>
              <a:srgbClr val="CAE1FF"/>
            </a:solidFill>
            <a:ln w="9525" cap="sq">
              <a:solidFill>
                <a:srgbClr val="004AAD"/>
              </a:solidFill>
              <a:prstDash val="solid"/>
              <a:miter/>
            </a:ln>
          </p:spPr>
        </p:sp>
        <p:sp>
          <p:nvSpPr>
            <p:cNvPr name="TextBox 9" id="9"/>
            <p:cNvSpPr txBox="true"/>
            <p:nvPr/>
          </p:nvSpPr>
          <p:spPr>
            <a:xfrm>
              <a:off x="0" y="-19050"/>
              <a:ext cx="7747000" cy="207645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933450" y="1676400"/>
            <a:ext cx="5314950" cy="923290"/>
          </a:xfrm>
          <a:prstGeom prst="rect">
            <a:avLst/>
          </a:prstGeom>
        </p:spPr>
        <p:txBody>
          <a:bodyPr anchor="t" rtlCol="false" tIns="0" lIns="0" bIns="0" rIns="0">
            <a:spAutoFit/>
          </a:bodyPr>
          <a:lstStyle/>
          <a:p>
            <a:pPr algn="l">
              <a:lnSpc>
                <a:spcPts val="2419"/>
              </a:lnSpc>
            </a:pPr>
            <a:r>
              <a:rPr lang="en-US" sz="2199">
                <a:solidFill>
                  <a:srgbClr val="12304A"/>
                </a:solidFill>
                <a:latin typeface="Canva Sans"/>
                <a:ea typeface="Canva Sans"/>
                <a:cs typeface="Canva Sans"/>
                <a:sym typeface="Canva Sans"/>
              </a:rPr>
              <a:t>19 bảng dữ liệu</a:t>
            </a:r>
          </a:p>
          <a:p>
            <a:pPr algn="l">
              <a:lnSpc>
                <a:spcPts val="2419"/>
              </a:lnSpc>
            </a:pPr>
            <a:r>
              <a:rPr lang="en-US" sz="2199">
                <a:solidFill>
                  <a:srgbClr val="12304A"/>
                </a:solidFill>
                <a:latin typeface="Canva Sans"/>
                <a:ea typeface="Canva Sans"/>
                <a:cs typeface="Canva Sans"/>
                <a:sym typeface="Canva Sans"/>
              </a:rPr>
              <a:t>Bao quát các nghiệp vụ đào tạo, đăng ký tín chỉ, điểm, học phí và kiểm toán.</a:t>
            </a:r>
          </a:p>
        </p:txBody>
      </p:sp>
      <p:grpSp>
        <p:nvGrpSpPr>
          <p:cNvPr name="Group 11" id="11"/>
          <p:cNvGrpSpPr/>
          <p:nvPr/>
        </p:nvGrpSpPr>
        <p:grpSpPr>
          <a:xfrm rot="0">
            <a:off x="685800" y="3181350"/>
            <a:ext cx="5810250" cy="1543050"/>
            <a:chOff x="0" y="0"/>
            <a:chExt cx="7747000" cy="2057400"/>
          </a:xfrm>
        </p:grpSpPr>
        <p:sp>
          <p:nvSpPr>
            <p:cNvPr name="Freeform 12" id="12"/>
            <p:cNvSpPr/>
            <p:nvPr/>
          </p:nvSpPr>
          <p:spPr>
            <a:xfrm flipH="false" flipV="false" rot="0">
              <a:off x="0" y="0"/>
              <a:ext cx="7747000" cy="2057400"/>
            </a:xfrm>
            <a:custGeom>
              <a:avLst/>
              <a:gdLst/>
              <a:ahLst/>
              <a:cxnLst/>
              <a:rect r="r" b="b" t="t" l="l"/>
              <a:pathLst>
                <a:path h="2057400" w="7747000">
                  <a:moveTo>
                    <a:pt x="228600" y="0"/>
                  </a:moveTo>
                  <a:lnTo>
                    <a:pt x="7518400" y="0"/>
                  </a:lnTo>
                  <a:cubicBezTo>
                    <a:pt x="7644652" y="0"/>
                    <a:pt x="7747000" y="102348"/>
                    <a:pt x="7747000" y="228600"/>
                  </a:cubicBezTo>
                  <a:lnTo>
                    <a:pt x="7747000" y="1828800"/>
                  </a:lnTo>
                  <a:cubicBezTo>
                    <a:pt x="7747000" y="1955052"/>
                    <a:pt x="7644652" y="2057400"/>
                    <a:pt x="7518400" y="2057400"/>
                  </a:cubicBezTo>
                  <a:lnTo>
                    <a:pt x="228600" y="2057400"/>
                  </a:lnTo>
                  <a:cubicBezTo>
                    <a:pt x="102348" y="2057400"/>
                    <a:pt x="0" y="1955052"/>
                    <a:pt x="0" y="1828800"/>
                  </a:cubicBezTo>
                  <a:lnTo>
                    <a:pt x="0" y="228600"/>
                  </a:lnTo>
                  <a:cubicBezTo>
                    <a:pt x="0" y="102348"/>
                    <a:pt x="102348" y="0"/>
                    <a:pt x="228600" y="0"/>
                  </a:cubicBezTo>
                  <a:close/>
                </a:path>
              </a:pathLst>
            </a:custGeom>
            <a:solidFill>
              <a:srgbClr val="0F4C9A"/>
            </a:solidFill>
            <a:ln w="9525" cap="sq">
              <a:solidFill>
                <a:srgbClr val="C9DEF5"/>
              </a:solidFill>
              <a:prstDash val="solid"/>
              <a:miter/>
            </a:ln>
          </p:spPr>
        </p:sp>
        <p:sp>
          <p:nvSpPr>
            <p:cNvPr name="TextBox 13" id="13"/>
            <p:cNvSpPr txBox="true"/>
            <p:nvPr/>
          </p:nvSpPr>
          <p:spPr>
            <a:xfrm>
              <a:off x="0" y="-19050"/>
              <a:ext cx="7747000" cy="207645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933450" y="3483928"/>
            <a:ext cx="5314950" cy="947420"/>
          </a:xfrm>
          <a:prstGeom prst="rect">
            <a:avLst/>
          </a:prstGeom>
        </p:spPr>
        <p:txBody>
          <a:bodyPr anchor="t" rtlCol="false" tIns="0" lIns="0" bIns="0" rIns="0">
            <a:spAutoFit/>
          </a:bodyPr>
          <a:lstStyle/>
          <a:p>
            <a:pPr algn="l">
              <a:lnSpc>
                <a:spcPts val="2529"/>
              </a:lnSpc>
            </a:pPr>
            <a:r>
              <a:rPr lang="en-US" sz="2199">
                <a:solidFill>
                  <a:srgbClr val="FFFFFF"/>
                </a:solidFill>
                <a:latin typeface="Canva Sans"/>
                <a:ea typeface="Canva Sans"/>
                <a:cs typeface="Canva Sans"/>
                <a:sym typeface="Canva Sans"/>
              </a:rPr>
              <a:t>1NF · Thuộc tính rõ ràng</a:t>
            </a:r>
          </a:p>
          <a:p>
            <a:pPr algn="l">
              <a:lnSpc>
                <a:spcPts val="2529"/>
              </a:lnSpc>
            </a:pPr>
            <a:r>
              <a:rPr lang="en-US" sz="2199">
                <a:solidFill>
                  <a:srgbClr val="FFFFFF"/>
                </a:solidFill>
                <a:latin typeface="Canva Sans"/>
                <a:ea typeface="Canva Sans"/>
                <a:cs typeface="Canva Sans"/>
                <a:sym typeface="Canva Sans"/>
              </a:rPr>
              <a:t>Lịch học tách thành thứ, tiết bắt đầu, số tiết để dễ truy vấn và kiểm tra.</a:t>
            </a:r>
          </a:p>
        </p:txBody>
      </p:sp>
      <p:grpSp>
        <p:nvGrpSpPr>
          <p:cNvPr name="Group 15" id="15"/>
          <p:cNvGrpSpPr/>
          <p:nvPr/>
        </p:nvGrpSpPr>
        <p:grpSpPr>
          <a:xfrm rot="0">
            <a:off x="685800" y="4933950"/>
            <a:ext cx="5810250" cy="1543050"/>
            <a:chOff x="0" y="0"/>
            <a:chExt cx="7747000" cy="2057400"/>
          </a:xfrm>
        </p:grpSpPr>
        <p:sp>
          <p:nvSpPr>
            <p:cNvPr name="Freeform 16" id="16"/>
            <p:cNvSpPr/>
            <p:nvPr/>
          </p:nvSpPr>
          <p:spPr>
            <a:xfrm flipH="false" flipV="false" rot="0">
              <a:off x="0" y="0"/>
              <a:ext cx="7747000" cy="2057400"/>
            </a:xfrm>
            <a:custGeom>
              <a:avLst/>
              <a:gdLst/>
              <a:ahLst/>
              <a:cxnLst/>
              <a:rect r="r" b="b" t="t" l="l"/>
              <a:pathLst>
                <a:path h="2057400" w="7747000">
                  <a:moveTo>
                    <a:pt x="228600" y="0"/>
                  </a:moveTo>
                  <a:lnTo>
                    <a:pt x="7518400" y="0"/>
                  </a:lnTo>
                  <a:cubicBezTo>
                    <a:pt x="7644652" y="0"/>
                    <a:pt x="7747000" y="102348"/>
                    <a:pt x="7747000" y="228600"/>
                  </a:cubicBezTo>
                  <a:lnTo>
                    <a:pt x="7747000" y="1828800"/>
                  </a:lnTo>
                  <a:cubicBezTo>
                    <a:pt x="7747000" y="1955052"/>
                    <a:pt x="7644652" y="2057400"/>
                    <a:pt x="7518400" y="2057400"/>
                  </a:cubicBezTo>
                  <a:lnTo>
                    <a:pt x="228600" y="2057400"/>
                  </a:lnTo>
                  <a:cubicBezTo>
                    <a:pt x="102348" y="2057400"/>
                    <a:pt x="0" y="1955052"/>
                    <a:pt x="0" y="1828800"/>
                  </a:cubicBezTo>
                  <a:lnTo>
                    <a:pt x="0" y="228600"/>
                  </a:lnTo>
                  <a:cubicBezTo>
                    <a:pt x="0" y="102348"/>
                    <a:pt x="102348" y="0"/>
                    <a:pt x="228600" y="0"/>
                  </a:cubicBezTo>
                  <a:close/>
                </a:path>
              </a:pathLst>
            </a:custGeom>
            <a:solidFill>
              <a:srgbClr val="2B7CC1"/>
            </a:solidFill>
            <a:ln w="9525" cap="sq">
              <a:solidFill>
                <a:srgbClr val="C9DEF5"/>
              </a:solidFill>
              <a:prstDash val="solid"/>
              <a:miter/>
            </a:ln>
          </p:spPr>
        </p:sp>
        <p:sp>
          <p:nvSpPr>
            <p:cNvPr name="TextBox 17" id="17"/>
            <p:cNvSpPr txBox="true"/>
            <p:nvPr/>
          </p:nvSpPr>
          <p:spPr>
            <a:xfrm>
              <a:off x="0" y="-19050"/>
              <a:ext cx="7747000" cy="207645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933450" y="5079365"/>
            <a:ext cx="5314950" cy="1261745"/>
          </a:xfrm>
          <a:prstGeom prst="rect">
            <a:avLst/>
          </a:prstGeom>
        </p:spPr>
        <p:txBody>
          <a:bodyPr anchor="t" rtlCol="false" tIns="0" lIns="0" bIns="0" rIns="0">
            <a:spAutoFit/>
          </a:bodyPr>
          <a:lstStyle/>
          <a:p>
            <a:pPr algn="l">
              <a:lnSpc>
                <a:spcPts val="2529"/>
              </a:lnSpc>
            </a:pPr>
            <a:r>
              <a:rPr lang="en-US" sz="2199">
                <a:solidFill>
                  <a:srgbClr val="FFFFFF"/>
                </a:solidFill>
                <a:latin typeface="Canva Sans"/>
                <a:ea typeface="Canva Sans"/>
                <a:cs typeface="Canva Sans"/>
                <a:sym typeface="Canva Sans"/>
              </a:rPr>
              <a:t>2NF · Tách quan hệ nhiều–nhiều</a:t>
            </a:r>
          </a:p>
          <a:p>
            <a:pPr algn="l">
              <a:lnSpc>
                <a:spcPts val="2529"/>
              </a:lnSpc>
            </a:pPr>
            <a:r>
              <a:rPr lang="en-US" sz="2199">
                <a:solidFill>
                  <a:srgbClr val="FFFFFF"/>
                </a:solidFill>
                <a:latin typeface="Canva Sans"/>
                <a:ea typeface="Canva Sans"/>
                <a:cs typeface="Canva Sans"/>
                <a:sym typeface="Canva Sans"/>
              </a:rPr>
              <a:t>Bảng chi tiết liên kết chương trình đào tạo với môn học, tránh lưu danh sách môn trong một trường.</a:t>
            </a:r>
          </a:p>
        </p:txBody>
      </p:sp>
      <p:grpSp>
        <p:nvGrpSpPr>
          <p:cNvPr name="Group 19" id="19"/>
          <p:cNvGrpSpPr/>
          <p:nvPr/>
        </p:nvGrpSpPr>
        <p:grpSpPr>
          <a:xfrm rot="0">
            <a:off x="685800" y="6686550"/>
            <a:ext cx="5810250" cy="1543050"/>
            <a:chOff x="0" y="0"/>
            <a:chExt cx="7747000" cy="2057400"/>
          </a:xfrm>
        </p:grpSpPr>
        <p:sp>
          <p:nvSpPr>
            <p:cNvPr name="Freeform 20" id="20"/>
            <p:cNvSpPr/>
            <p:nvPr/>
          </p:nvSpPr>
          <p:spPr>
            <a:xfrm flipH="false" flipV="false" rot="0">
              <a:off x="0" y="0"/>
              <a:ext cx="7747000" cy="2057400"/>
            </a:xfrm>
            <a:custGeom>
              <a:avLst/>
              <a:gdLst/>
              <a:ahLst/>
              <a:cxnLst/>
              <a:rect r="r" b="b" t="t" l="l"/>
              <a:pathLst>
                <a:path h="2057400" w="7747000">
                  <a:moveTo>
                    <a:pt x="228600" y="0"/>
                  </a:moveTo>
                  <a:lnTo>
                    <a:pt x="7518400" y="0"/>
                  </a:lnTo>
                  <a:cubicBezTo>
                    <a:pt x="7644652" y="0"/>
                    <a:pt x="7747000" y="102348"/>
                    <a:pt x="7747000" y="228600"/>
                  </a:cubicBezTo>
                  <a:lnTo>
                    <a:pt x="7747000" y="1828800"/>
                  </a:lnTo>
                  <a:cubicBezTo>
                    <a:pt x="7747000" y="1955052"/>
                    <a:pt x="7644652" y="2057400"/>
                    <a:pt x="7518400" y="2057400"/>
                  </a:cubicBezTo>
                  <a:lnTo>
                    <a:pt x="228600" y="2057400"/>
                  </a:lnTo>
                  <a:cubicBezTo>
                    <a:pt x="102348" y="2057400"/>
                    <a:pt x="0" y="1955052"/>
                    <a:pt x="0" y="1828800"/>
                  </a:cubicBezTo>
                  <a:lnTo>
                    <a:pt x="0" y="228600"/>
                  </a:lnTo>
                  <a:cubicBezTo>
                    <a:pt x="0" y="102348"/>
                    <a:pt x="102348" y="0"/>
                    <a:pt x="228600" y="0"/>
                  </a:cubicBezTo>
                  <a:close/>
                </a:path>
              </a:pathLst>
            </a:custGeom>
            <a:solidFill>
              <a:srgbClr val="9EB3EA"/>
            </a:solidFill>
            <a:ln w="9525" cap="sq">
              <a:solidFill>
                <a:srgbClr val="C9DEF5"/>
              </a:solidFill>
              <a:prstDash val="solid"/>
              <a:miter/>
            </a:ln>
          </p:spPr>
        </p:sp>
        <p:sp>
          <p:nvSpPr>
            <p:cNvPr name="TextBox 21" id="21"/>
            <p:cNvSpPr txBox="true"/>
            <p:nvPr/>
          </p:nvSpPr>
          <p:spPr>
            <a:xfrm>
              <a:off x="0" y="-19050"/>
              <a:ext cx="7747000" cy="207645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933450" y="6831965"/>
            <a:ext cx="5314950" cy="1261745"/>
          </a:xfrm>
          <a:prstGeom prst="rect">
            <a:avLst/>
          </a:prstGeom>
        </p:spPr>
        <p:txBody>
          <a:bodyPr anchor="t" rtlCol="false" tIns="0" lIns="0" bIns="0" rIns="0">
            <a:spAutoFit/>
          </a:bodyPr>
          <a:lstStyle/>
          <a:p>
            <a:pPr algn="l">
              <a:lnSpc>
                <a:spcPts val="2529"/>
              </a:lnSpc>
            </a:pPr>
            <a:r>
              <a:rPr lang="en-US" sz="2199">
                <a:solidFill>
                  <a:srgbClr val="12304A"/>
                </a:solidFill>
                <a:latin typeface="Canva Sans"/>
                <a:ea typeface="Canva Sans"/>
                <a:cs typeface="Canva Sans"/>
                <a:sym typeface="Canva Sans"/>
              </a:rPr>
              <a:t>3NF · Tách dữ liệu theo thực thể</a:t>
            </a:r>
          </a:p>
          <a:p>
            <a:pPr algn="l">
              <a:lnSpc>
                <a:spcPts val="2529"/>
              </a:lnSpc>
            </a:pPr>
            <a:r>
              <a:rPr lang="en-US" sz="2199">
                <a:solidFill>
                  <a:srgbClr val="12304A"/>
                </a:solidFill>
                <a:latin typeface="Canva Sans"/>
                <a:ea typeface="Canva Sans"/>
                <a:cs typeface="Canva Sans"/>
                <a:sym typeface="Canva Sans"/>
              </a:rPr>
              <a:t>Thông tin sinh viên, lớp, ngành và khoa được quản lý riêng, liên kết bằng khóa ngoại để giảm lặp dữ liệu.</a:t>
            </a:r>
          </a:p>
        </p:txBody>
      </p:sp>
      <p:grpSp>
        <p:nvGrpSpPr>
          <p:cNvPr name="Group 23" id="23"/>
          <p:cNvGrpSpPr/>
          <p:nvPr/>
        </p:nvGrpSpPr>
        <p:grpSpPr>
          <a:xfrm rot="0">
            <a:off x="6953250" y="1428750"/>
            <a:ext cx="10648950" cy="8172450"/>
            <a:chOff x="0" y="0"/>
            <a:chExt cx="14198600" cy="10896600"/>
          </a:xfrm>
        </p:grpSpPr>
        <p:sp>
          <p:nvSpPr>
            <p:cNvPr name="Freeform 24" id="24"/>
            <p:cNvSpPr/>
            <p:nvPr/>
          </p:nvSpPr>
          <p:spPr>
            <a:xfrm flipH="false" flipV="false" rot="0">
              <a:off x="0" y="0"/>
              <a:ext cx="14198600" cy="10896600"/>
            </a:xfrm>
            <a:custGeom>
              <a:avLst/>
              <a:gdLst/>
              <a:ahLst/>
              <a:cxnLst/>
              <a:rect r="r" b="b" t="t" l="l"/>
              <a:pathLst>
                <a:path h="10896600" w="14198600">
                  <a:moveTo>
                    <a:pt x="279400" y="0"/>
                  </a:moveTo>
                  <a:lnTo>
                    <a:pt x="13919200" y="0"/>
                  </a:lnTo>
                  <a:cubicBezTo>
                    <a:pt x="14073508" y="0"/>
                    <a:pt x="14198600" y="125092"/>
                    <a:pt x="14198600" y="279400"/>
                  </a:cubicBezTo>
                  <a:lnTo>
                    <a:pt x="14198600" y="10617200"/>
                  </a:lnTo>
                  <a:cubicBezTo>
                    <a:pt x="14198600" y="10771508"/>
                    <a:pt x="14073508" y="10896600"/>
                    <a:pt x="13919200" y="10896600"/>
                  </a:cubicBezTo>
                  <a:lnTo>
                    <a:pt x="279400" y="10896600"/>
                  </a:lnTo>
                  <a:cubicBezTo>
                    <a:pt x="125092" y="10896600"/>
                    <a:pt x="0" y="10771508"/>
                    <a:pt x="0" y="10617200"/>
                  </a:cubicBezTo>
                  <a:lnTo>
                    <a:pt x="0" y="279400"/>
                  </a:lnTo>
                  <a:cubicBezTo>
                    <a:pt x="0" y="125092"/>
                    <a:pt x="125092" y="0"/>
                    <a:pt x="279400" y="0"/>
                  </a:cubicBezTo>
                  <a:close/>
                </a:path>
              </a:pathLst>
            </a:custGeom>
            <a:solidFill>
              <a:srgbClr val="FFFFFF"/>
            </a:solidFill>
            <a:ln w="19050" cap="rnd">
              <a:solidFill>
                <a:srgbClr val="C9DEF5"/>
              </a:solidFill>
              <a:prstDash val="solid"/>
              <a:round/>
            </a:ln>
          </p:spPr>
        </p:sp>
        <p:sp>
          <p:nvSpPr>
            <p:cNvPr name="TextBox 25" id="25"/>
            <p:cNvSpPr txBox="true"/>
            <p:nvPr/>
          </p:nvSpPr>
          <p:spPr>
            <a:xfrm>
              <a:off x="0" y="-19050"/>
              <a:ext cx="14198600" cy="10915650"/>
            </a:xfrm>
            <a:prstGeom prst="rect">
              <a:avLst/>
            </a:prstGeom>
          </p:spPr>
          <p:txBody>
            <a:bodyPr anchor="ctr" rtlCol="false" tIns="50800" lIns="50800" bIns="50800" rIns="50800"/>
            <a:lstStyle/>
            <a:p>
              <a:pPr algn="l">
                <a:lnSpc>
                  <a:spcPts val="1679"/>
                </a:lnSpc>
              </a:pPr>
            </a:p>
          </p:txBody>
        </p:sp>
      </p:grpSp>
      <p:sp>
        <p:nvSpPr>
          <p:cNvPr name="Freeform 26" id="26"/>
          <p:cNvSpPr/>
          <p:nvPr/>
        </p:nvSpPr>
        <p:spPr>
          <a:xfrm flipH="false" flipV="false" rot="0">
            <a:off x="7044249" y="2481394"/>
            <a:ext cx="10460359" cy="5999430"/>
          </a:xfrm>
          <a:custGeom>
            <a:avLst/>
            <a:gdLst/>
            <a:ahLst/>
            <a:cxnLst/>
            <a:rect r="r" b="b" t="t" l="l"/>
            <a:pathLst>
              <a:path h="5999430" w="10460359">
                <a:moveTo>
                  <a:pt x="0" y="0"/>
                </a:moveTo>
                <a:lnTo>
                  <a:pt x="10460359" y="0"/>
                </a:lnTo>
                <a:lnTo>
                  <a:pt x="10460359" y="5999430"/>
                </a:lnTo>
                <a:lnTo>
                  <a:pt x="0" y="5999430"/>
                </a:lnTo>
                <a:lnTo>
                  <a:pt x="0" y="0"/>
                </a:lnTo>
                <a:close/>
              </a:path>
            </a:pathLst>
          </a:custGeom>
          <a:blipFill>
            <a:blip r:embed="rId7"/>
            <a:stretch>
              <a:fillRect l="-200" t="0" r="-20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85800" y="314325"/>
            <a:ext cx="16916400" cy="755016"/>
          </a:xfrm>
          <a:prstGeom prst="rect">
            <a:avLst/>
          </a:prstGeom>
        </p:spPr>
        <p:txBody>
          <a:bodyPr anchor="t" rtlCol="false" tIns="0" lIns="0" bIns="0" rIns="0">
            <a:spAutoFit/>
          </a:bodyPr>
          <a:lstStyle/>
          <a:p>
            <a:pPr algn="l">
              <a:lnSpc>
                <a:spcPts val="6159"/>
              </a:lnSpc>
            </a:pPr>
            <a:r>
              <a:rPr lang="en-US" b="true" sz="4399">
                <a:solidFill>
                  <a:srgbClr val="173A78"/>
                </a:solidFill>
                <a:latin typeface="Canva Sans Bold"/>
                <a:ea typeface="Canva Sans Bold"/>
                <a:cs typeface="Canva Sans Bold"/>
                <a:sym typeface="Canva Sans Bold"/>
              </a:rPr>
              <a:t>2. LƯỢC ĐỒ QUAN HỆ &amp; KHÓA</a:t>
            </a:r>
          </a:p>
        </p:txBody>
      </p:sp>
      <p:grpSp>
        <p:nvGrpSpPr>
          <p:cNvPr name="Group 3" id="3"/>
          <p:cNvGrpSpPr/>
          <p:nvPr/>
        </p:nvGrpSpPr>
        <p:grpSpPr>
          <a:xfrm rot="0">
            <a:off x="685800" y="3257550"/>
            <a:ext cx="8839200" cy="5086350"/>
            <a:chOff x="0" y="0"/>
            <a:chExt cx="11785600" cy="6781800"/>
          </a:xfrm>
        </p:grpSpPr>
        <p:sp>
          <p:nvSpPr>
            <p:cNvPr name="Freeform 4" id="4"/>
            <p:cNvSpPr/>
            <p:nvPr/>
          </p:nvSpPr>
          <p:spPr>
            <a:xfrm flipH="false" flipV="false" rot="0">
              <a:off x="0" y="0"/>
              <a:ext cx="11785600" cy="6781800"/>
            </a:xfrm>
            <a:custGeom>
              <a:avLst/>
              <a:gdLst/>
              <a:ahLst/>
              <a:cxnLst/>
              <a:rect r="r" b="b" t="t" l="l"/>
              <a:pathLst>
                <a:path h="6781800" w="11785600">
                  <a:moveTo>
                    <a:pt x="254000" y="0"/>
                  </a:moveTo>
                  <a:lnTo>
                    <a:pt x="11531600" y="0"/>
                  </a:lnTo>
                  <a:cubicBezTo>
                    <a:pt x="11671881" y="0"/>
                    <a:pt x="11785600" y="113720"/>
                    <a:pt x="11785600" y="254000"/>
                  </a:cubicBezTo>
                  <a:lnTo>
                    <a:pt x="11785600" y="6527800"/>
                  </a:lnTo>
                  <a:cubicBezTo>
                    <a:pt x="11785600" y="6668081"/>
                    <a:pt x="11671881" y="6781800"/>
                    <a:pt x="11531600" y="6781800"/>
                  </a:cubicBezTo>
                  <a:lnTo>
                    <a:pt x="254000" y="6781800"/>
                  </a:lnTo>
                  <a:cubicBezTo>
                    <a:pt x="113720" y="6781800"/>
                    <a:pt x="0" y="6668081"/>
                    <a:pt x="0" y="6527800"/>
                  </a:cubicBezTo>
                  <a:lnTo>
                    <a:pt x="0" y="254000"/>
                  </a:lnTo>
                  <a:cubicBezTo>
                    <a:pt x="0" y="113720"/>
                    <a:pt x="113720" y="0"/>
                    <a:pt x="254000" y="0"/>
                  </a:cubicBezTo>
                  <a:close/>
                </a:path>
              </a:pathLst>
            </a:custGeom>
            <a:solidFill>
              <a:srgbClr val="F8FBFF"/>
            </a:solidFill>
            <a:ln w="19050" cap="sq">
              <a:solidFill>
                <a:srgbClr val="C9DEF5"/>
              </a:solidFill>
              <a:prstDash val="solid"/>
              <a:miter/>
            </a:ln>
          </p:spPr>
        </p:sp>
        <p:sp>
          <p:nvSpPr>
            <p:cNvPr name="TextBox 5" id="5"/>
            <p:cNvSpPr txBox="true"/>
            <p:nvPr/>
          </p:nvSpPr>
          <p:spPr>
            <a:xfrm>
              <a:off x="0" y="-19050"/>
              <a:ext cx="11785600" cy="6800850"/>
            </a:xfrm>
            <a:prstGeom prst="rect">
              <a:avLst/>
            </a:prstGeom>
          </p:spPr>
          <p:txBody>
            <a:bodyPr anchor="ctr" rtlCol="false" tIns="50800" lIns="50800" bIns="50800" rIns="50800"/>
            <a:lstStyle/>
            <a:p>
              <a:pPr algn="l">
                <a:lnSpc>
                  <a:spcPts val="1679"/>
                </a:lnSpc>
              </a:pPr>
            </a:p>
          </p:txBody>
        </p:sp>
      </p:grpSp>
      <p:sp>
        <p:nvSpPr>
          <p:cNvPr name="Freeform 6" id="6"/>
          <p:cNvSpPr/>
          <p:nvPr/>
        </p:nvSpPr>
        <p:spPr>
          <a:xfrm flipH="false" flipV="false" rot="0">
            <a:off x="819150" y="3390900"/>
            <a:ext cx="8572500" cy="4819650"/>
          </a:xfrm>
          <a:custGeom>
            <a:avLst/>
            <a:gdLst/>
            <a:ahLst/>
            <a:cxnLst/>
            <a:rect r="r" b="b" t="t" l="l"/>
            <a:pathLst>
              <a:path h="4819650" w="8572500">
                <a:moveTo>
                  <a:pt x="0" y="0"/>
                </a:moveTo>
                <a:lnTo>
                  <a:pt x="8572500" y="0"/>
                </a:lnTo>
                <a:lnTo>
                  <a:pt x="8572500" y="4819650"/>
                </a:lnTo>
                <a:lnTo>
                  <a:pt x="0" y="4819650"/>
                </a:lnTo>
                <a:lnTo>
                  <a:pt x="0" y="0"/>
                </a:lnTo>
                <a:close/>
              </a:path>
            </a:pathLst>
          </a:custGeom>
          <a:blipFill>
            <a:blip r:embed="rId2"/>
            <a:stretch>
              <a:fillRect l="0" t="-24" r="0" b="-24"/>
            </a:stretch>
          </a:blipFill>
        </p:spPr>
      </p:sp>
      <p:grpSp>
        <p:nvGrpSpPr>
          <p:cNvPr name="Group 7" id="7"/>
          <p:cNvGrpSpPr/>
          <p:nvPr/>
        </p:nvGrpSpPr>
        <p:grpSpPr>
          <a:xfrm rot="0">
            <a:off x="9810750" y="1428750"/>
            <a:ext cx="7791450" cy="2152650"/>
            <a:chOff x="0" y="0"/>
            <a:chExt cx="10388600" cy="2870200"/>
          </a:xfrm>
        </p:grpSpPr>
        <p:sp>
          <p:nvSpPr>
            <p:cNvPr name="Freeform 8" id="8"/>
            <p:cNvSpPr/>
            <p:nvPr/>
          </p:nvSpPr>
          <p:spPr>
            <a:xfrm flipH="false" flipV="false" rot="0">
              <a:off x="0" y="0"/>
              <a:ext cx="10388600" cy="2870200"/>
            </a:xfrm>
            <a:custGeom>
              <a:avLst/>
              <a:gdLst/>
              <a:ahLst/>
              <a:cxnLst/>
              <a:rect r="r" b="b" t="t" l="l"/>
              <a:pathLst>
                <a:path h="2870200" w="10388600">
                  <a:moveTo>
                    <a:pt x="228600" y="0"/>
                  </a:moveTo>
                  <a:lnTo>
                    <a:pt x="10160000" y="0"/>
                  </a:lnTo>
                  <a:cubicBezTo>
                    <a:pt x="10286252" y="0"/>
                    <a:pt x="10388600" y="102348"/>
                    <a:pt x="10388600" y="228600"/>
                  </a:cubicBezTo>
                  <a:lnTo>
                    <a:pt x="10388600" y="2641600"/>
                  </a:lnTo>
                  <a:cubicBezTo>
                    <a:pt x="10388600" y="2767852"/>
                    <a:pt x="10286252" y="2870200"/>
                    <a:pt x="10160000" y="2870200"/>
                  </a:cubicBezTo>
                  <a:lnTo>
                    <a:pt x="228600" y="2870200"/>
                  </a:lnTo>
                  <a:cubicBezTo>
                    <a:pt x="102348" y="2870200"/>
                    <a:pt x="0" y="2767852"/>
                    <a:pt x="0" y="2641600"/>
                  </a:cubicBezTo>
                  <a:lnTo>
                    <a:pt x="0" y="228600"/>
                  </a:lnTo>
                  <a:cubicBezTo>
                    <a:pt x="0" y="102348"/>
                    <a:pt x="102348" y="0"/>
                    <a:pt x="228600" y="0"/>
                  </a:cubicBezTo>
                  <a:close/>
                </a:path>
              </a:pathLst>
            </a:custGeom>
            <a:solidFill>
              <a:srgbClr val="FFFFFF"/>
            </a:solidFill>
            <a:ln w="19050" cap="sq">
              <a:solidFill>
                <a:srgbClr val="18549E"/>
              </a:solidFill>
              <a:prstDash val="solid"/>
              <a:miter/>
            </a:ln>
          </p:spPr>
        </p:sp>
        <p:sp>
          <p:nvSpPr>
            <p:cNvPr name="TextBox 9" id="9"/>
            <p:cNvSpPr txBox="true"/>
            <p:nvPr/>
          </p:nvSpPr>
          <p:spPr>
            <a:xfrm>
              <a:off x="0" y="-47625"/>
              <a:ext cx="10388600" cy="2917825"/>
            </a:xfrm>
            <a:prstGeom prst="rect">
              <a:avLst/>
            </a:prstGeom>
          </p:spPr>
          <p:txBody>
            <a:bodyPr anchor="ctr" rtlCol="false" tIns="50800" lIns="50800" bIns="50800" rIns="50800"/>
            <a:lstStyle/>
            <a:p>
              <a:pPr algn="l">
                <a:lnSpc>
                  <a:spcPts val="2800"/>
                </a:lnSpc>
              </a:pPr>
            </a:p>
          </p:txBody>
        </p:sp>
      </p:grpSp>
      <p:grpSp>
        <p:nvGrpSpPr>
          <p:cNvPr name="Group 10" id="10"/>
          <p:cNvGrpSpPr/>
          <p:nvPr/>
        </p:nvGrpSpPr>
        <p:grpSpPr>
          <a:xfrm rot="0">
            <a:off x="9810750" y="1428750"/>
            <a:ext cx="95250" cy="2152650"/>
            <a:chOff x="0" y="0"/>
            <a:chExt cx="127000" cy="2870200"/>
          </a:xfrm>
        </p:grpSpPr>
        <p:sp>
          <p:nvSpPr>
            <p:cNvPr name="Freeform 11" id="11"/>
            <p:cNvSpPr/>
            <p:nvPr/>
          </p:nvSpPr>
          <p:spPr>
            <a:xfrm flipH="false" flipV="false" rot="0">
              <a:off x="0" y="0"/>
              <a:ext cx="127000" cy="2870200"/>
            </a:xfrm>
            <a:custGeom>
              <a:avLst/>
              <a:gdLst/>
              <a:ahLst/>
              <a:cxnLst/>
              <a:rect r="r" b="b" t="t" l="l"/>
              <a:pathLst>
                <a:path h="2870200" w="127000">
                  <a:moveTo>
                    <a:pt x="63500" y="0"/>
                  </a:moveTo>
                  <a:lnTo>
                    <a:pt x="63500" y="0"/>
                  </a:lnTo>
                  <a:cubicBezTo>
                    <a:pt x="98570" y="0"/>
                    <a:pt x="127000" y="28430"/>
                    <a:pt x="127000" y="63500"/>
                  </a:cubicBezTo>
                  <a:lnTo>
                    <a:pt x="127000" y="2806700"/>
                  </a:lnTo>
                  <a:cubicBezTo>
                    <a:pt x="127000" y="2841770"/>
                    <a:pt x="98570" y="2870200"/>
                    <a:pt x="63500" y="2870200"/>
                  </a:cubicBezTo>
                  <a:lnTo>
                    <a:pt x="63500" y="2870200"/>
                  </a:lnTo>
                  <a:cubicBezTo>
                    <a:pt x="28430" y="2870200"/>
                    <a:pt x="0" y="2841770"/>
                    <a:pt x="0" y="2806700"/>
                  </a:cubicBezTo>
                  <a:lnTo>
                    <a:pt x="0" y="63500"/>
                  </a:lnTo>
                  <a:cubicBezTo>
                    <a:pt x="0" y="28430"/>
                    <a:pt x="28430" y="0"/>
                    <a:pt x="63500" y="0"/>
                  </a:cubicBezTo>
                  <a:close/>
                </a:path>
              </a:pathLst>
            </a:custGeom>
            <a:solidFill>
              <a:srgbClr val="18549E"/>
            </a:solidFill>
          </p:spPr>
        </p:sp>
        <p:sp>
          <p:nvSpPr>
            <p:cNvPr name="TextBox 12" id="12"/>
            <p:cNvSpPr txBox="true"/>
            <p:nvPr/>
          </p:nvSpPr>
          <p:spPr>
            <a:xfrm>
              <a:off x="0" y="-47625"/>
              <a:ext cx="127000" cy="2917825"/>
            </a:xfrm>
            <a:prstGeom prst="rect">
              <a:avLst/>
            </a:prstGeom>
          </p:spPr>
          <p:txBody>
            <a:bodyPr anchor="ctr" rtlCol="false" tIns="50800" lIns="50800" bIns="50800" rIns="50800"/>
            <a:lstStyle/>
            <a:p>
              <a:pPr algn="l">
                <a:lnSpc>
                  <a:spcPts val="2800"/>
                </a:lnSpc>
              </a:pPr>
            </a:p>
          </p:txBody>
        </p:sp>
      </p:grpSp>
      <p:sp>
        <p:nvSpPr>
          <p:cNvPr name="TextBox 13" id="13"/>
          <p:cNvSpPr txBox="true"/>
          <p:nvPr/>
        </p:nvSpPr>
        <p:spPr>
          <a:xfrm rot="0">
            <a:off x="10096500" y="1619250"/>
            <a:ext cx="7239000" cy="396240"/>
          </a:xfrm>
          <a:prstGeom prst="rect">
            <a:avLst/>
          </a:prstGeom>
        </p:spPr>
        <p:txBody>
          <a:bodyPr anchor="t" rtlCol="false" tIns="0" lIns="0" bIns="0" rIns="0">
            <a:spAutoFit/>
          </a:bodyPr>
          <a:lstStyle/>
          <a:p>
            <a:pPr algn="l">
              <a:lnSpc>
                <a:spcPts val="3359"/>
              </a:lnSpc>
            </a:pPr>
            <a:r>
              <a:rPr lang="en-US" sz="2399" b="true">
                <a:solidFill>
                  <a:srgbClr val="18549E"/>
                </a:solidFill>
                <a:latin typeface="Canva Sans Bold"/>
                <a:ea typeface="Canva Sans Bold"/>
                <a:cs typeface="Canva Sans Bold"/>
                <a:sym typeface="Canva Sans Bold"/>
              </a:rPr>
              <a:t>ĐĂNG KÝ TÍN CHỈ · QUAN HỆ N–N</a:t>
            </a:r>
          </a:p>
        </p:txBody>
      </p:sp>
      <p:sp>
        <p:nvSpPr>
          <p:cNvPr name="TextBox 14" id="14"/>
          <p:cNvSpPr txBox="true"/>
          <p:nvPr/>
        </p:nvSpPr>
        <p:spPr>
          <a:xfrm rot="0">
            <a:off x="10096500" y="2085975"/>
            <a:ext cx="7239000" cy="1291463"/>
          </a:xfrm>
          <a:prstGeom prst="rect">
            <a:avLst/>
          </a:prstGeom>
        </p:spPr>
        <p:txBody>
          <a:bodyPr anchor="t" rtlCol="false" tIns="0" lIns="0" bIns="0" rIns="0">
            <a:spAutoFit/>
          </a:bodyPr>
          <a:lstStyle/>
          <a:p>
            <a:pPr algn="l">
              <a:lnSpc>
                <a:spcPts val="2595"/>
              </a:lnSpc>
            </a:pPr>
            <a:r>
              <a:rPr lang="en-US" sz="2199">
                <a:solidFill>
                  <a:srgbClr val="12304A"/>
                </a:solidFill>
                <a:latin typeface="Canva Sans"/>
                <a:ea typeface="Canva Sans"/>
                <a:cs typeface="Canva Sans"/>
                <a:sym typeface="Canva Sans"/>
              </a:rPr>
              <a:t>Một sinh viên có thể đăng ký nhiều lớp học phần; mỗi lớp học phần có nhiều sinh viên.</a:t>
            </a:r>
          </a:p>
          <a:p>
            <a:pPr algn="l">
              <a:lnSpc>
                <a:spcPts val="2595"/>
              </a:lnSpc>
            </a:pPr>
            <a:r>
              <a:rPr lang="en-US" sz="2199">
                <a:solidFill>
                  <a:srgbClr val="12304A"/>
                </a:solidFill>
                <a:latin typeface="Canva Sans"/>
                <a:ea typeface="Canva Sans"/>
                <a:cs typeface="Canva Sans"/>
                <a:sym typeface="Canva Sans"/>
              </a:rPr>
              <a:t>DANGKYTINCHI là bảng liên kết, lưu từng lượt đăng ký bằng FK MaSV, MaLHP.</a:t>
            </a:r>
          </a:p>
        </p:txBody>
      </p:sp>
      <p:grpSp>
        <p:nvGrpSpPr>
          <p:cNvPr name="Group 15" id="15"/>
          <p:cNvGrpSpPr/>
          <p:nvPr/>
        </p:nvGrpSpPr>
        <p:grpSpPr>
          <a:xfrm rot="0">
            <a:off x="9810750" y="3810000"/>
            <a:ext cx="7791450" cy="2152650"/>
            <a:chOff x="0" y="0"/>
            <a:chExt cx="10388600" cy="2870200"/>
          </a:xfrm>
        </p:grpSpPr>
        <p:sp>
          <p:nvSpPr>
            <p:cNvPr name="Freeform 16" id="16"/>
            <p:cNvSpPr/>
            <p:nvPr/>
          </p:nvSpPr>
          <p:spPr>
            <a:xfrm flipH="false" flipV="false" rot="0">
              <a:off x="0" y="0"/>
              <a:ext cx="10388600" cy="2870200"/>
            </a:xfrm>
            <a:custGeom>
              <a:avLst/>
              <a:gdLst/>
              <a:ahLst/>
              <a:cxnLst/>
              <a:rect r="r" b="b" t="t" l="l"/>
              <a:pathLst>
                <a:path h="2870200" w="10388600">
                  <a:moveTo>
                    <a:pt x="228600" y="0"/>
                  </a:moveTo>
                  <a:lnTo>
                    <a:pt x="10160000" y="0"/>
                  </a:lnTo>
                  <a:cubicBezTo>
                    <a:pt x="10286252" y="0"/>
                    <a:pt x="10388600" y="102348"/>
                    <a:pt x="10388600" y="228600"/>
                  </a:cubicBezTo>
                  <a:lnTo>
                    <a:pt x="10388600" y="2641600"/>
                  </a:lnTo>
                  <a:cubicBezTo>
                    <a:pt x="10388600" y="2767852"/>
                    <a:pt x="10286252" y="2870200"/>
                    <a:pt x="10160000" y="2870200"/>
                  </a:cubicBezTo>
                  <a:lnTo>
                    <a:pt x="228600" y="2870200"/>
                  </a:lnTo>
                  <a:cubicBezTo>
                    <a:pt x="102348" y="2870200"/>
                    <a:pt x="0" y="2767852"/>
                    <a:pt x="0" y="2641600"/>
                  </a:cubicBezTo>
                  <a:lnTo>
                    <a:pt x="0" y="228600"/>
                  </a:lnTo>
                  <a:cubicBezTo>
                    <a:pt x="0" y="102348"/>
                    <a:pt x="102348" y="0"/>
                    <a:pt x="228600" y="0"/>
                  </a:cubicBezTo>
                  <a:close/>
                </a:path>
              </a:pathLst>
            </a:custGeom>
            <a:solidFill>
              <a:srgbClr val="EEF7FF"/>
            </a:solidFill>
            <a:ln w="19050" cap="sq">
              <a:solidFill>
                <a:srgbClr val="2B8BC5"/>
              </a:solidFill>
              <a:prstDash val="solid"/>
              <a:miter/>
            </a:ln>
          </p:spPr>
        </p:sp>
        <p:sp>
          <p:nvSpPr>
            <p:cNvPr name="TextBox 17" id="17"/>
            <p:cNvSpPr txBox="true"/>
            <p:nvPr/>
          </p:nvSpPr>
          <p:spPr>
            <a:xfrm>
              <a:off x="0" y="-47625"/>
              <a:ext cx="10388600" cy="29178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9810750" y="3810000"/>
            <a:ext cx="95250" cy="2152650"/>
            <a:chOff x="0" y="0"/>
            <a:chExt cx="127000" cy="2870200"/>
          </a:xfrm>
        </p:grpSpPr>
        <p:sp>
          <p:nvSpPr>
            <p:cNvPr name="Freeform 19" id="19"/>
            <p:cNvSpPr/>
            <p:nvPr/>
          </p:nvSpPr>
          <p:spPr>
            <a:xfrm flipH="false" flipV="false" rot="0">
              <a:off x="0" y="0"/>
              <a:ext cx="127000" cy="2870200"/>
            </a:xfrm>
            <a:custGeom>
              <a:avLst/>
              <a:gdLst/>
              <a:ahLst/>
              <a:cxnLst/>
              <a:rect r="r" b="b" t="t" l="l"/>
              <a:pathLst>
                <a:path h="2870200" w="127000">
                  <a:moveTo>
                    <a:pt x="63500" y="0"/>
                  </a:moveTo>
                  <a:lnTo>
                    <a:pt x="63500" y="0"/>
                  </a:lnTo>
                  <a:cubicBezTo>
                    <a:pt x="98570" y="0"/>
                    <a:pt x="127000" y="28430"/>
                    <a:pt x="127000" y="63500"/>
                  </a:cubicBezTo>
                  <a:lnTo>
                    <a:pt x="127000" y="2806700"/>
                  </a:lnTo>
                  <a:cubicBezTo>
                    <a:pt x="127000" y="2841770"/>
                    <a:pt x="98570" y="2870200"/>
                    <a:pt x="63500" y="2870200"/>
                  </a:cubicBezTo>
                  <a:lnTo>
                    <a:pt x="63500" y="2870200"/>
                  </a:lnTo>
                  <a:cubicBezTo>
                    <a:pt x="28430" y="2870200"/>
                    <a:pt x="0" y="2841770"/>
                    <a:pt x="0" y="2806700"/>
                  </a:cubicBezTo>
                  <a:lnTo>
                    <a:pt x="0" y="63500"/>
                  </a:lnTo>
                  <a:cubicBezTo>
                    <a:pt x="0" y="28430"/>
                    <a:pt x="28430" y="0"/>
                    <a:pt x="63500" y="0"/>
                  </a:cubicBezTo>
                  <a:close/>
                </a:path>
              </a:pathLst>
            </a:custGeom>
            <a:solidFill>
              <a:srgbClr val="2B8BC5"/>
            </a:solidFill>
          </p:spPr>
        </p:sp>
        <p:sp>
          <p:nvSpPr>
            <p:cNvPr name="TextBox 20" id="20"/>
            <p:cNvSpPr txBox="true"/>
            <p:nvPr/>
          </p:nvSpPr>
          <p:spPr>
            <a:xfrm>
              <a:off x="0" y="-47625"/>
              <a:ext cx="127000" cy="2917825"/>
            </a:xfrm>
            <a:prstGeom prst="rect">
              <a:avLst/>
            </a:prstGeom>
          </p:spPr>
          <p:txBody>
            <a:bodyPr anchor="ctr" rtlCol="false" tIns="50800" lIns="50800" bIns="50800" rIns="50800"/>
            <a:lstStyle/>
            <a:p>
              <a:pPr algn="l">
                <a:lnSpc>
                  <a:spcPts val="2800"/>
                </a:lnSpc>
              </a:pPr>
            </a:p>
          </p:txBody>
        </p:sp>
      </p:grpSp>
      <p:sp>
        <p:nvSpPr>
          <p:cNvPr name="TextBox 21" id="21"/>
          <p:cNvSpPr txBox="true"/>
          <p:nvPr/>
        </p:nvSpPr>
        <p:spPr>
          <a:xfrm rot="0">
            <a:off x="10096500" y="3990975"/>
            <a:ext cx="7239000" cy="349250"/>
          </a:xfrm>
          <a:prstGeom prst="rect">
            <a:avLst/>
          </a:prstGeom>
        </p:spPr>
        <p:txBody>
          <a:bodyPr anchor="t" rtlCol="false" tIns="0" lIns="0" bIns="0" rIns="0">
            <a:spAutoFit/>
          </a:bodyPr>
          <a:lstStyle/>
          <a:p>
            <a:pPr algn="l">
              <a:lnSpc>
                <a:spcPts val="2800"/>
              </a:lnSpc>
            </a:pPr>
            <a:r>
              <a:rPr lang="en-US" sz="2000" b="true">
                <a:solidFill>
                  <a:srgbClr val="2B8BC5"/>
                </a:solidFill>
                <a:latin typeface="Canva Sans Bold"/>
                <a:ea typeface="Canva Sans Bold"/>
                <a:cs typeface="Canva Sans Bold"/>
                <a:sym typeface="Canva Sans Bold"/>
              </a:rPr>
              <a:t>ĐIỂM SỐ · GẮN VỚI LƯỢT ĐĂNG KÝ</a:t>
            </a:r>
          </a:p>
        </p:txBody>
      </p:sp>
      <p:sp>
        <p:nvSpPr>
          <p:cNvPr name="TextBox 22" id="22"/>
          <p:cNvSpPr txBox="true"/>
          <p:nvPr/>
        </p:nvSpPr>
        <p:spPr>
          <a:xfrm rot="0">
            <a:off x="10096500" y="4457700"/>
            <a:ext cx="7239000" cy="1034542"/>
          </a:xfrm>
          <a:prstGeom prst="rect">
            <a:avLst/>
          </a:prstGeom>
        </p:spPr>
        <p:txBody>
          <a:bodyPr anchor="t" rtlCol="false" tIns="0" lIns="0" bIns="0" rIns="0">
            <a:spAutoFit/>
          </a:bodyPr>
          <a:lstStyle/>
          <a:p>
            <a:pPr algn="l">
              <a:lnSpc>
                <a:spcPts val="2713"/>
              </a:lnSpc>
            </a:pPr>
            <a:r>
              <a:rPr lang="en-US" sz="2299">
                <a:solidFill>
                  <a:srgbClr val="12304A"/>
                </a:solidFill>
                <a:latin typeface="Canva Sans"/>
                <a:ea typeface="Canva Sans"/>
                <a:cs typeface="Canva Sans"/>
                <a:sym typeface="Canva Sans"/>
              </a:rPr>
              <a:t>Mỗi lượt đăng ký có tối đa một bản ghi điểm.</a:t>
            </a:r>
          </a:p>
          <a:p>
            <a:pPr algn="l">
              <a:lnSpc>
                <a:spcPts val="2713"/>
              </a:lnSpc>
            </a:pPr>
            <a:r>
              <a:rPr lang="en-US" sz="2299">
                <a:solidFill>
                  <a:srgbClr val="12304A"/>
                </a:solidFill>
                <a:latin typeface="Canva Sans"/>
                <a:ea typeface="Canva Sans"/>
                <a:cs typeface="Canva Sans"/>
                <a:sym typeface="Canva Sans"/>
              </a:rPr>
              <a:t>DIEMSO.MaDangKy đồng thời là PK và FK đến DANGKYTINCHI.MaDangKy.</a:t>
            </a:r>
          </a:p>
        </p:txBody>
      </p:sp>
      <p:grpSp>
        <p:nvGrpSpPr>
          <p:cNvPr name="Group 23" id="23"/>
          <p:cNvGrpSpPr/>
          <p:nvPr/>
        </p:nvGrpSpPr>
        <p:grpSpPr>
          <a:xfrm rot="0">
            <a:off x="9810750" y="6191250"/>
            <a:ext cx="7791450" cy="2152650"/>
            <a:chOff x="0" y="0"/>
            <a:chExt cx="10388600" cy="2870200"/>
          </a:xfrm>
        </p:grpSpPr>
        <p:sp>
          <p:nvSpPr>
            <p:cNvPr name="Freeform 24" id="24"/>
            <p:cNvSpPr/>
            <p:nvPr/>
          </p:nvSpPr>
          <p:spPr>
            <a:xfrm flipH="false" flipV="false" rot="0">
              <a:off x="0" y="0"/>
              <a:ext cx="10388600" cy="2870200"/>
            </a:xfrm>
            <a:custGeom>
              <a:avLst/>
              <a:gdLst/>
              <a:ahLst/>
              <a:cxnLst/>
              <a:rect r="r" b="b" t="t" l="l"/>
              <a:pathLst>
                <a:path h="2870200" w="10388600">
                  <a:moveTo>
                    <a:pt x="228600" y="0"/>
                  </a:moveTo>
                  <a:lnTo>
                    <a:pt x="10160000" y="0"/>
                  </a:lnTo>
                  <a:cubicBezTo>
                    <a:pt x="10286252" y="0"/>
                    <a:pt x="10388600" y="102348"/>
                    <a:pt x="10388600" y="228600"/>
                  </a:cubicBezTo>
                  <a:lnTo>
                    <a:pt x="10388600" y="2641600"/>
                  </a:lnTo>
                  <a:cubicBezTo>
                    <a:pt x="10388600" y="2767852"/>
                    <a:pt x="10286252" y="2870200"/>
                    <a:pt x="10160000" y="2870200"/>
                  </a:cubicBezTo>
                  <a:lnTo>
                    <a:pt x="228600" y="2870200"/>
                  </a:lnTo>
                  <a:cubicBezTo>
                    <a:pt x="102348" y="2870200"/>
                    <a:pt x="0" y="2767852"/>
                    <a:pt x="0" y="2641600"/>
                  </a:cubicBezTo>
                  <a:lnTo>
                    <a:pt x="0" y="228600"/>
                  </a:lnTo>
                  <a:cubicBezTo>
                    <a:pt x="0" y="102348"/>
                    <a:pt x="102348" y="0"/>
                    <a:pt x="228600" y="0"/>
                  </a:cubicBezTo>
                  <a:close/>
                </a:path>
              </a:pathLst>
            </a:custGeom>
            <a:solidFill>
              <a:srgbClr val="F1EFFF"/>
            </a:solidFill>
            <a:ln w="19050" cap="sq">
              <a:solidFill>
                <a:srgbClr val="6F64B5"/>
              </a:solidFill>
              <a:prstDash val="solid"/>
              <a:miter/>
            </a:ln>
          </p:spPr>
        </p:sp>
        <p:sp>
          <p:nvSpPr>
            <p:cNvPr name="TextBox 25" id="25"/>
            <p:cNvSpPr txBox="true"/>
            <p:nvPr/>
          </p:nvSpPr>
          <p:spPr>
            <a:xfrm>
              <a:off x="0" y="-47625"/>
              <a:ext cx="10388600" cy="2917825"/>
            </a:xfrm>
            <a:prstGeom prst="rect">
              <a:avLst/>
            </a:prstGeom>
          </p:spPr>
          <p:txBody>
            <a:bodyPr anchor="ctr" rtlCol="false" tIns="50800" lIns="50800" bIns="50800" rIns="50800"/>
            <a:lstStyle/>
            <a:p>
              <a:pPr algn="l">
                <a:lnSpc>
                  <a:spcPts val="2800"/>
                </a:lnSpc>
              </a:pPr>
            </a:p>
          </p:txBody>
        </p:sp>
      </p:grpSp>
      <p:grpSp>
        <p:nvGrpSpPr>
          <p:cNvPr name="Group 26" id="26"/>
          <p:cNvGrpSpPr/>
          <p:nvPr/>
        </p:nvGrpSpPr>
        <p:grpSpPr>
          <a:xfrm rot="0">
            <a:off x="9810750" y="6191250"/>
            <a:ext cx="95250" cy="2152650"/>
            <a:chOff x="0" y="0"/>
            <a:chExt cx="127000" cy="2870200"/>
          </a:xfrm>
        </p:grpSpPr>
        <p:sp>
          <p:nvSpPr>
            <p:cNvPr name="Freeform 27" id="27"/>
            <p:cNvSpPr/>
            <p:nvPr/>
          </p:nvSpPr>
          <p:spPr>
            <a:xfrm flipH="false" flipV="false" rot="0">
              <a:off x="0" y="0"/>
              <a:ext cx="127000" cy="2870200"/>
            </a:xfrm>
            <a:custGeom>
              <a:avLst/>
              <a:gdLst/>
              <a:ahLst/>
              <a:cxnLst/>
              <a:rect r="r" b="b" t="t" l="l"/>
              <a:pathLst>
                <a:path h="2870200" w="127000">
                  <a:moveTo>
                    <a:pt x="63500" y="0"/>
                  </a:moveTo>
                  <a:lnTo>
                    <a:pt x="63500" y="0"/>
                  </a:lnTo>
                  <a:cubicBezTo>
                    <a:pt x="98570" y="0"/>
                    <a:pt x="127000" y="28430"/>
                    <a:pt x="127000" y="63500"/>
                  </a:cubicBezTo>
                  <a:lnTo>
                    <a:pt x="127000" y="2806700"/>
                  </a:lnTo>
                  <a:cubicBezTo>
                    <a:pt x="127000" y="2841770"/>
                    <a:pt x="98570" y="2870200"/>
                    <a:pt x="63500" y="2870200"/>
                  </a:cubicBezTo>
                  <a:lnTo>
                    <a:pt x="63500" y="2870200"/>
                  </a:lnTo>
                  <a:cubicBezTo>
                    <a:pt x="28430" y="2870200"/>
                    <a:pt x="0" y="2841770"/>
                    <a:pt x="0" y="2806700"/>
                  </a:cubicBezTo>
                  <a:lnTo>
                    <a:pt x="0" y="63500"/>
                  </a:lnTo>
                  <a:cubicBezTo>
                    <a:pt x="0" y="28430"/>
                    <a:pt x="28430" y="0"/>
                    <a:pt x="63500" y="0"/>
                  </a:cubicBezTo>
                  <a:close/>
                </a:path>
              </a:pathLst>
            </a:custGeom>
            <a:solidFill>
              <a:srgbClr val="6F64B5"/>
            </a:solidFill>
          </p:spPr>
        </p:sp>
        <p:sp>
          <p:nvSpPr>
            <p:cNvPr name="TextBox 28" id="28"/>
            <p:cNvSpPr txBox="true"/>
            <p:nvPr/>
          </p:nvSpPr>
          <p:spPr>
            <a:xfrm>
              <a:off x="0" y="-47625"/>
              <a:ext cx="127000" cy="2917825"/>
            </a:xfrm>
            <a:prstGeom prst="rect">
              <a:avLst/>
            </a:prstGeom>
          </p:spPr>
          <p:txBody>
            <a:bodyPr anchor="ctr" rtlCol="false" tIns="50800" lIns="50800" bIns="50800" rIns="50800"/>
            <a:lstStyle/>
            <a:p>
              <a:pPr algn="l">
                <a:lnSpc>
                  <a:spcPts val="2800"/>
                </a:lnSpc>
              </a:pPr>
            </a:p>
          </p:txBody>
        </p:sp>
      </p:grpSp>
      <p:sp>
        <p:nvSpPr>
          <p:cNvPr name="TextBox 29" id="29"/>
          <p:cNvSpPr txBox="true"/>
          <p:nvPr/>
        </p:nvSpPr>
        <p:spPr>
          <a:xfrm rot="0">
            <a:off x="10096500" y="6372225"/>
            <a:ext cx="7239000" cy="349250"/>
          </a:xfrm>
          <a:prstGeom prst="rect">
            <a:avLst/>
          </a:prstGeom>
        </p:spPr>
        <p:txBody>
          <a:bodyPr anchor="t" rtlCol="false" tIns="0" lIns="0" bIns="0" rIns="0">
            <a:spAutoFit/>
          </a:bodyPr>
          <a:lstStyle/>
          <a:p>
            <a:pPr algn="l">
              <a:lnSpc>
                <a:spcPts val="2800"/>
              </a:lnSpc>
            </a:pPr>
            <a:r>
              <a:rPr lang="en-US" sz="2000" b="true">
                <a:solidFill>
                  <a:srgbClr val="6F64B5"/>
                </a:solidFill>
                <a:latin typeface="Canva Sans Bold"/>
                <a:ea typeface="Canva Sans Bold"/>
                <a:cs typeface="Canva Sans Bold"/>
                <a:sym typeface="Canva Sans Bold"/>
              </a:rPr>
              <a:t>MÔN TIÊN QUYẾT · QUAN HỆ ĐỆ QUY</a:t>
            </a:r>
          </a:p>
        </p:txBody>
      </p:sp>
      <p:sp>
        <p:nvSpPr>
          <p:cNvPr name="TextBox 30" id="30"/>
          <p:cNvSpPr txBox="true"/>
          <p:nvPr/>
        </p:nvSpPr>
        <p:spPr>
          <a:xfrm rot="0">
            <a:off x="10096500" y="6848475"/>
            <a:ext cx="7239000" cy="1253109"/>
          </a:xfrm>
          <a:prstGeom prst="rect">
            <a:avLst/>
          </a:prstGeom>
        </p:spPr>
        <p:txBody>
          <a:bodyPr anchor="t" rtlCol="false" tIns="0" lIns="0" bIns="0" rIns="0">
            <a:spAutoFit/>
          </a:bodyPr>
          <a:lstStyle/>
          <a:p>
            <a:pPr algn="l">
              <a:lnSpc>
                <a:spcPts val="2477"/>
              </a:lnSpc>
            </a:pPr>
            <a:r>
              <a:rPr lang="en-US" sz="2100">
                <a:solidFill>
                  <a:srgbClr val="12304A"/>
                </a:solidFill>
                <a:latin typeface="Canva Sans"/>
                <a:ea typeface="Canva Sans"/>
                <a:cs typeface="Canva Sans"/>
                <a:sym typeface="Canva Sans"/>
              </a:rPr>
              <a:t>Một môn học có thể yêu cầu nhiều môn tiên quyết; một môn cũng có thể là điều kiện cho nhiều môn khác.</a:t>
            </a:r>
          </a:p>
          <a:p>
            <a:pPr algn="l">
              <a:lnSpc>
                <a:spcPts val="2477"/>
              </a:lnSpc>
            </a:pPr>
            <a:r>
              <a:rPr lang="en-US" sz="2100">
                <a:solidFill>
                  <a:srgbClr val="12304A"/>
                </a:solidFill>
                <a:latin typeface="Canva Sans"/>
                <a:ea typeface="Canva Sans"/>
                <a:cs typeface="Canva Sans"/>
                <a:sym typeface="Canva Sans"/>
              </a:rPr>
              <a:t>MONHOCTIENQUYET liên kết hai vai trò của MONHOC bằng cặp khóa MaMonHoc, MaMonTienQuyet.</a:t>
            </a:r>
          </a:p>
        </p:txBody>
      </p:sp>
      <p:grpSp>
        <p:nvGrpSpPr>
          <p:cNvPr name="Group 31" id="31"/>
          <p:cNvGrpSpPr/>
          <p:nvPr/>
        </p:nvGrpSpPr>
        <p:grpSpPr>
          <a:xfrm rot="0">
            <a:off x="685800" y="1428750"/>
            <a:ext cx="8334624" cy="1439875"/>
            <a:chOff x="0" y="0"/>
            <a:chExt cx="8475481" cy="1464209"/>
          </a:xfrm>
        </p:grpSpPr>
        <p:sp>
          <p:nvSpPr>
            <p:cNvPr name="Freeform 32" id="32"/>
            <p:cNvSpPr/>
            <p:nvPr/>
          </p:nvSpPr>
          <p:spPr>
            <a:xfrm flipH="false" flipV="false" rot="0">
              <a:off x="0" y="0"/>
              <a:ext cx="8475480" cy="1464209"/>
            </a:xfrm>
            <a:custGeom>
              <a:avLst/>
              <a:gdLst/>
              <a:ahLst/>
              <a:cxnLst/>
              <a:rect r="r" b="b" t="t" l="l"/>
              <a:pathLst>
                <a:path h="1464209" w="8475480">
                  <a:moveTo>
                    <a:pt x="159362" y="0"/>
                  </a:moveTo>
                  <a:lnTo>
                    <a:pt x="8316118" y="0"/>
                  </a:lnTo>
                  <a:cubicBezTo>
                    <a:pt x="8358384" y="0"/>
                    <a:pt x="8398918" y="16790"/>
                    <a:pt x="8428804" y="46676"/>
                  </a:cubicBezTo>
                  <a:cubicBezTo>
                    <a:pt x="8458691" y="76562"/>
                    <a:pt x="8475480" y="117097"/>
                    <a:pt x="8475480" y="159362"/>
                  </a:cubicBezTo>
                  <a:lnTo>
                    <a:pt x="8475480" y="1304847"/>
                  </a:lnTo>
                  <a:cubicBezTo>
                    <a:pt x="8475480" y="1347112"/>
                    <a:pt x="8458691" y="1387646"/>
                    <a:pt x="8428804" y="1417533"/>
                  </a:cubicBezTo>
                  <a:cubicBezTo>
                    <a:pt x="8398918" y="1447419"/>
                    <a:pt x="8358384" y="1464209"/>
                    <a:pt x="8316118" y="1464209"/>
                  </a:cubicBezTo>
                  <a:lnTo>
                    <a:pt x="159362" y="1464209"/>
                  </a:lnTo>
                  <a:cubicBezTo>
                    <a:pt x="71349" y="1464209"/>
                    <a:pt x="0" y="1392860"/>
                    <a:pt x="0" y="1304847"/>
                  </a:cubicBezTo>
                  <a:lnTo>
                    <a:pt x="0" y="159362"/>
                  </a:lnTo>
                  <a:cubicBezTo>
                    <a:pt x="0" y="71349"/>
                    <a:pt x="71349" y="0"/>
                    <a:pt x="159362" y="0"/>
                  </a:cubicBezTo>
                  <a:close/>
                </a:path>
              </a:pathLst>
            </a:custGeom>
            <a:solidFill>
              <a:srgbClr val="CAE1FF"/>
            </a:solidFill>
            <a:ln w="9525" cap="sq">
              <a:solidFill>
                <a:srgbClr val="004AAD"/>
              </a:solidFill>
              <a:prstDash val="solid"/>
              <a:miter/>
            </a:ln>
          </p:spPr>
        </p:sp>
        <p:sp>
          <p:nvSpPr>
            <p:cNvPr name="TextBox 33" id="33"/>
            <p:cNvSpPr txBox="true"/>
            <p:nvPr/>
          </p:nvSpPr>
          <p:spPr>
            <a:xfrm>
              <a:off x="0" y="-19050"/>
              <a:ext cx="8475481" cy="1483259"/>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819150" y="1552740"/>
            <a:ext cx="8084389" cy="1153795"/>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Canva Sans"/>
                <a:ea typeface="Canva Sans"/>
                <a:cs typeface="Canva Sans"/>
                <a:sym typeface="Canva Sans"/>
              </a:rPr>
              <a:t>Nhóm đã xây dựng l</a:t>
            </a:r>
            <a:r>
              <a:rPr lang="en-US" sz="2199">
                <a:solidFill>
                  <a:srgbClr val="000000"/>
                </a:solidFill>
                <a:latin typeface="Canva Sans"/>
                <a:ea typeface="Canva Sans"/>
                <a:cs typeface="Canva Sans"/>
                <a:sym typeface="Canva Sans"/>
              </a:rPr>
              <a:t>ược đồ quan hệ gồm 19 bảng, xác định khóa chính, khóa ngoại và bội số liên kết để quản lý dữ liệu học vụ nhất quán.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1314450" cy="1504950"/>
          </a:xfrm>
          <a:custGeom>
            <a:avLst/>
            <a:gdLst/>
            <a:ahLst/>
            <a:cxnLst/>
            <a:rect r="r" b="b" t="t" l="l"/>
            <a:pathLst>
              <a:path h="1504950" w="1314450">
                <a:moveTo>
                  <a:pt x="0" y="0"/>
                </a:moveTo>
                <a:lnTo>
                  <a:pt x="1314450" y="0"/>
                </a:lnTo>
                <a:lnTo>
                  <a:pt x="1314450" y="1504950"/>
                </a:lnTo>
                <a:lnTo>
                  <a:pt x="0" y="1504950"/>
                </a:lnTo>
                <a:lnTo>
                  <a:pt x="0" y="0"/>
                </a:lnTo>
                <a:close/>
              </a:path>
            </a:pathLst>
          </a:custGeom>
          <a:blipFill>
            <a:blip r:embed="rId3"/>
            <a:stretch>
              <a:fillRect l="0" t="0" r="0" b="0"/>
            </a:stretch>
          </a:blipFill>
        </p:spPr>
      </p:sp>
      <p:sp>
        <p:nvSpPr>
          <p:cNvPr name="Freeform 4" id="4"/>
          <p:cNvSpPr/>
          <p:nvPr/>
        </p:nvSpPr>
        <p:spPr>
          <a:xfrm flipH="false" flipV="false" rot="0">
            <a:off x="15668625" y="0"/>
            <a:ext cx="2619375" cy="1933575"/>
          </a:xfrm>
          <a:custGeom>
            <a:avLst/>
            <a:gdLst/>
            <a:ahLst/>
            <a:cxnLst/>
            <a:rect r="r" b="b" t="t" l="l"/>
            <a:pathLst>
              <a:path h="1933575" w="2619375">
                <a:moveTo>
                  <a:pt x="0" y="0"/>
                </a:moveTo>
                <a:lnTo>
                  <a:pt x="2619375" y="0"/>
                </a:lnTo>
                <a:lnTo>
                  <a:pt x="2619375" y="1933575"/>
                </a:lnTo>
                <a:lnTo>
                  <a:pt x="0" y="1933575"/>
                </a:lnTo>
                <a:lnTo>
                  <a:pt x="0" y="0"/>
                </a:lnTo>
                <a:close/>
              </a:path>
            </a:pathLst>
          </a:custGeom>
          <a:blipFill>
            <a:blip r:embed="rId4"/>
            <a:stretch>
              <a:fillRect l="0" t="0" r="0" b="0"/>
            </a:stretch>
          </a:blipFill>
        </p:spPr>
      </p:sp>
      <p:sp>
        <p:nvSpPr>
          <p:cNvPr name="TextBox 5" id="5"/>
          <p:cNvSpPr txBox="true"/>
          <p:nvPr/>
        </p:nvSpPr>
        <p:spPr>
          <a:xfrm rot="0">
            <a:off x="685800" y="749618"/>
            <a:ext cx="13697735" cy="578485"/>
          </a:xfrm>
          <a:prstGeom prst="rect">
            <a:avLst/>
          </a:prstGeom>
        </p:spPr>
        <p:txBody>
          <a:bodyPr anchor="t" rtlCol="false" tIns="0" lIns="0" bIns="0" rIns="0">
            <a:spAutoFit/>
          </a:bodyPr>
          <a:lstStyle/>
          <a:p>
            <a:pPr algn="l">
              <a:lnSpc>
                <a:spcPts val="4399"/>
              </a:lnSpc>
            </a:pPr>
            <a:r>
              <a:rPr lang="en-US" b="true" sz="4399" spc="-42">
                <a:solidFill>
                  <a:srgbClr val="173A78"/>
                </a:solidFill>
                <a:latin typeface="Canva Sans Bold"/>
                <a:ea typeface="Canva Sans Bold"/>
                <a:cs typeface="Canva Sans Bold"/>
                <a:sym typeface="Canva Sans Bold"/>
              </a:rPr>
              <a:t>3. CHECK, UNIQUE &amp; TRIGGER</a:t>
            </a:r>
          </a:p>
        </p:txBody>
      </p:sp>
      <p:sp>
        <p:nvSpPr>
          <p:cNvPr name="Freeform 6" id="6"/>
          <p:cNvSpPr/>
          <p:nvPr/>
        </p:nvSpPr>
        <p:spPr>
          <a:xfrm flipH="false" flipV="false" rot="0">
            <a:off x="647700" y="1924050"/>
            <a:ext cx="17211675" cy="1933575"/>
          </a:xfrm>
          <a:custGeom>
            <a:avLst/>
            <a:gdLst/>
            <a:ahLst/>
            <a:cxnLst/>
            <a:rect r="r" b="b" t="t" l="l"/>
            <a:pathLst>
              <a:path h="1933575" w="17211675">
                <a:moveTo>
                  <a:pt x="0" y="0"/>
                </a:moveTo>
                <a:lnTo>
                  <a:pt x="17211675" y="0"/>
                </a:lnTo>
                <a:lnTo>
                  <a:pt x="17211675" y="1933575"/>
                </a:lnTo>
                <a:lnTo>
                  <a:pt x="0" y="1933575"/>
                </a:lnTo>
                <a:lnTo>
                  <a:pt x="0" y="0"/>
                </a:lnTo>
                <a:close/>
              </a:path>
            </a:pathLst>
          </a:custGeom>
          <a:blipFill>
            <a:blip r:embed="rId5"/>
            <a:stretch>
              <a:fillRect l="0" t="0" r="0" b="0"/>
            </a:stretch>
          </a:blipFill>
        </p:spPr>
      </p:sp>
      <p:sp>
        <p:nvSpPr>
          <p:cNvPr name="Freeform 7" id="7"/>
          <p:cNvSpPr/>
          <p:nvPr/>
        </p:nvSpPr>
        <p:spPr>
          <a:xfrm flipH="false" flipV="false" rot="0">
            <a:off x="1304925" y="2352675"/>
            <a:ext cx="1095375" cy="1295400"/>
          </a:xfrm>
          <a:custGeom>
            <a:avLst/>
            <a:gdLst/>
            <a:ahLst/>
            <a:cxnLst/>
            <a:rect r="r" b="b" t="t" l="l"/>
            <a:pathLst>
              <a:path h="1295400" w="1095375">
                <a:moveTo>
                  <a:pt x="0" y="0"/>
                </a:moveTo>
                <a:lnTo>
                  <a:pt x="1095375" y="0"/>
                </a:lnTo>
                <a:lnTo>
                  <a:pt x="1095375" y="1295400"/>
                </a:lnTo>
                <a:lnTo>
                  <a:pt x="0" y="1295400"/>
                </a:lnTo>
                <a:lnTo>
                  <a:pt x="0" y="0"/>
                </a:lnTo>
                <a:close/>
              </a:path>
            </a:pathLst>
          </a:custGeom>
          <a:blipFill>
            <a:blip r:embed="rId6"/>
            <a:stretch>
              <a:fillRect l="0" t="0" r="0" b="0"/>
            </a:stretch>
          </a:blipFill>
        </p:spPr>
      </p:sp>
      <p:sp>
        <p:nvSpPr>
          <p:cNvPr name="Freeform 8" id="8"/>
          <p:cNvSpPr/>
          <p:nvPr/>
        </p:nvSpPr>
        <p:spPr>
          <a:xfrm flipH="false" flipV="false" rot="0">
            <a:off x="2609850" y="2352675"/>
            <a:ext cx="228600" cy="1295400"/>
          </a:xfrm>
          <a:custGeom>
            <a:avLst/>
            <a:gdLst/>
            <a:ahLst/>
            <a:cxnLst/>
            <a:rect r="r" b="b" t="t" l="l"/>
            <a:pathLst>
              <a:path h="1295400" w="228600">
                <a:moveTo>
                  <a:pt x="0" y="0"/>
                </a:moveTo>
                <a:lnTo>
                  <a:pt x="228600" y="0"/>
                </a:lnTo>
                <a:lnTo>
                  <a:pt x="228600" y="1295400"/>
                </a:lnTo>
                <a:lnTo>
                  <a:pt x="0" y="1295400"/>
                </a:lnTo>
                <a:lnTo>
                  <a:pt x="0" y="0"/>
                </a:lnTo>
                <a:close/>
              </a:path>
            </a:pathLst>
          </a:custGeom>
          <a:blipFill>
            <a:blip r:embed="rId7"/>
            <a:stretch>
              <a:fillRect l="0" t="0" r="0" b="0"/>
            </a:stretch>
          </a:blipFill>
        </p:spPr>
      </p:sp>
      <p:sp>
        <p:nvSpPr>
          <p:cNvPr name="TextBox 9" id="9"/>
          <p:cNvSpPr txBox="true"/>
          <p:nvPr/>
        </p:nvSpPr>
        <p:spPr>
          <a:xfrm rot="0">
            <a:off x="3048000" y="2495550"/>
            <a:ext cx="12186929" cy="914400"/>
          </a:xfrm>
          <a:prstGeom prst="rect">
            <a:avLst/>
          </a:prstGeom>
        </p:spPr>
        <p:txBody>
          <a:bodyPr anchor="t" rtlCol="false" tIns="0" lIns="0" bIns="0" rIns="0">
            <a:spAutoFit/>
          </a:bodyPr>
          <a:lstStyle/>
          <a:p>
            <a:pPr algn="l">
              <a:lnSpc>
                <a:spcPts val="3749"/>
              </a:lnSpc>
            </a:pPr>
            <a:r>
              <a:rPr lang="en-US" sz="2499" spc="-49">
                <a:solidFill>
                  <a:srgbClr val="102B50"/>
                </a:solidFill>
                <a:latin typeface="Canva Sans"/>
                <a:ea typeface="Canva Sans"/>
                <a:cs typeface="Canva Sans"/>
                <a:sym typeface="Canva Sans"/>
              </a:rPr>
              <a:t>CHECK và UNIQUE chặn dữ liệu không hợp lệ hoặc bị trùng</a:t>
            </a:r>
          </a:p>
          <a:p>
            <a:pPr algn="l">
              <a:lnSpc>
                <a:spcPts val="3749"/>
              </a:lnSpc>
            </a:pPr>
            <a:r>
              <a:rPr lang="en-US" sz="2499" spc="-50">
                <a:solidFill>
                  <a:srgbClr val="102B50"/>
                </a:solidFill>
                <a:latin typeface="Canva Sans"/>
                <a:ea typeface="Canva Sans"/>
                <a:cs typeface="Canva Sans"/>
                <a:sym typeface="Canva Sans"/>
              </a:rPr>
              <a:t>TRIGGER </a:t>
            </a:r>
            <a:r>
              <a:rPr lang="en-US" sz="2499" spc="-50">
                <a:solidFill>
                  <a:srgbClr val="102B50"/>
                </a:solidFill>
                <a:latin typeface="Canva Sans"/>
                <a:ea typeface="Canva Sans"/>
                <a:cs typeface="Canva Sans"/>
                <a:sym typeface="Canva Sans"/>
              </a:rPr>
              <a:t>xử lý các quy tắc cần kiểm tra nhiều bản ghi và tự động ghi nhận thay đổi.</a:t>
            </a:r>
          </a:p>
        </p:txBody>
      </p:sp>
      <p:sp>
        <p:nvSpPr>
          <p:cNvPr name="Freeform 10" id="10"/>
          <p:cNvSpPr/>
          <p:nvPr/>
        </p:nvSpPr>
        <p:spPr>
          <a:xfrm flipH="false" flipV="false" rot="0">
            <a:off x="647700" y="4067175"/>
            <a:ext cx="17211675" cy="1933575"/>
          </a:xfrm>
          <a:custGeom>
            <a:avLst/>
            <a:gdLst/>
            <a:ahLst/>
            <a:cxnLst/>
            <a:rect r="r" b="b" t="t" l="l"/>
            <a:pathLst>
              <a:path h="1933575" w="17211675">
                <a:moveTo>
                  <a:pt x="0" y="0"/>
                </a:moveTo>
                <a:lnTo>
                  <a:pt x="17211675" y="0"/>
                </a:lnTo>
                <a:lnTo>
                  <a:pt x="17211675" y="1933575"/>
                </a:lnTo>
                <a:lnTo>
                  <a:pt x="0" y="1933575"/>
                </a:lnTo>
                <a:lnTo>
                  <a:pt x="0" y="0"/>
                </a:lnTo>
                <a:close/>
              </a:path>
            </a:pathLst>
          </a:custGeom>
          <a:blipFill>
            <a:blip r:embed="rId8"/>
            <a:stretch>
              <a:fillRect l="0" t="0" r="0" b="0"/>
            </a:stretch>
          </a:blipFill>
        </p:spPr>
      </p:sp>
      <p:sp>
        <p:nvSpPr>
          <p:cNvPr name="Freeform 11" id="11"/>
          <p:cNvSpPr/>
          <p:nvPr/>
        </p:nvSpPr>
        <p:spPr>
          <a:xfrm flipH="false" flipV="false" rot="0">
            <a:off x="1085850" y="4286250"/>
            <a:ext cx="1314450" cy="1285875"/>
          </a:xfrm>
          <a:custGeom>
            <a:avLst/>
            <a:gdLst/>
            <a:ahLst/>
            <a:cxnLst/>
            <a:rect r="r" b="b" t="t" l="l"/>
            <a:pathLst>
              <a:path h="1285875" w="1314450">
                <a:moveTo>
                  <a:pt x="0" y="0"/>
                </a:moveTo>
                <a:lnTo>
                  <a:pt x="1314450" y="0"/>
                </a:lnTo>
                <a:lnTo>
                  <a:pt x="1314450" y="1285875"/>
                </a:lnTo>
                <a:lnTo>
                  <a:pt x="0" y="1285875"/>
                </a:lnTo>
                <a:lnTo>
                  <a:pt x="0" y="0"/>
                </a:lnTo>
                <a:close/>
              </a:path>
            </a:pathLst>
          </a:custGeom>
          <a:blipFill>
            <a:blip r:embed="rId9"/>
            <a:stretch>
              <a:fillRect l="0" t="0" r="0" b="0"/>
            </a:stretch>
          </a:blipFill>
        </p:spPr>
      </p:sp>
      <p:sp>
        <p:nvSpPr>
          <p:cNvPr name="Freeform 12" id="12"/>
          <p:cNvSpPr/>
          <p:nvPr/>
        </p:nvSpPr>
        <p:spPr>
          <a:xfrm flipH="false" flipV="false" rot="0">
            <a:off x="2609850" y="4495800"/>
            <a:ext cx="228600" cy="1076325"/>
          </a:xfrm>
          <a:custGeom>
            <a:avLst/>
            <a:gdLst/>
            <a:ahLst/>
            <a:cxnLst/>
            <a:rect r="r" b="b" t="t" l="l"/>
            <a:pathLst>
              <a:path h="1076325" w="228600">
                <a:moveTo>
                  <a:pt x="0" y="0"/>
                </a:moveTo>
                <a:lnTo>
                  <a:pt x="228600" y="0"/>
                </a:lnTo>
                <a:lnTo>
                  <a:pt x="228600" y="1076325"/>
                </a:lnTo>
                <a:lnTo>
                  <a:pt x="0" y="1076325"/>
                </a:lnTo>
                <a:lnTo>
                  <a:pt x="0" y="0"/>
                </a:lnTo>
                <a:close/>
              </a:path>
            </a:pathLst>
          </a:custGeom>
          <a:blipFill>
            <a:blip r:embed="rId10"/>
            <a:stretch>
              <a:fillRect l="0" t="0" r="0" b="0"/>
            </a:stretch>
          </a:blipFill>
        </p:spPr>
      </p:sp>
      <p:sp>
        <p:nvSpPr>
          <p:cNvPr name="TextBox 13" id="13"/>
          <p:cNvSpPr txBox="true"/>
          <p:nvPr/>
        </p:nvSpPr>
        <p:spPr>
          <a:xfrm rot="0">
            <a:off x="3066512" y="4745608"/>
            <a:ext cx="4563013" cy="493395"/>
          </a:xfrm>
          <a:prstGeom prst="rect">
            <a:avLst/>
          </a:prstGeom>
        </p:spPr>
        <p:txBody>
          <a:bodyPr anchor="t" rtlCol="false" tIns="0" lIns="0" bIns="0" rIns="0">
            <a:spAutoFit/>
          </a:bodyPr>
          <a:lstStyle/>
          <a:p>
            <a:pPr algn="l">
              <a:lnSpc>
                <a:spcPts val="4199"/>
              </a:lnSpc>
            </a:pPr>
            <a:r>
              <a:rPr lang="en-US" sz="2799" spc="-56" b="true">
                <a:solidFill>
                  <a:srgbClr val="31C5EA"/>
                </a:solidFill>
                <a:latin typeface="Canva Sans Bold"/>
                <a:ea typeface="Canva Sans Bold"/>
                <a:cs typeface="Canva Sans Bold"/>
                <a:sym typeface="Canva Sans Bold"/>
              </a:rPr>
              <a:t>CHECK</a:t>
            </a:r>
            <a:r>
              <a:rPr lang="en-US" sz="2799" spc="-56" b="true">
                <a:solidFill>
                  <a:srgbClr val="102B50"/>
                </a:solidFill>
                <a:latin typeface="Canva Sans Bold"/>
                <a:ea typeface="Canva Sans Bold"/>
                <a:cs typeface="Canva Sans Bold"/>
                <a:sym typeface="Canva Sans Bold"/>
              </a:rPr>
              <a:t> - Miền giá trị hợp lệ</a:t>
            </a:r>
          </a:p>
        </p:txBody>
      </p:sp>
      <p:sp>
        <p:nvSpPr>
          <p:cNvPr name="Freeform 14" id="14"/>
          <p:cNvSpPr/>
          <p:nvPr/>
        </p:nvSpPr>
        <p:spPr>
          <a:xfrm flipH="false" flipV="false" rot="0">
            <a:off x="9572625" y="4495800"/>
            <a:ext cx="228600" cy="1076325"/>
          </a:xfrm>
          <a:custGeom>
            <a:avLst/>
            <a:gdLst/>
            <a:ahLst/>
            <a:cxnLst/>
            <a:rect r="r" b="b" t="t" l="l"/>
            <a:pathLst>
              <a:path h="1076325" w="228600">
                <a:moveTo>
                  <a:pt x="0" y="0"/>
                </a:moveTo>
                <a:lnTo>
                  <a:pt x="228600" y="0"/>
                </a:lnTo>
                <a:lnTo>
                  <a:pt x="228600" y="1076325"/>
                </a:lnTo>
                <a:lnTo>
                  <a:pt x="0" y="1076325"/>
                </a:lnTo>
                <a:lnTo>
                  <a:pt x="0" y="0"/>
                </a:lnTo>
                <a:close/>
              </a:path>
            </a:pathLst>
          </a:custGeom>
          <a:blipFill>
            <a:blip r:embed="rId11"/>
            <a:stretch>
              <a:fillRect l="0" t="0" r="0" b="0"/>
            </a:stretch>
          </a:blipFill>
        </p:spPr>
      </p:sp>
      <p:sp>
        <p:nvSpPr>
          <p:cNvPr name="TextBox 15" id="15"/>
          <p:cNvSpPr txBox="true"/>
          <p:nvPr/>
        </p:nvSpPr>
        <p:spPr>
          <a:xfrm rot="0">
            <a:off x="9999974" y="4633913"/>
            <a:ext cx="5411196" cy="889635"/>
          </a:xfrm>
          <a:prstGeom prst="rect">
            <a:avLst/>
          </a:prstGeom>
        </p:spPr>
        <p:txBody>
          <a:bodyPr anchor="t" rtlCol="false" tIns="0" lIns="0" bIns="0" rIns="0">
            <a:spAutoFit/>
          </a:bodyPr>
          <a:lstStyle/>
          <a:p>
            <a:pPr algn="l">
              <a:lnSpc>
                <a:spcPts val="3600"/>
              </a:lnSpc>
            </a:pPr>
            <a:r>
              <a:rPr lang="en-US" sz="2400" spc="-48">
                <a:solidFill>
                  <a:srgbClr val="102B50"/>
                </a:solidFill>
                <a:latin typeface="Canva Sans"/>
                <a:ea typeface="Canva Sans"/>
                <a:cs typeface="Canva Sans"/>
                <a:sym typeface="Canva Sans"/>
              </a:rPr>
              <a:t>Điểm số 0–10, Thứ 2–7 </a:t>
            </a:r>
          </a:p>
          <a:p>
            <a:pPr algn="l">
              <a:lnSpc>
                <a:spcPts val="3600"/>
              </a:lnSpc>
            </a:pPr>
            <a:r>
              <a:rPr lang="en-US" sz="2400" spc="-48">
                <a:solidFill>
                  <a:srgbClr val="102B50"/>
                </a:solidFill>
                <a:latin typeface="Canva Sans"/>
                <a:ea typeface="Canva Sans"/>
                <a:cs typeface="Canva Sans"/>
                <a:sym typeface="Canva Sans"/>
              </a:rPr>
              <a:t>Tiết bắt đầu 1 –12 - Học phí không âm</a:t>
            </a:r>
          </a:p>
        </p:txBody>
      </p:sp>
      <p:sp>
        <p:nvSpPr>
          <p:cNvPr name="Freeform 16" id="16"/>
          <p:cNvSpPr/>
          <p:nvPr/>
        </p:nvSpPr>
        <p:spPr>
          <a:xfrm flipH="false" flipV="false" rot="0">
            <a:off x="16544925" y="4495800"/>
            <a:ext cx="876300" cy="1076325"/>
          </a:xfrm>
          <a:custGeom>
            <a:avLst/>
            <a:gdLst/>
            <a:ahLst/>
            <a:cxnLst/>
            <a:rect r="r" b="b" t="t" l="l"/>
            <a:pathLst>
              <a:path h="1076325" w="876300">
                <a:moveTo>
                  <a:pt x="0" y="0"/>
                </a:moveTo>
                <a:lnTo>
                  <a:pt x="876300" y="0"/>
                </a:lnTo>
                <a:lnTo>
                  <a:pt x="876300" y="1076325"/>
                </a:lnTo>
                <a:lnTo>
                  <a:pt x="0" y="1076325"/>
                </a:lnTo>
                <a:lnTo>
                  <a:pt x="0" y="0"/>
                </a:lnTo>
                <a:close/>
              </a:path>
            </a:pathLst>
          </a:custGeom>
          <a:blipFill>
            <a:blip r:embed="rId12"/>
            <a:stretch>
              <a:fillRect l="0" t="0" r="0" b="0"/>
            </a:stretch>
          </a:blipFill>
        </p:spPr>
      </p:sp>
      <p:sp>
        <p:nvSpPr>
          <p:cNvPr name="Freeform 17" id="17"/>
          <p:cNvSpPr/>
          <p:nvPr/>
        </p:nvSpPr>
        <p:spPr>
          <a:xfrm flipH="false" flipV="false" rot="0">
            <a:off x="647700" y="6000750"/>
            <a:ext cx="17211675" cy="1714500"/>
          </a:xfrm>
          <a:custGeom>
            <a:avLst/>
            <a:gdLst/>
            <a:ahLst/>
            <a:cxnLst/>
            <a:rect r="r" b="b" t="t" l="l"/>
            <a:pathLst>
              <a:path h="1714500" w="17211675">
                <a:moveTo>
                  <a:pt x="0" y="0"/>
                </a:moveTo>
                <a:lnTo>
                  <a:pt x="17211675" y="0"/>
                </a:lnTo>
                <a:lnTo>
                  <a:pt x="17211675" y="1714500"/>
                </a:lnTo>
                <a:lnTo>
                  <a:pt x="0" y="1714500"/>
                </a:lnTo>
                <a:lnTo>
                  <a:pt x="0" y="0"/>
                </a:lnTo>
                <a:close/>
              </a:path>
            </a:pathLst>
          </a:custGeom>
          <a:blipFill>
            <a:blip r:embed="rId13"/>
            <a:stretch>
              <a:fillRect l="0" t="0" r="0" b="0"/>
            </a:stretch>
          </a:blipFill>
        </p:spPr>
      </p:sp>
      <p:sp>
        <p:nvSpPr>
          <p:cNvPr name="Freeform 18" id="18"/>
          <p:cNvSpPr/>
          <p:nvPr/>
        </p:nvSpPr>
        <p:spPr>
          <a:xfrm flipH="false" flipV="false" rot="0">
            <a:off x="1085850" y="6210300"/>
            <a:ext cx="1314450" cy="1295400"/>
          </a:xfrm>
          <a:custGeom>
            <a:avLst/>
            <a:gdLst/>
            <a:ahLst/>
            <a:cxnLst/>
            <a:rect r="r" b="b" t="t" l="l"/>
            <a:pathLst>
              <a:path h="1295400" w="1314450">
                <a:moveTo>
                  <a:pt x="0" y="0"/>
                </a:moveTo>
                <a:lnTo>
                  <a:pt x="1314450" y="0"/>
                </a:lnTo>
                <a:lnTo>
                  <a:pt x="1314450" y="1295400"/>
                </a:lnTo>
                <a:lnTo>
                  <a:pt x="0" y="1295400"/>
                </a:lnTo>
                <a:lnTo>
                  <a:pt x="0" y="0"/>
                </a:lnTo>
                <a:close/>
              </a:path>
            </a:pathLst>
          </a:custGeom>
          <a:blipFill>
            <a:blip r:embed="rId14"/>
            <a:stretch>
              <a:fillRect l="0" t="0" r="0" b="0"/>
            </a:stretch>
          </a:blipFill>
        </p:spPr>
      </p:sp>
      <p:sp>
        <p:nvSpPr>
          <p:cNvPr name="Freeform 19" id="19"/>
          <p:cNvSpPr/>
          <p:nvPr/>
        </p:nvSpPr>
        <p:spPr>
          <a:xfrm flipH="false" flipV="false" rot="0">
            <a:off x="2609850" y="6429375"/>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15"/>
            <a:stretch>
              <a:fillRect l="0" t="0" r="0" b="0"/>
            </a:stretch>
          </a:blipFill>
        </p:spPr>
      </p:sp>
      <p:sp>
        <p:nvSpPr>
          <p:cNvPr name="TextBox 20" id="20"/>
          <p:cNvSpPr txBox="true"/>
          <p:nvPr/>
        </p:nvSpPr>
        <p:spPr>
          <a:xfrm rot="0">
            <a:off x="3062587" y="6584007"/>
            <a:ext cx="5288893" cy="493395"/>
          </a:xfrm>
          <a:prstGeom prst="rect">
            <a:avLst/>
          </a:prstGeom>
        </p:spPr>
        <p:txBody>
          <a:bodyPr anchor="t" rtlCol="false" tIns="0" lIns="0" bIns="0" rIns="0">
            <a:spAutoFit/>
          </a:bodyPr>
          <a:lstStyle/>
          <a:p>
            <a:pPr algn="l">
              <a:lnSpc>
                <a:spcPts val="4199"/>
              </a:lnSpc>
            </a:pPr>
            <a:r>
              <a:rPr lang="en-US" sz="2799" spc="-56" b="true">
                <a:solidFill>
                  <a:srgbClr val="278DE4"/>
                </a:solidFill>
                <a:latin typeface="Canva Sans Bold"/>
                <a:ea typeface="Canva Sans Bold"/>
                <a:cs typeface="Canva Sans Bold"/>
                <a:sym typeface="Canva Sans Bold"/>
              </a:rPr>
              <a:t>UNIQUE</a:t>
            </a:r>
            <a:r>
              <a:rPr lang="en-US" sz="2799" spc="-56" b="true">
                <a:solidFill>
                  <a:srgbClr val="102B50"/>
                </a:solidFill>
                <a:latin typeface="Canva Sans Bold"/>
                <a:ea typeface="Canva Sans Bold"/>
                <a:cs typeface="Canva Sans Bold"/>
                <a:sym typeface="Canva Sans Bold"/>
              </a:rPr>
              <a:t> - Ngăn đăng ký trùng</a:t>
            </a:r>
          </a:p>
        </p:txBody>
      </p:sp>
      <p:sp>
        <p:nvSpPr>
          <p:cNvPr name="Freeform 21" id="21"/>
          <p:cNvSpPr/>
          <p:nvPr/>
        </p:nvSpPr>
        <p:spPr>
          <a:xfrm flipH="false" flipV="false" rot="0">
            <a:off x="9572625" y="6429375"/>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16"/>
            <a:stretch>
              <a:fillRect l="0" t="0" r="0" b="0"/>
            </a:stretch>
          </a:blipFill>
        </p:spPr>
      </p:sp>
      <p:sp>
        <p:nvSpPr>
          <p:cNvPr name="TextBox 22" id="22"/>
          <p:cNvSpPr txBox="true"/>
          <p:nvPr/>
        </p:nvSpPr>
        <p:spPr>
          <a:xfrm rot="0">
            <a:off x="9999974" y="6153150"/>
            <a:ext cx="6109133" cy="1308735"/>
          </a:xfrm>
          <a:prstGeom prst="rect">
            <a:avLst/>
          </a:prstGeom>
        </p:spPr>
        <p:txBody>
          <a:bodyPr anchor="t" rtlCol="false" tIns="0" lIns="0" bIns="0" rIns="0">
            <a:spAutoFit/>
          </a:bodyPr>
          <a:lstStyle/>
          <a:p>
            <a:pPr algn="l">
              <a:lnSpc>
                <a:spcPts val="3599"/>
              </a:lnSpc>
            </a:pPr>
            <a:r>
              <a:rPr lang="en-US" sz="2399" spc="-96">
                <a:solidFill>
                  <a:srgbClr val="102B50"/>
                </a:solidFill>
                <a:latin typeface="Canva Sans"/>
                <a:ea typeface="Canva Sans"/>
                <a:cs typeface="Canva Sans"/>
                <a:sym typeface="Canva Sans"/>
              </a:rPr>
              <a:t>UQ_DANGKYTINCHI_SinhVien_LopHocPhan</a:t>
            </a:r>
          </a:p>
          <a:p>
            <a:pPr algn="l">
              <a:lnSpc>
                <a:spcPts val="3599"/>
              </a:lnSpc>
            </a:pPr>
            <a:r>
              <a:rPr lang="en-US" sz="2399" spc="-96">
                <a:solidFill>
                  <a:srgbClr val="102B50"/>
                </a:solidFill>
                <a:latin typeface="Canva Sans"/>
                <a:ea typeface="Canva Sans"/>
                <a:cs typeface="Canva Sans"/>
                <a:sym typeface="Canva Sans"/>
              </a:rPr>
              <a:t>ngăn sinh viên đăng ký lập cùng lớp học phần.</a:t>
            </a:r>
          </a:p>
        </p:txBody>
      </p:sp>
      <p:sp>
        <p:nvSpPr>
          <p:cNvPr name="Freeform 23" id="23"/>
          <p:cNvSpPr/>
          <p:nvPr/>
        </p:nvSpPr>
        <p:spPr>
          <a:xfrm flipH="false" flipV="false" rot="0">
            <a:off x="16544925" y="6429375"/>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17"/>
            <a:stretch>
              <a:fillRect l="0" t="0" r="0" b="0"/>
            </a:stretch>
          </a:blipFill>
        </p:spPr>
      </p:sp>
      <p:sp>
        <p:nvSpPr>
          <p:cNvPr name="Freeform 24" id="24"/>
          <p:cNvSpPr/>
          <p:nvPr/>
        </p:nvSpPr>
        <p:spPr>
          <a:xfrm flipH="false" flipV="false" rot="0">
            <a:off x="647700" y="7924800"/>
            <a:ext cx="17211675" cy="1933575"/>
          </a:xfrm>
          <a:custGeom>
            <a:avLst/>
            <a:gdLst/>
            <a:ahLst/>
            <a:cxnLst/>
            <a:rect r="r" b="b" t="t" l="l"/>
            <a:pathLst>
              <a:path h="1933575" w="17211675">
                <a:moveTo>
                  <a:pt x="0" y="0"/>
                </a:moveTo>
                <a:lnTo>
                  <a:pt x="17211675" y="0"/>
                </a:lnTo>
                <a:lnTo>
                  <a:pt x="17211675" y="1933575"/>
                </a:lnTo>
                <a:lnTo>
                  <a:pt x="0" y="1933575"/>
                </a:lnTo>
                <a:lnTo>
                  <a:pt x="0" y="0"/>
                </a:lnTo>
                <a:close/>
              </a:path>
            </a:pathLst>
          </a:custGeom>
          <a:blipFill>
            <a:blip r:embed="rId18"/>
            <a:stretch>
              <a:fillRect l="0" t="0" r="0" b="0"/>
            </a:stretch>
          </a:blipFill>
        </p:spPr>
      </p:sp>
      <p:sp>
        <p:nvSpPr>
          <p:cNvPr name="Freeform 25" id="25"/>
          <p:cNvSpPr/>
          <p:nvPr/>
        </p:nvSpPr>
        <p:spPr>
          <a:xfrm flipH="false" flipV="false" rot="0">
            <a:off x="1085850" y="8143875"/>
            <a:ext cx="1314450" cy="1285875"/>
          </a:xfrm>
          <a:custGeom>
            <a:avLst/>
            <a:gdLst/>
            <a:ahLst/>
            <a:cxnLst/>
            <a:rect r="r" b="b" t="t" l="l"/>
            <a:pathLst>
              <a:path h="1285875" w="1314450">
                <a:moveTo>
                  <a:pt x="0" y="0"/>
                </a:moveTo>
                <a:lnTo>
                  <a:pt x="1314450" y="0"/>
                </a:lnTo>
                <a:lnTo>
                  <a:pt x="1314450" y="1285875"/>
                </a:lnTo>
                <a:lnTo>
                  <a:pt x="0" y="1285875"/>
                </a:lnTo>
                <a:lnTo>
                  <a:pt x="0" y="0"/>
                </a:lnTo>
                <a:close/>
              </a:path>
            </a:pathLst>
          </a:custGeom>
          <a:blipFill>
            <a:blip r:embed="rId19"/>
            <a:stretch>
              <a:fillRect l="0" t="0" r="0" b="0"/>
            </a:stretch>
          </a:blipFill>
        </p:spPr>
      </p:sp>
      <p:sp>
        <p:nvSpPr>
          <p:cNvPr name="Freeform 26" id="26"/>
          <p:cNvSpPr/>
          <p:nvPr/>
        </p:nvSpPr>
        <p:spPr>
          <a:xfrm flipH="false" flipV="false" rot="0">
            <a:off x="2609850" y="8353425"/>
            <a:ext cx="228600" cy="1076325"/>
          </a:xfrm>
          <a:custGeom>
            <a:avLst/>
            <a:gdLst/>
            <a:ahLst/>
            <a:cxnLst/>
            <a:rect r="r" b="b" t="t" l="l"/>
            <a:pathLst>
              <a:path h="1076325" w="228600">
                <a:moveTo>
                  <a:pt x="0" y="0"/>
                </a:moveTo>
                <a:lnTo>
                  <a:pt x="228600" y="0"/>
                </a:lnTo>
                <a:lnTo>
                  <a:pt x="228600" y="1076325"/>
                </a:lnTo>
                <a:lnTo>
                  <a:pt x="0" y="1076325"/>
                </a:lnTo>
                <a:lnTo>
                  <a:pt x="0" y="0"/>
                </a:lnTo>
                <a:close/>
              </a:path>
            </a:pathLst>
          </a:custGeom>
          <a:blipFill>
            <a:blip r:embed="rId20"/>
            <a:stretch>
              <a:fillRect l="0" t="0" r="0" b="0"/>
            </a:stretch>
          </a:blipFill>
        </p:spPr>
      </p:sp>
      <p:sp>
        <p:nvSpPr>
          <p:cNvPr name="TextBox 27" id="27"/>
          <p:cNvSpPr txBox="true"/>
          <p:nvPr/>
        </p:nvSpPr>
        <p:spPr>
          <a:xfrm rot="0">
            <a:off x="3048000" y="8502015"/>
            <a:ext cx="5185387" cy="493395"/>
          </a:xfrm>
          <a:prstGeom prst="rect">
            <a:avLst/>
          </a:prstGeom>
        </p:spPr>
        <p:txBody>
          <a:bodyPr anchor="t" rtlCol="false" tIns="0" lIns="0" bIns="0" rIns="0">
            <a:spAutoFit/>
          </a:bodyPr>
          <a:lstStyle/>
          <a:p>
            <a:pPr algn="l">
              <a:lnSpc>
                <a:spcPts val="4199"/>
              </a:lnSpc>
            </a:pPr>
            <a:r>
              <a:rPr lang="en-US" sz="2799" spc="-56" b="true">
                <a:solidFill>
                  <a:srgbClr val="8348EC"/>
                </a:solidFill>
                <a:latin typeface="Canva Sans Bold"/>
                <a:ea typeface="Canva Sans Bold"/>
                <a:cs typeface="Canva Sans Bold"/>
                <a:sym typeface="Canva Sans Bold"/>
              </a:rPr>
              <a:t>20 TRIGGER</a:t>
            </a:r>
            <a:r>
              <a:rPr lang="en-US" sz="2799" spc="-56" b="true">
                <a:solidFill>
                  <a:srgbClr val="102B50"/>
                </a:solidFill>
                <a:latin typeface="Canva Sans Bold"/>
                <a:ea typeface="Canva Sans Bold"/>
                <a:cs typeface="Canva Sans Bold"/>
                <a:sym typeface="Canva Sans Bold"/>
              </a:rPr>
              <a:t> - Bảo vệ nghiệp vụ</a:t>
            </a:r>
          </a:p>
        </p:txBody>
      </p:sp>
      <p:sp>
        <p:nvSpPr>
          <p:cNvPr name="Freeform 28" id="28"/>
          <p:cNvSpPr/>
          <p:nvPr/>
        </p:nvSpPr>
        <p:spPr>
          <a:xfrm flipH="false" flipV="false" rot="0">
            <a:off x="9572625" y="8353425"/>
            <a:ext cx="228600" cy="1076325"/>
          </a:xfrm>
          <a:custGeom>
            <a:avLst/>
            <a:gdLst/>
            <a:ahLst/>
            <a:cxnLst/>
            <a:rect r="r" b="b" t="t" l="l"/>
            <a:pathLst>
              <a:path h="1076325" w="228600">
                <a:moveTo>
                  <a:pt x="0" y="0"/>
                </a:moveTo>
                <a:lnTo>
                  <a:pt x="228600" y="0"/>
                </a:lnTo>
                <a:lnTo>
                  <a:pt x="228600" y="1076325"/>
                </a:lnTo>
                <a:lnTo>
                  <a:pt x="0" y="1076325"/>
                </a:lnTo>
                <a:lnTo>
                  <a:pt x="0" y="0"/>
                </a:lnTo>
                <a:close/>
              </a:path>
            </a:pathLst>
          </a:custGeom>
          <a:blipFill>
            <a:blip r:embed="rId21"/>
            <a:stretch>
              <a:fillRect l="0" t="0" r="0" b="0"/>
            </a:stretch>
          </a:blipFill>
        </p:spPr>
      </p:sp>
      <p:sp>
        <p:nvSpPr>
          <p:cNvPr name="TextBox 29" id="29"/>
          <p:cNvSpPr txBox="true"/>
          <p:nvPr/>
        </p:nvSpPr>
        <p:spPr>
          <a:xfrm rot="0">
            <a:off x="9963766" y="8208645"/>
            <a:ext cx="6418618" cy="1308736"/>
          </a:xfrm>
          <a:prstGeom prst="rect">
            <a:avLst/>
          </a:prstGeom>
        </p:spPr>
        <p:txBody>
          <a:bodyPr anchor="t" rtlCol="false" tIns="0" lIns="0" bIns="0" rIns="0">
            <a:spAutoFit/>
          </a:bodyPr>
          <a:lstStyle/>
          <a:p>
            <a:pPr algn="l">
              <a:lnSpc>
                <a:spcPts val="3599"/>
              </a:lnSpc>
            </a:pPr>
            <a:r>
              <a:rPr lang="en-US" sz="2399" spc="-96">
                <a:solidFill>
                  <a:srgbClr val="102B50"/>
                </a:solidFill>
                <a:latin typeface="Canva Sans"/>
                <a:ea typeface="Canva Sans"/>
                <a:cs typeface="Canva Sans"/>
                <a:sym typeface="Canva Sans"/>
              </a:rPr>
              <a:t>Kiểm tra sỉ số và lịch trùng - Chặn chu trình môn tiên quyết - Đồng bộ thanh toán học phí - Ghi audit khi sửa điểm</a:t>
            </a:r>
          </a:p>
        </p:txBody>
      </p:sp>
      <p:sp>
        <p:nvSpPr>
          <p:cNvPr name="Freeform 30" id="30"/>
          <p:cNvSpPr/>
          <p:nvPr/>
        </p:nvSpPr>
        <p:spPr>
          <a:xfrm flipH="false" flipV="false" rot="0">
            <a:off x="16544925" y="8353425"/>
            <a:ext cx="876300" cy="1076325"/>
          </a:xfrm>
          <a:custGeom>
            <a:avLst/>
            <a:gdLst/>
            <a:ahLst/>
            <a:cxnLst/>
            <a:rect r="r" b="b" t="t" l="l"/>
            <a:pathLst>
              <a:path h="1076325" w="876300">
                <a:moveTo>
                  <a:pt x="0" y="0"/>
                </a:moveTo>
                <a:lnTo>
                  <a:pt x="876300" y="0"/>
                </a:lnTo>
                <a:lnTo>
                  <a:pt x="876300" y="1076325"/>
                </a:lnTo>
                <a:lnTo>
                  <a:pt x="0" y="1076325"/>
                </a:lnTo>
                <a:lnTo>
                  <a:pt x="0" y="0"/>
                </a:lnTo>
                <a:close/>
              </a:path>
            </a:pathLst>
          </a:custGeom>
          <a:blipFill>
            <a:blip r:embed="rId2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TextBox 3" id="3"/>
          <p:cNvSpPr txBox="true"/>
          <p:nvPr/>
        </p:nvSpPr>
        <p:spPr>
          <a:xfrm rot="0">
            <a:off x="942975" y="181928"/>
            <a:ext cx="16306800" cy="755015"/>
          </a:xfrm>
          <a:prstGeom prst="rect">
            <a:avLst/>
          </a:prstGeom>
        </p:spPr>
        <p:txBody>
          <a:bodyPr anchor="t" rtlCol="false" tIns="0" lIns="0" bIns="0" rIns="0">
            <a:spAutoFit/>
          </a:bodyPr>
          <a:lstStyle/>
          <a:p>
            <a:pPr algn="l">
              <a:lnSpc>
                <a:spcPts val="6160"/>
              </a:lnSpc>
            </a:pPr>
            <a:r>
              <a:rPr lang="en-US" sz="4400" b="true">
                <a:solidFill>
                  <a:srgbClr val="173A78"/>
                </a:solidFill>
                <a:latin typeface="Canva Sans Bold"/>
                <a:ea typeface="Canva Sans Bold"/>
                <a:cs typeface="Canva Sans Bold"/>
                <a:sym typeface="Canva Sans Bold"/>
              </a:rPr>
              <a:t>4. VIEW PHỤC VỤ TRA CỨU VÀ BÁO CÁO</a:t>
            </a:r>
          </a:p>
        </p:txBody>
      </p:sp>
      <p:sp>
        <p:nvSpPr>
          <p:cNvPr name="TextBox 4" id="4"/>
          <p:cNvSpPr txBox="true"/>
          <p:nvPr/>
        </p:nvSpPr>
        <p:spPr>
          <a:xfrm rot="0">
            <a:off x="990600" y="1057275"/>
            <a:ext cx="16306800" cy="511811"/>
          </a:xfrm>
          <a:prstGeom prst="rect">
            <a:avLst/>
          </a:prstGeom>
        </p:spPr>
        <p:txBody>
          <a:bodyPr anchor="t" rtlCol="false" tIns="0" lIns="0" bIns="0" rIns="0">
            <a:spAutoFit/>
          </a:bodyPr>
          <a:lstStyle/>
          <a:p>
            <a:pPr algn="l">
              <a:lnSpc>
                <a:spcPts val="4339"/>
              </a:lnSpc>
            </a:pPr>
            <a:r>
              <a:rPr lang="en-US" sz="3099">
                <a:solidFill>
                  <a:srgbClr val="526579"/>
                </a:solidFill>
                <a:latin typeface="Canva Sans"/>
                <a:ea typeface="Canva Sans"/>
                <a:cs typeface="Canva Sans"/>
                <a:sym typeface="Canva Sans"/>
              </a:rPr>
              <a:t>View gồm các phép JOIN thành nguồn dữ liệu dễ dùng cho ứng dụng.</a:t>
            </a:r>
          </a:p>
        </p:txBody>
      </p:sp>
      <p:grpSp>
        <p:nvGrpSpPr>
          <p:cNvPr name="Group 5" id="5"/>
          <p:cNvGrpSpPr/>
          <p:nvPr/>
        </p:nvGrpSpPr>
        <p:grpSpPr>
          <a:xfrm rot="0">
            <a:off x="990600" y="1600200"/>
            <a:ext cx="16306800" cy="19050"/>
            <a:chOff x="0" y="0"/>
            <a:chExt cx="21742400" cy="25400"/>
          </a:xfrm>
        </p:grpSpPr>
        <p:sp>
          <p:nvSpPr>
            <p:cNvPr name="Freeform 6" id="6"/>
            <p:cNvSpPr/>
            <p:nvPr/>
          </p:nvSpPr>
          <p:spPr>
            <a:xfrm flipH="false" flipV="false" rot="0">
              <a:off x="0" y="0"/>
              <a:ext cx="21742400" cy="25400"/>
            </a:xfrm>
            <a:custGeom>
              <a:avLst/>
              <a:gdLst/>
              <a:ahLst/>
              <a:cxnLst/>
              <a:rect r="r" b="b" t="t" l="l"/>
              <a:pathLst>
                <a:path h="25400" w="21742400">
                  <a:moveTo>
                    <a:pt x="0" y="0"/>
                  </a:moveTo>
                  <a:lnTo>
                    <a:pt x="21742400" y="0"/>
                  </a:lnTo>
                  <a:lnTo>
                    <a:pt x="21742400" y="25400"/>
                  </a:lnTo>
                  <a:lnTo>
                    <a:pt x="0" y="25400"/>
                  </a:lnTo>
                  <a:close/>
                </a:path>
              </a:pathLst>
            </a:custGeom>
            <a:solidFill>
              <a:srgbClr val="2B8BC5">
                <a:alpha val="64706"/>
              </a:srgbClr>
            </a:solidFill>
          </p:spPr>
        </p:sp>
        <p:sp>
          <p:nvSpPr>
            <p:cNvPr name="TextBox 7" id="7"/>
            <p:cNvSpPr txBox="true"/>
            <p:nvPr/>
          </p:nvSpPr>
          <p:spPr>
            <a:xfrm>
              <a:off x="0" y="-66675"/>
              <a:ext cx="21742400" cy="92075"/>
            </a:xfrm>
            <a:prstGeom prst="rect">
              <a:avLst/>
            </a:prstGeom>
          </p:spPr>
          <p:txBody>
            <a:bodyPr anchor="ctr" rtlCol="false" tIns="50800" lIns="50800" bIns="50800" rIns="50800"/>
            <a:lstStyle/>
            <a:p>
              <a:pPr algn="l">
                <a:lnSpc>
                  <a:spcPts val="4199"/>
                </a:lnSpc>
              </a:pPr>
            </a:p>
          </p:txBody>
        </p:sp>
      </p:grpSp>
      <p:grpSp>
        <p:nvGrpSpPr>
          <p:cNvPr name="Group 8" id="8"/>
          <p:cNvGrpSpPr/>
          <p:nvPr/>
        </p:nvGrpSpPr>
        <p:grpSpPr>
          <a:xfrm rot="0">
            <a:off x="990600" y="1828800"/>
            <a:ext cx="16306800" cy="990600"/>
            <a:chOff x="0" y="0"/>
            <a:chExt cx="21742400" cy="1320800"/>
          </a:xfrm>
        </p:grpSpPr>
        <p:sp>
          <p:nvSpPr>
            <p:cNvPr name="Freeform 9" id="9"/>
            <p:cNvSpPr/>
            <p:nvPr/>
          </p:nvSpPr>
          <p:spPr>
            <a:xfrm flipH="false" flipV="false" rot="0">
              <a:off x="0" y="0"/>
              <a:ext cx="21742400" cy="1320800"/>
            </a:xfrm>
            <a:custGeom>
              <a:avLst/>
              <a:gdLst/>
              <a:ahLst/>
              <a:cxnLst/>
              <a:rect r="r" b="b" t="t" l="l"/>
              <a:pathLst>
                <a:path h="1320800" w="21742400">
                  <a:moveTo>
                    <a:pt x="177800" y="0"/>
                  </a:moveTo>
                  <a:lnTo>
                    <a:pt x="21564600" y="0"/>
                  </a:lnTo>
                  <a:cubicBezTo>
                    <a:pt x="21662796" y="0"/>
                    <a:pt x="21742400" y="79604"/>
                    <a:pt x="21742400" y="177800"/>
                  </a:cubicBezTo>
                  <a:lnTo>
                    <a:pt x="21742400" y="1143000"/>
                  </a:lnTo>
                  <a:cubicBezTo>
                    <a:pt x="21742400" y="1241196"/>
                    <a:pt x="21662796" y="1320800"/>
                    <a:pt x="215646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FFFFF"/>
            </a:solidFill>
            <a:ln w="14288" cap="sq">
              <a:solidFill>
                <a:srgbClr val="D8E7F5"/>
              </a:solidFill>
              <a:prstDash val="solid"/>
              <a:miter/>
            </a:ln>
          </p:spPr>
        </p:sp>
        <p:sp>
          <p:nvSpPr>
            <p:cNvPr name="TextBox 10" id="10"/>
            <p:cNvSpPr txBox="true"/>
            <p:nvPr/>
          </p:nvSpPr>
          <p:spPr>
            <a:xfrm>
              <a:off x="0" y="-66675"/>
              <a:ext cx="21742400" cy="1387475"/>
            </a:xfrm>
            <a:prstGeom prst="rect">
              <a:avLst/>
            </a:prstGeom>
          </p:spPr>
          <p:txBody>
            <a:bodyPr anchor="ctr" rtlCol="false" tIns="50800" lIns="50800" bIns="50800" rIns="50800"/>
            <a:lstStyle/>
            <a:p>
              <a:pPr algn="l">
                <a:lnSpc>
                  <a:spcPts val="4199"/>
                </a:lnSpc>
              </a:pPr>
            </a:p>
          </p:txBody>
        </p:sp>
      </p:grpSp>
      <p:grpSp>
        <p:nvGrpSpPr>
          <p:cNvPr name="Group 11" id="11"/>
          <p:cNvGrpSpPr/>
          <p:nvPr/>
        </p:nvGrpSpPr>
        <p:grpSpPr>
          <a:xfrm rot="0">
            <a:off x="1219200" y="2066925"/>
            <a:ext cx="95250" cy="514350"/>
            <a:chOff x="0" y="0"/>
            <a:chExt cx="127000" cy="685800"/>
          </a:xfrm>
        </p:grpSpPr>
        <p:sp>
          <p:nvSpPr>
            <p:cNvPr name="Freeform 12" id="12"/>
            <p:cNvSpPr/>
            <p:nvPr/>
          </p:nvSpPr>
          <p:spPr>
            <a:xfrm flipH="false" flipV="false" rot="0">
              <a:off x="0" y="0"/>
              <a:ext cx="127000" cy="685800"/>
            </a:xfrm>
            <a:custGeom>
              <a:avLst/>
              <a:gdLst/>
              <a:ahLst/>
              <a:cxnLst/>
              <a:rect r="r" b="b" t="t" l="l"/>
              <a:pathLst>
                <a:path h="685800" w="127000">
                  <a:moveTo>
                    <a:pt x="63500" y="0"/>
                  </a:moveTo>
                  <a:lnTo>
                    <a:pt x="63500" y="0"/>
                  </a:lnTo>
                  <a:cubicBezTo>
                    <a:pt x="98570" y="0"/>
                    <a:pt x="127000" y="28430"/>
                    <a:pt x="127000" y="63500"/>
                  </a:cubicBezTo>
                  <a:lnTo>
                    <a:pt x="127000" y="622300"/>
                  </a:lnTo>
                  <a:cubicBezTo>
                    <a:pt x="127000" y="657370"/>
                    <a:pt x="98570" y="685800"/>
                    <a:pt x="63500" y="685800"/>
                  </a:cubicBezTo>
                  <a:lnTo>
                    <a:pt x="63500" y="685800"/>
                  </a:lnTo>
                  <a:cubicBezTo>
                    <a:pt x="28430" y="685800"/>
                    <a:pt x="0" y="657370"/>
                    <a:pt x="0" y="622300"/>
                  </a:cubicBezTo>
                  <a:lnTo>
                    <a:pt x="0" y="63500"/>
                  </a:lnTo>
                  <a:cubicBezTo>
                    <a:pt x="0" y="28430"/>
                    <a:pt x="28430" y="0"/>
                    <a:pt x="63500" y="0"/>
                  </a:cubicBezTo>
                  <a:close/>
                </a:path>
              </a:pathLst>
            </a:custGeom>
            <a:solidFill>
              <a:srgbClr val="18549E"/>
            </a:solidFill>
          </p:spPr>
        </p:sp>
        <p:sp>
          <p:nvSpPr>
            <p:cNvPr name="TextBox 13" id="13"/>
            <p:cNvSpPr txBox="true"/>
            <p:nvPr/>
          </p:nvSpPr>
          <p:spPr>
            <a:xfrm>
              <a:off x="0" y="-66675"/>
              <a:ext cx="127000" cy="752475"/>
            </a:xfrm>
            <a:prstGeom prst="rect">
              <a:avLst/>
            </a:prstGeom>
          </p:spPr>
          <p:txBody>
            <a:bodyPr anchor="ctr" rtlCol="false" tIns="50800" lIns="50800" bIns="50800" rIns="50800"/>
            <a:lstStyle/>
            <a:p>
              <a:pPr algn="l">
                <a:lnSpc>
                  <a:spcPts val="4199"/>
                </a:lnSpc>
              </a:pPr>
            </a:p>
          </p:txBody>
        </p:sp>
      </p:grpSp>
      <p:sp>
        <p:nvSpPr>
          <p:cNvPr name="TextBox 14" id="14"/>
          <p:cNvSpPr txBox="true"/>
          <p:nvPr/>
        </p:nvSpPr>
        <p:spPr>
          <a:xfrm rot="0">
            <a:off x="1543050" y="1996439"/>
            <a:ext cx="7810500" cy="588646"/>
          </a:xfrm>
          <a:prstGeom prst="rect">
            <a:avLst/>
          </a:prstGeom>
        </p:spPr>
        <p:txBody>
          <a:bodyPr anchor="t" rtlCol="false" tIns="0" lIns="0" bIns="0" rIns="0">
            <a:spAutoFit/>
          </a:bodyPr>
          <a:lstStyle/>
          <a:p>
            <a:pPr algn="l">
              <a:lnSpc>
                <a:spcPts val="4829"/>
              </a:lnSpc>
            </a:pPr>
            <a:r>
              <a:rPr lang="en-US" sz="3449" b="true">
                <a:solidFill>
                  <a:srgbClr val="12304A"/>
                </a:solidFill>
                <a:latin typeface="Canva Sans Bold"/>
                <a:ea typeface="Canva Sans Bold"/>
                <a:cs typeface="Canva Sans Bold"/>
                <a:sym typeface="Canva Sans Bold"/>
              </a:rPr>
              <a:t>V_CauTrucChuongTrinhDaoTao</a:t>
            </a:r>
          </a:p>
        </p:txBody>
      </p:sp>
      <p:sp>
        <p:nvSpPr>
          <p:cNvPr name="TextBox 15" id="15"/>
          <p:cNvSpPr txBox="true"/>
          <p:nvPr/>
        </p:nvSpPr>
        <p:spPr>
          <a:xfrm rot="0">
            <a:off x="9772650" y="2092960"/>
            <a:ext cx="6924675" cy="507365"/>
          </a:xfrm>
          <a:prstGeom prst="rect">
            <a:avLst/>
          </a:prstGeom>
        </p:spPr>
        <p:txBody>
          <a:bodyPr anchor="t" rtlCol="false" tIns="0" lIns="0" bIns="0" rIns="0">
            <a:spAutoFit/>
          </a:bodyPr>
          <a:lstStyle/>
          <a:p>
            <a:pPr algn="l">
              <a:lnSpc>
                <a:spcPts val="3909"/>
              </a:lnSpc>
            </a:pPr>
            <a:r>
              <a:rPr lang="en-US" sz="3399">
                <a:solidFill>
                  <a:srgbClr val="526579"/>
                </a:solidFill>
                <a:latin typeface="Canva Sans"/>
                <a:ea typeface="Canva Sans"/>
                <a:cs typeface="Canva Sans"/>
                <a:sym typeface="Canva Sans"/>
              </a:rPr>
              <a:t>—  khung chương trình</a:t>
            </a:r>
          </a:p>
        </p:txBody>
      </p:sp>
      <p:grpSp>
        <p:nvGrpSpPr>
          <p:cNvPr name="Group 16" id="16"/>
          <p:cNvGrpSpPr/>
          <p:nvPr/>
        </p:nvGrpSpPr>
        <p:grpSpPr>
          <a:xfrm rot="0">
            <a:off x="990600" y="2952750"/>
            <a:ext cx="16306800" cy="990600"/>
            <a:chOff x="0" y="0"/>
            <a:chExt cx="21742400" cy="1320800"/>
          </a:xfrm>
        </p:grpSpPr>
        <p:sp>
          <p:nvSpPr>
            <p:cNvPr name="Freeform 17" id="17"/>
            <p:cNvSpPr/>
            <p:nvPr/>
          </p:nvSpPr>
          <p:spPr>
            <a:xfrm flipH="false" flipV="false" rot="0">
              <a:off x="0" y="0"/>
              <a:ext cx="21742400" cy="1320800"/>
            </a:xfrm>
            <a:custGeom>
              <a:avLst/>
              <a:gdLst/>
              <a:ahLst/>
              <a:cxnLst/>
              <a:rect r="r" b="b" t="t" l="l"/>
              <a:pathLst>
                <a:path h="1320800" w="21742400">
                  <a:moveTo>
                    <a:pt x="177800" y="0"/>
                  </a:moveTo>
                  <a:lnTo>
                    <a:pt x="21564600" y="0"/>
                  </a:lnTo>
                  <a:cubicBezTo>
                    <a:pt x="21662796" y="0"/>
                    <a:pt x="21742400" y="79604"/>
                    <a:pt x="21742400" y="177800"/>
                  </a:cubicBezTo>
                  <a:lnTo>
                    <a:pt x="21742400" y="1143000"/>
                  </a:lnTo>
                  <a:cubicBezTo>
                    <a:pt x="21742400" y="1241196"/>
                    <a:pt x="21662796" y="1320800"/>
                    <a:pt x="215646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3F8FD"/>
            </a:solidFill>
            <a:ln w="14288" cap="sq">
              <a:solidFill>
                <a:srgbClr val="D8E7F5"/>
              </a:solidFill>
              <a:prstDash val="solid"/>
              <a:miter/>
            </a:ln>
          </p:spPr>
        </p:sp>
        <p:sp>
          <p:nvSpPr>
            <p:cNvPr name="TextBox 18" id="18"/>
            <p:cNvSpPr txBox="true"/>
            <p:nvPr/>
          </p:nvSpPr>
          <p:spPr>
            <a:xfrm>
              <a:off x="0" y="-66675"/>
              <a:ext cx="21742400" cy="1387475"/>
            </a:xfrm>
            <a:prstGeom prst="rect">
              <a:avLst/>
            </a:prstGeom>
          </p:spPr>
          <p:txBody>
            <a:bodyPr anchor="ctr" rtlCol="false" tIns="50800" lIns="50800" bIns="50800" rIns="50800"/>
            <a:lstStyle/>
            <a:p>
              <a:pPr algn="l">
                <a:lnSpc>
                  <a:spcPts val="4199"/>
                </a:lnSpc>
              </a:pPr>
            </a:p>
          </p:txBody>
        </p:sp>
      </p:grpSp>
      <p:grpSp>
        <p:nvGrpSpPr>
          <p:cNvPr name="Group 19" id="19"/>
          <p:cNvGrpSpPr/>
          <p:nvPr/>
        </p:nvGrpSpPr>
        <p:grpSpPr>
          <a:xfrm rot="0">
            <a:off x="1219200" y="3190875"/>
            <a:ext cx="95250" cy="514350"/>
            <a:chOff x="0" y="0"/>
            <a:chExt cx="127000" cy="685800"/>
          </a:xfrm>
        </p:grpSpPr>
        <p:sp>
          <p:nvSpPr>
            <p:cNvPr name="Freeform 20" id="20"/>
            <p:cNvSpPr/>
            <p:nvPr/>
          </p:nvSpPr>
          <p:spPr>
            <a:xfrm flipH="false" flipV="false" rot="0">
              <a:off x="0" y="0"/>
              <a:ext cx="127000" cy="685800"/>
            </a:xfrm>
            <a:custGeom>
              <a:avLst/>
              <a:gdLst/>
              <a:ahLst/>
              <a:cxnLst/>
              <a:rect r="r" b="b" t="t" l="l"/>
              <a:pathLst>
                <a:path h="685800" w="127000">
                  <a:moveTo>
                    <a:pt x="63500" y="0"/>
                  </a:moveTo>
                  <a:lnTo>
                    <a:pt x="63500" y="0"/>
                  </a:lnTo>
                  <a:cubicBezTo>
                    <a:pt x="98570" y="0"/>
                    <a:pt x="127000" y="28430"/>
                    <a:pt x="127000" y="63500"/>
                  </a:cubicBezTo>
                  <a:lnTo>
                    <a:pt x="127000" y="622300"/>
                  </a:lnTo>
                  <a:cubicBezTo>
                    <a:pt x="127000" y="657370"/>
                    <a:pt x="98570" y="685800"/>
                    <a:pt x="63500" y="685800"/>
                  </a:cubicBezTo>
                  <a:lnTo>
                    <a:pt x="63500" y="685800"/>
                  </a:lnTo>
                  <a:cubicBezTo>
                    <a:pt x="28430" y="685800"/>
                    <a:pt x="0" y="657370"/>
                    <a:pt x="0" y="622300"/>
                  </a:cubicBezTo>
                  <a:lnTo>
                    <a:pt x="0" y="63500"/>
                  </a:lnTo>
                  <a:cubicBezTo>
                    <a:pt x="0" y="28430"/>
                    <a:pt x="28430" y="0"/>
                    <a:pt x="63500" y="0"/>
                  </a:cubicBezTo>
                  <a:close/>
                </a:path>
              </a:pathLst>
            </a:custGeom>
            <a:solidFill>
              <a:srgbClr val="2B8BC5"/>
            </a:solidFill>
          </p:spPr>
        </p:sp>
        <p:sp>
          <p:nvSpPr>
            <p:cNvPr name="TextBox 21" id="21"/>
            <p:cNvSpPr txBox="true"/>
            <p:nvPr/>
          </p:nvSpPr>
          <p:spPr>
            <a:xfrm>
              <a:off x="0" y="-66675"/>
              <a:ext cx="127000" cy="752475"/>
            </a:xfrm>
            <a:prstGeom prst="rect">
              <a:avLst/>
            </a:prstGeom>
          </p:spPr>
          <p:txBody>
            <a:bodyPr anchor="ctr" rtlCol="false" tIns="50800" lIns="50800" bIns="50800" rIns="50800"/>
            <a:lstStyle/>
            <a:p>
              <a:pPr algn="l">
                <a:lnSpc>
                  <a:spcPts val="4199"/>
                </a:lnSpc>
              </a:pPr>
            </a:p>
          </p:txBody>
        </p:sp>
      </p:grpSp>
      <p:sp>
        <p:nvSpPr>
          <p:cNvPr name="TextBox 22" id="22"/>
          <p:cNvSpPr txBox="true"/>
          <p:nvPr/>
        </p:nvSpPr>
        <p:spPr>
          <a:xfrm rot="0">
            <a:off x="1543050" y="3120389"/>
            <a:ext cx="7810500" cy="588646"/>
          </a:xfrm>
          <a:prstGeom prst="rect">
            <a:avLst/>
          </a:prstGeom>
        </p:spPr>
        <p:txBody>
          <a:bodyPr anchor="t" rtlCol="false" tIns="0" lIns="0" bIns="0" rIns="0">
            <a:spAutoFit/>
          </a:bodyPr>
          <a:lstStyle/>
          <a:p>
            <a:pPr algn="l">
              <a:lnSpc>
                <a:spcPts val="4829"/>
              </a:lnSpc>
            </a:pPr>
            <a:r>
              <a:rPr lang="en-US" sz="3449" b="true">
                <a:solidFill>
                  <a:srgbClr val="12304A"/>
                </a:solidFill>
                <a:latin typeface="Canva Sans Bold"/>
                <a:ea typeface="Canva Sans Bold"/>
                <a:cs typeface="Canva Sans Bold"/>
                <a:sym typeface="Canva Sans Bold"/>
              </a:rPr>
              <a:t>V_TaiKhoanNguoiDung</a:t>
            </a:r>
          </a:p>
        </p:txBody>
      </p:sp>
      <p:sp>
        <p:nvSpPr>
          <p:cNvPr name="TextBox 23" id="23"/>
          <p:cNvSpPr txBox="true"/>
          <p:nvPr/>
        </p:nvSpPr>
        <p:spPr>
          <a:xfrm rot="0">
            <a:off x="9772650" y="2990215"/>
            <a:ext cx="7486650" cy="934720"/>
          </a:xfrm>
          <a:prstGeom prst="rect">
            <a:avLst/>
          </a:prstGeom>
        </p:spPr>
        <p:txBody>
          <a:bodyPr anchor="t" rtlCol="false" tIns="0" lIns="0" bIns="0" rIns="0">
            <a:spAutoFit/>
          </a:bodyPr>
          <a:lstStyle/>
          <a:p>
            <a:pPr algn="l">
              <a:lnSpc>
                <a:spcPts val="3679"/>
              </a:lnSpc>
            </a:pPr>
            <a:r>
              <a:rPr lang="en-US" sz="3199">
                <a:solidFill>
                  <a:srgbClr val="526579"/>
                </a:solidFill>
                <a:latin typeface="Canva Sans"/>
                <a:ea typeface="Canva Sans"/>
                <a:cs typeface="Canva Sans"/>
                <a:sym typeface="Canva Sans"/>
              </a:rPr>
              <a:t>—  tài khoản và hồ sơ, không hiển thị mật khẩu</a:t>
            </a:r>
          </a:p>
        </p:txBody>
      </p:sp>
      <p:grpSp>
        <p:nvGrpSpPr>
          <p:cNvPr name="Group 24" id="24"/>
          <p:cNvGrpSpPr/>
          <p:nvPr/>
        </p:nvGrpSpPr>
        <p:grpSpPr>
          <a:xfrm rot="0">
            <a:off x="990600" y="4076700"/>
            <a:ext cx="16306800" cy="990600"/>
            <a:chOff x="0" y="0"/>
            <a:chExt cx="21742400" cy="1320800"/>
          </a:xfrm>
        </p:grpSpPr>
        <p:sp>
          <p:nvSpPr>
            <p:cNvPr name="Freeform 25" id="25"/>
            <p:cNvSpPr/>
            <p:nvPr/>
          </p:nvSpPr>
          <p:spPr>
            <a:xfrm flipH="false" flipV="false" rot="0">
              <a:off x="0" y="0"/>
              <a:ext cx="21742400" cy="1320800"/>
            </a:xfrm>
            <a:custGeom>
              <a:avLst/>
              <a:gdLst/>
              <a:ahLst/>
              <a:cxnLst/>
              <a:rect r="r" b="b" t="t" l="l"/>
              <a:pathLst>
                <a:path h="1320800" w="21742400">
                  <a:moveTo>
                    <a:pt x="177800" y="0"/>
                  </a:moveTo>
                  <a:lnTo>
                    <a:pt x="21564600" y="0"/>
                  </a:lnTo>
                  <a:cubicBezTo>
                    <a:pt x="21662796" y="0"/>
                    <a:pt x="21742400" y="79604"/>
                    <a:pt x="21742400" y="177800"/>
                  </a:cubicBezTo>
                  <a:lnTo>
                    <a:pt x="21742400" y="1143000"/>
                  </a:lnTo>
                  <a:cubicBezTo>
                    <a:pt x="21742400" y="1241196"/>
                    <a:pt x="21662796" y="1320800"/>
                    <a:pt x="215646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5F3FF"/>
            </a:solidFill>
            <a:ln w="14288" cap="sq">
              <a:solidFill>
                <a:srgbClr val="D8E7F5"/>
              </a:solidFill>
              <a:prstDash val="solid"/>
              <a:miter/>
            </a:ln>
          </p:spPr>
        </p:sp>
        <p:sp>
          <p:nvSpPr>
            <p:cNvPr name="TextBox 26" id="26"/>
            <p:cNvSpPr txBox="true"/>
            <p:nvPr/>
          </p:nvSpPr>
          <p:spPr>
            <a:xfrm>
              <a:off x="0" y="-66675"/>
              <a:ext cx="21742400" cy="1387475"/>
            </a:xfrm>
            <a:prstGeom prst="rect">
              <a:avLst/>
            </a:prstGeom>
          </p:spPr>
          <p:txBody>
            <a:bodyPr anchor="ctr" rtlCol="false" tIns="50800" lIns="50800" bIns="50800" rIns="50800"/>
            <a:lstStyle/>
            <a:p>
              <a:pPr algn="l">
                <a:lnSpc>
                  <a:spcPts val="4199"/>
                </a:lnSpc>
              </a:pPr>
            </a:p>
          </p:txBody>
        </p:sp>
      </p:grpSp>
      <p:grpSp>
        <p:nvGrpSpPr>
          <p:cNvPr name="Group 27" id="27"/>
          <p:cNvGrpSpPr/>
          <p:nvPr/>
        </p:nvGrpSpPr>
        <p:grpSpPr>
          <a:xfrm rot="0">
            <a:off x="1219200" y="4314825"/>
            <a:ext cx="95250" cy="514350"/>
            <a:chOff x="0" y="0"/>
            <a:chExt cx="127000" cy="685800"/>
          </a:xfrm>
        </p:grpSpPr>
        <p:sp>
          <p:nvSpPr>
            <p:cNvPr name="Freeform 28" id="28"/>
            <p:cNvSpPr/>
            <p:nvPr/>
          </p:nvSpPr>
          <p:spPr>
            <a:xfrm flipH="false" flipV="false" rot="0">
              <a:off x="0" y="0"/>
              <a:ext cx="127000" cy="685800"/>
            </a:xfrm>
            <a:custGeom>
              <a:avLst/>
              <a:gdLst/>
              <a:ahLst/>
              <a:cxnLst/>
              <a:rect r="r" b="b" t="t" l="l"/>
              <a:pathLst>
                <a:path h="685800" w="127000">
                  <a:moveTo>
                    <a:pt x="63500" y="0"/>
                  </a:moveTo>
                  <a:lnTo>
                    <a:pt x="63500" y="0"/>
                  </a:lnTo>
                  <a:cubicBezTo>
                    <a:pt x="98570" y="0"/>
                    <a:pt x="127000" y="28430"/>
                    <a:pt x="127000" y="63500"/>
                  </a:cubicBezTo>
                  <a:lnTo>
                    <a:pt x="127000" y="622300"/>
                  </a:lnTo>
                  <a:cubicBezTo>
                    <a:pt x="127000" y="657370"/>
                    <a:pt x="98570" y="685800"/>
                    <a:pt x="63500" y="685800"/>
                  </a:cubicBezTo>
                  <a:lnTo>
                    <a:pt x="63500" y="685800"/>
                  </a:lnTo>
                  <a:cubicBezTo>
                    <a:pt x="28430" y="685800"/>
                    <a:pt x="0" y="657370"/>
                    <a:pt x="0" y="622300"/>
                  </a:cubicBezTo>
                  <a:lnTo>
                    <a:pt x="0" y="63500"/>
                  </a:lnTo>
                  <a:cubicBezTo>
                    <a:pt x="0" y="28430"/>
                    <a:pt x="28430" y="0"/>
                    <a:pt x="63500" y="0"/>
                  </a:cubicBezTo>
                  <a:close/>
                </a:path>
              </a:pathLst>
            </a:custGeom>
            <a:solidFill>
              <a:srgbClr val="6F64B5"/>
            </a:solidFill>
          </p:spPr>
        </p:sp>
        <p:sp>
          <p:nvSpPr>
            <p:cNvPr name="TextBox 29" id="29"/>
            <p:cNvSpPr txBox="true"/>
            <p:nvPr/>
          </p:nvSpPr>
          <p:spPr>
            <a:xfrm>
              <a:off x="0" y="-66675"/>
              <a:ext cx="127000" cy="752475"/>
            </a:xfrm>
            <a:prstGeom prst="rect">
              <a:avLst/>
            </a:prstGeom>
          </p:spPr>
          <p:txBody>
            <a:bodyPr anchor="ctr" rtlCol="false" tIns="50800" lIns="50800" bIns="50800" rIns="50800"/>
            <a:lstStyle/>
            <a:p>
              <a:pPr algn="l">
                <a:lnSpc>
                  <a:spcPts val="4199"/>
                </a:lnSpc>
              </a:pPr>
            </a:p>
          </p:txBody>
        </p:sp>
      </p:grpSp>
      <p:sp>
        <p:nvSpPr>
          <p:cNvPr name="TextBox 30" id="30"/>
          <p:cNvSpPr txBox="true"/>
          <p:nvPr/>
        </p:nvSpPr>
        <p:spPr>
          <a:xfrm rot="0">
            <a:off x="1543050" y="4240529"/>
            <a:ext cx="7810500" cy="588646"/>
          </a:xfrm>
          <a:prstGeom prst="rect">
            <a:avLst/>
          </a:prstGeom>
        </p:spPr>
        <p:txBody>
          <a:bodyPr anchor="t" rtlCol="false" tIns="0" lIns="0" bIns="0" rIns="0">
            <a:spAutoFit/>
          </a:bodyPr>
          <a:lstStyle/>
          <a:p>
            <a:pPr algn="l">
              <a:lnSpc>
                <a:spcPts val="4829"/>
              </a:lnSpc>
            </a:pPr>
            <a:r>
              <a:rPr lang="en-US" sz="3449" b="true">
                <a:solidFill>
                  <a:srgbClr val="12304A"/>
                </a:solidFill>
                <a:latin typeface="Canva Sans Bold"/>
                <a:ea typeface="Canva Sans Bold"/>
                <a:cs typeface="Canva Sans Bold"/>
                <a:sym typeface="Canva Sans Bold"/>
              </a:rPr>
              <a:t>V_ThoiKhoaBieuSinhVien</a:t>
            </a:r>
          </a:p>
        </p:txBody>
      </p:sp>
      <p:sp>
        <p:nvSpPr>
          <p:cNvPr name="TextBox 31" id="31"/>
          <p:cNvSpPr txBox="true"/>
          <p:nvPr/>
        </p:nvSpPr>
        <p:spPr>
          <a:xfrm rot="0">
            <a:off x="9772650" y="4319270"/>
            <a:ext cx="6924675" cy="507365"/>
          </a:xfrm>
          <a:prstGeom prst="rect">
            <a:avLst/>
          </a:prstGeom>
        </p:spPr>
        <p:txBody>
          <a:bodyPr anchor="t" rtlCol="false" tIns="0" lIns="0" bIns="0" rIns="0">
            <a:spAutoFit/>
          </a:bodyPr>
          <a:lstStyle/>
          <a:p>
            <a:pPr algn="l">
              <a:lnSpc>
                <a:spcPts val="3909"/>
              </a:lnSpc>
            </a:pPr>
            <a:r>
              <a:rPr lang="en-US" sz="3399">
                <a:solidFill>
                  <a:srgbClr val="526579"/>
                </a:solidFill>
                <a:latin typeface="Canva Sans"/>
                <a:ea typeface="Canva Sans"/>
                <a:cs typeface="Canva Sans"/>
                <a:sym typeface="Canva Sans"/>
              </a:rPr>
              <a:t>—  lịch học cá nhân</a:t>
            </a:r>
          </a:p>
        </p:txBody>
      </p:sp>
      <p:grpSp>
        <p:nvGrpSpPr>
          <p:cNvPr name="Group 32" id="32"/>
          <p:cNvGrpSpPr/>
          <p:nvPr/>
        </p:nvGrpSpPr>
        <p:grpSpPr>
          <a:xfrm rot="0">
            <a:off x="990600" y="5200650"/>
            <a:ext cx="16306800" cy="990600"/>
            <a:chOff x="0" y="0"/>
            <a:chExt cx="21742400" cy="1320800"/>
          </a:xfrm>
        </p:grpSpPr>
        <p:sp>
          <p:nvSpPr>
            <p:cNvPr name="Freeform 33" id="33"/>
            <p:cNvSpPr/>
            <p:nvPr/>
          </p:nvSpPr>
          <p:spPr>
            <a:xfrm flipH="false" flipV="false" rot="0">
              <a:off x="0" y="0"/>
              <a:ext cx="21742400" cy="1320800"/>
            </a:xfrm>
            <a:custGeom>
              <a:avLst/>
              <a:gdLst/>
              <a:ahLst/>
              <a:cxnLst/>
              <a:rect r="r" b="b" t="t" l="l"/>
              <a:pathLst>
                <a:path h="1320800" w="21742400">
                  <a:moveTo>
                    <a:pt x="177800" y="0"/>
                  </a:moveTo>
                  <a:lnTo>
                    <a:pt x="21564600" y="0"/>
                  </a:lnTo>
                  <a:cubicBezTo>
                    <a:pt x="21662796" y="0"/>
                    <a:pt x="21742400" y="79604"/>
                    <a:pt x="21742400" y="177800"/>
                  </a:cubicBezTo>
                  <a:lnTo>
                    <a:pt x="21742400" y="1143000"/>
                  </a:lnTo>
                  <a:cubicBezTo>
                    <a:pt x="21742400" y="1241196"/>
                    <a:pt x="21662796" y="1320800"/>
                    <a:pt x="215646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3F8FD"/>
            </a:solidFill>
            <a:ln w="14288" cap="sq">
              <a:solidFill>
                <a:srgbClr val="D8E7F5"/>
              </a:solidFill>
              <a:prstDash val="solid"/>
              <a:miter/>
            </a:ln>
          </p:spPr>
        </p:sp>
        <p:sp>
          <p:nvSpPr>
            <p:cNvPr name="TextBox 34" id="34"/>
            <p:cNvSpPr txBox="true"/>
            <p:nvPr/>
          </p:nvSpPr>
          <p:spPr>
            <a:xfrm>
              <a:off x="0" y="-66675"/>
              <a:ext cx="21742400" cy="1387475"/>
            </a:xfrm>
            <a:prstGeom prst="rect">
              <a:avLst/>
            </a:prstGeom>
          </p:spPr>
          <p:txBody>
            <a:bodyPr anchor="ctr" rtlCol="false" tIns="50800" lIns="50800" bIns="50800" rIns="50800"/>
            <a:lstStyle/>
            <a:p>
              <a:pPr algn="l">
                <a:lnSpc>
                  <a:spcPts val="4199"/>
                </a:lnSpc>
              </a:pPr>
            </a:p>
          </p:txBody>
        </p:sp>
      </p:grpSp>
      <p:grpSp>
        <p:nvGrpSpPr>
          <p:cNvPr name="Group 35" id="35"/>
          <p:cNvGrpSpPr/>
          <p:nvPr/>
        </p:nvGrpSpPr>
        <p:grpSpPr>
          <a:xfrm rot="0">
            <a:off x="1219200" y="5438775"/>
            <a:ext cx="95250" cy="514350"/>
            <a:chOff x="0" y="0"/>
            <a:chExt cx="127000" cy="685800"/>
          </a:xfrm>
        </p:grpSpPr>
        <p:sp>
          <p:nvSpPr>
            <p:cNvPr name="Freeform 36" id="36"/>
            <p:cNvSpPr/>
            <p:nvPr/>
          </p:nvSpPr>
          <p:spPr>
            <a:xfrm flipH="false" flipV="false" rot="0">
              <a:off x="0" y="0"/>
              <a:ext cx="127000" cy="685800"/>
            </a:xfrm>
            <a:custGeom>
              <a:avLst/>
              <a:gdLst/>
              <a:ahLst/>
              <a:cxnLst/>
              <a:rect r="r" b="b" t="t" l="l"/>
              <a:pathLst>
                <a:path h="685800" w="127000">
                  <a:moveTo>
                    <a:pt x="63500" y="0"/>
                  </a:moveTo>
                  <a:lnTo>
                    <a:pt x="63500" y="0"/>
                  </a:lnTo>
                  <a:cubicBezTo>
                    <a:pt x="98570" y="0"/>
                    <a:pt x="127000" y="28430"/>
                    <a:pt x="127000" y="63500"/>
                  </a:cubicBezTo>
                  <a:lnTo>
                    <a:pt x="127000" y="622300"/>
                  </a:lnTo>
                  <a:cubicBezTo>
                    <a:pt x="127000" y="657370"/>
                    <a:pt x="98570" y="685800"/>
                    <a:pt x="63500" y="685800"/>
                  </a:cubicBezTo>
                  <a:lnTo>
                    <a:pt x="63500" y="685800"/>
                  </a:lnTo>
                  <a:cubicBezTo>
                    <a:pt x="28430" y="685800"/>
                    <a:pt x="0" y="657370"/>
                    <a:pt x="0" y="622300"/>
                  </a:cubicBezTo>
                  <a:lnTo>
                    <a:pt x="0" y="63500"/>
                  </a:lnTo>
                  <a:cubicBezTo>
                    <a:pt x="0" y="28430"/>
                    <a:pt x="28430" y="0"/>
                    <a:pt x="63500" y="0"/>
                  </a:cubicBezTo>
                  <a:close/>
                </a:path>
              </a:pathLst>
            </a:custGeom>
            <a:solidFill>
              <a:srgbClr val="18549E"/>
            </a:solidFill>
          </p:spPr>
        </p:sp>
        <p:sp>
          <p:nvSpPr>
            <p:cNvPr name="TextBox 37" id="37"/>
            <p:cNvSpPr txBox="true"/>
            <p:nvPr/>
          </p:nvSpPr>
          <p:spPr>
            <a:xfrm>
              <a:off x="0" y="-66675"/>
              <a:ext cx="127000" cy="752475"/>
            </a:xfrm>
            <a:prstGeom prst="rect">
              <a:avLst/>
            </a:prstGeom>
          </p:spPr>
          <p:txBody>
            <a:bodyPr anchor="ctr" rtlCol="false" tIns="50800" lIns="50800" bIns="50800" rIns="50800"/>
            <a:lstStyle/>
            <a:p>
              <a:pPr algn="l">
                <a:lnSpc>
                  <a:spcPts val="4199"/>
                </a:lnSpc>
              </a:pPr>
            </a:p>
          </p:txBody>
        </p:sp>
      </p:grpSp>
      <p:sp>
        <p:nvSpPr>
          <p:cNvPr name="TextBox 38" id="38"/>
          <p:cNvSpPr txBox="true"/>
          <p:nvPr/>
        </p:nvSpPr>
        <p:spPr>
          <a:xfrm rot="0">
            <a:off x="1543050" y="5341618"/>
            <a:ext cx="7810500" cy="671196"/>
          </a:xfrm>
          <a:prstGeom prst="rect">
            <a:avLst/>
          </a:prstGeom>
        </p:spPr>
        <p:txBody>
          <a:bodyPr anchor="t" rtlCol="false" tIns="0" lIns="0" bIns="0" rIns="0">
            <a:spAutoFit/>
          </a:bodyPr>
          <a:lstStyle/>
          <a:p>
            <a:pPr algn="l">
              <a:lnSpc>
                <a:spcPts val="5529"/>
              </a:lnSpc>
            </a:pPr>
            <a:r>
              <a:rPr lang="en-US" sz="3949" b="true">
                <a:solidFill>
                  <a:srgbClr val="12304A"/>
                </a:solidFill>
                <a:latin typeface="Canva Sans Bold"/>
                <a:ea typeface="Canva Sans Bold"/>
                <a:cs typeface="Canva Sans Bold"/>
                <a:sym typeface="Canva Sans Bold"/>
              </a:rPr>
              <a:t>V_BangDiemChiTiet</a:t>
            </a:r>
          </a:p>
        </p:txBody>
      </p:sp>
      <p:sp>
        <p:nvSpPr>
          <p:cNvPr name="TextBox 39" id="39"/>
          <p:cNvSpPr txBox="true"/>
          <p:nvPr/>
        </p:nvSpPr>
        <p:spPr>
          <a:xfrm rot="0">
            <a:off x="9848850" y="5466397"/>
            <a:ext cx="6924675" cy="507365"/>
          </a:xfrm>
          <a:prstGeom prst="rect">
            <a:avLst/>
          </a:prstGeom>
        </p:spPr>
        <p:txBody>
          <a:bodyPr anchor="t" rtlCol="false" tIns="0" lIns="0" bIns="0" rIns="0">
            <a:spAutoFit/>
          </a:bodyPr>
          <a:lstStyle/>
          <a:p>
            <a:pPr algn="l">
              <a:lnSpc>
                <a:spcPts val="3909"/>
              </a:lnSpc>
            </a:pPr>
            <a:r>
              <a:rPr lang="en-US" sz="3399">
                <a:solidFill>
                  <a:srgbClr val="526579"/>
                </a:solidFill>
                <a:latin typeface="Canva Sans"/>
                <a:ea typeface="Canva Sans"/>
                <a:cs typeface="Canva Sans"/>
                <a:sym typeface="Canva Sans"/>
              </a:rPr>
              <a:t>—  điểm thành phần và kết quả</a:t>
            </a:r>
          </a:p>
        </p:txBody>
      </p:sp>
      <p:grpSp>
        <p:nvGrpSpPr>
          <p:cNvPr name="Group 40" id="40"/>
          <p:cNvGrpSpPr/>
          <p:nvPr/>
        </p:nvGrpSpPr>
        <p:grpSpPr>
          <a:xfrm rot="0">
            <a:off x="990600" y="6324600"/>
            <a:ext cx="16306800" cy="990600"/>
            <a:chOff x="0" y="0"/>
            <a:chExt cx="21742400" cy="1320800"/>
          </a:xfrm>
        </p:grpSpPr>
        <p:sp>
          <p:nvSpPr>
            <p:cNvPr name="Freeform 41" id="41"/>
            <p:cNvSpPr/>
            <p:nvPr/>
          </p:nvSpPr>
          <p:spPr>
            <a:xfrm flipH="false" flipV="false" rot="0">
              <a:off x="0" y="0"/>
              <a:ext cx="21742400" cy="1320800"/>
            </a:xfrm>
            <a:custGeom>
              <a:avLst/>
              <a:gdLst/>
              <a:ahLst/>
              <a:cxnLst/>
              <a:rect r="r" b="b" t="t" l="l"/>
              <a:pathLst>
                <a:path h="1320800" w="21742400">
                  <a:moveTo>
                    <a:pt x="177800" y="0"/>
                  </a:moveTo>
                  <a:lnTo>
                    <a:pt x="21564600" y="0"/>
                  </a:lnTo>
                  <a:cubicBezTo>
                    <a:pt x="21662796" y="0"/>
                    <a:pt x="21742400" y="79604"/>
                    <a:pt x="21742400" y="177800"/>
                  </a:cubicBezTo>
                  <a:lnTo>
                    <a:pt x="21742400" y="1143000"/>
                  </a:lnTo>
                  <a:cubicBezTo>
                    <a:pt x="21742400" y="1241196"/>
                    <a:pt x="21662796" y="1320800"/>
                    <a:pt x="215646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FFFFF"/>
            </a:solidFill>
            <a:ln w="14288" cap="sq">
              <a:solidFill>
                <a:srgbClr val="D8E7F5"/>
              </a:solidFill>
              <a:prstDash val="solid"/>
              <a:miter/>
            </a:ln>
          </p:spPr>
        </p:sp>
        <p:sp>
          <p:nvSpPr>
            <p:cNvPr name="TextBox 42" id="42"/>
            <p:cNvSpPr txBox="true"/>
            <p:nvPr/>
          </p:nvSpPr>
          <p:spPr>
            <a:xfrm>
              <a:off x="0" y="-66675"/>
              <a:ext cx="21742400" cy="1387475"/>
            </a:xfrm>
            <a:prstGeom prst="rect">
              <a:avLst/>
            </a:prstGeom>
          </p:spPr>
          <p:txBody>
            <a:bodyPr anchor="ctr" rtlCol="false" tIns="50800" lIns="50800" bIns="50800" rIns="50800"/>
            <a:lstStyle/>
            <a:p>
              <a:pPr algn="l">
                <a:lnSpc>
                  <a:spcPts val="4199"/>
                </a:lnSpc>
              </a:pPr>
            </a:p>
          </p:txBody>
        </p:sp>
      </p:grpSp>
      <p:grpSp>
        <p:nvGrpSpPr>
          <p:cNvPr name="Group 43" id="43"/>
          <p:cNvGrpSpPr/>
          <p:nvPr/>
        </p:nvGrpSpPr>
        <p:grpSpPr>
          <a:xfrm rot="0">
            <a:off x="1219200" y="6562725"/>
            <a:ext cx="95250" cy="514350"/>
            <a:chOff x="0" y="0"/>
            <a:chExt cx="127000" cy="685800"/>
          </a:xfrm>
        </p:grpSpPr>
        <p:sp>
          <p:nvSpPr>
            <p:cNvPr name="Freeform 44" id="44"/>
            <p:cNvSpPr/>
            <p:nvPr/>
          </p:nvSpPr>
          <p:spPr>
            <a:xfrm flipH="false" flipV="false" rot="0">
              <a:off x="0" y="0"/>
              <a:ext cx="127000" cy="685800"/>
            </a:xfrm>
            <a:custGeom>
              <a:avLst/>
              <a:gdLst/>
              <a:ahLst/>
              <a:cxnLst/>
              <a:rect r="r" b="b" t="t" l="l"/>
              <a:pathLst>
                <a:path h="685800" w="127000">
                  <a:moveTo>
                    <a:pt x="63500" y="0"/>
                  </a:moveTo>
                  <a:lnTo>
                    <a:pt x="63500" y="0"/>
                  </a:lnTo>
                  <a:cubicBezTo>
                    <a:pt x="98570" y="0"/>
                    <a:pt x="127000" y="28430"/>
                    <a:pt x="127000" y="63500"/>
                  </a:cubicBezTo>
                  <a:lnTo>
                    <a:pt x="127000" y="622300"/>
                  </a:lnTo>
                  <a:cubicBezTo>
                    <a:pt x="127000" y="657370"/>
                    <a:pt x="98570" y="685800"/>
                    <a:pt x="63500" y="685800"/>
                  </a:cubicBezTo>
                  <a:lnTo>
                    <a:pt x="63500" y="685800"/>
                  </a:lnTo>
                  <a:cubicBezTo>
                    <a:pt x="28430" y="685800"/>
                    <a:pt x="0" y="657370"/>
                    <a:pt x="0" y="622300"/>
                  </a:cubicBezTo>
                  <a:lnTo>
                    <a:pt x="0" y="63500"/>
                  </a:lnTo>
                  <a:cubicBezTo>
                    <a:pt x="0" y="28430"/>
                    <a:pt x="28430" y="0"/>
                    <a:pt x="63500" y="0"/>
                  </a:cubicBezTo>
                  <a:close/>
                </a:path>
              </a:pathLst>
            </a:custGeom>
            <a:solidFill>
              <a:srgbClr val="2B8BC5"/>
            </a:solidFill>
          </p:spPr>
        </p:sp>
        <p:sp>
          <p:nvSpPr>
            <p:cNvPr name="TextBox 45" id="45"/>
            <p:cNvSpPr txBox="true"/>
            <p:nvPr/>
          </p:nvSpPr>
          <p:spPr>
            <a:xfrm>
              <a:off x="0" y="-66675"/>
              <a:ext cx="127000" cy="752475"/>
            </a:xfrm>
            <a:prstGeom prst="rect">
              <a:avLst/>
            </a:prstGeom>
          </p:spPr>
          <p:txBody>
            <a:bodyPr anchor="ctr" rtlCol="false" tIns="50800" lIns="50800" bIns="50800" rIns="50800"/>
            <a:lstStyle/>
            <a:p>
              <a:pPr algn="l">
                <a:lnSpc>
                  <a:spcPts val="4199"/>
                </a:lnSpc>
              </a:pPr>
            </a:p>
          </p:txBody>
        </p:sp>
      </p:grpSp>
      <p:sp>
        <p:nvSpPr>
          <p:cNvPr name="TextBox 46" id="46"/>
          <p:cNvSpPr txBox="true"/>
          <p:nvPr/>
        </p:nvSpPr>
        <p:spPr>
          <a:xfrm rot="0">
            <a:off x="1543050" y="6488429"/>
            <a:ext cx="7810500" cy="588646"/>
          </a:xfrm>
          <a:prstGeom prst="rect">
            <a:avLst/>
          </a:prstGeom>
        </p:spPr>
        <p:txBody>
          <a:bodyPr anchor="t" rtlCol="false" tIns="0" lIns="0" bIns="0" rIns="0">
            <a:spAutoFit/>
          </a:bodyPr>
          <a:lstStyle/>
          <a:p>
            <a:pPr algn="l">
              <a:lnSpc>
                <a:spcPts val="4829"/>
              </a:lnSpc>
            </a:pPr>
            <a:r>
              <a:rPr lang="en-US" sz="3449" b="true">
                <a:solidFill>
                  <a:srgbClr val="12304A"/>
                </a:solidFill>
                <a:latin typeface="Canva Sans Bold"/>
                <a:ea typeface="Canva Sans Bold"/>
                <a:cs typeface="Canva Sans Bold"/>
                <a:sym typeface="Canva Sans Bold"/>
              </a:rPr>
              <a:t>V_HocPhiSinhVien</a:t>
            </a:r>
          </a:p>
        </p:txBody>
      </p:sp>
      <p:sp>
        <p:nvSpPr>
          <p:cNvPr name="TextBox 47" id="47"/>
          <p:cNvSpPr txBox="true"/>
          <p:nvPr/>
        </p:nvSpPr>
        <p:spPr>
          <a:xfrm rot="0">
            <a:off x="9848850" y="6567170"/>
            <a:ext cx="6924675" cy="507365"/>
          </a:xfrm>
          <a:prstGeom prst="rect">
            <a:avLst/>
          </a:prstGeom>
        </p:spPr>
        <p:txBody>
          <a:bodyPr anchor="t" rtlCol="false" tIns="0" lIns="0" bIns="0" rIns="0">
            <a:spAutoFit/>
          </a:bodyPr>
          <a:lstStyle/>
          <a:p>
            <a:pPr algn="l">
              <a:lnSpc>
                <a:spcPts val="3909"/>
              </a:lnSpc>
            </a:pPr>
            <a:r>
              <a:rPr lang="en-US" sz="3399">
                <a:solidFill>
                  <a:srgbClr val="526579"/>
                </a:solidFill>
                <a:latin typeface="Canva Sans"/>
                <a:ea typeface="Canva Sans"/>
                <a:cs typeface="Canva Sans"/>
                <a:sym typeface="Canva Sans"/>
              </a:rPr>
              <a:t>—  công nợ học phí</a:t>
            </a:r>
          </a:p>
        </p:txBody>
      </p:sp>
      <p:grpSp>
        <p:nvGrpSpPr>
          <p:cNvPr name="Group 48" id="48"/>
          <p:cNvGrpSpPr/>
          <p:nvPr/>
        </p:nvGrpSpPr>
        <p:grpSpPr>
          <a:xfrm rot="0">
            <a:off x="990600" y="7448550"/>
            <a:ext cx="16306800" cy="990600"/>
            <a:chOff x="0" y="0"/>
            <a:chExt cx="21742400" cy="1320800"/>
          </a:xfrm>
        </p:grpSpPr>
        <p:sp>
          <p:nvSpPr>
            <p:cNvPr name="Freeform 49" id="49"/>
            <p:cNvSpPr/>
            <p:nvPr/>
          </p:nvSpPr>
          <p:spPr>
            <a:xfrm flipH="false" flipV="false" rot="0">
              <a:off x="0" y="0"/>
              <a:ext cx="21742400" cy="1320800"/>
            </a:xfrm>
            <a:custGeom>
              <a:avLst/>
              <a:gdLst/>
              <a:ahLst/>
              <a:cxnLst/>
              <a:rect r="r" b="b" t="t" l="l"/>
              <a:pathLst>
                <a:path h="1320800" w="21742400">
                  <a:moveTo>
                    <a:pt x="177800" y="0"/>
                  </a:moveTo>
                  <a:lnTo>
                    <a:pt x="21564600" y="0"/>
                  </a:lnTo>
                  <a:cubicBezTo>
                    <a:pt x="21662796" y="0"/>
                    <a:pt x="21742400" y="79604"/>
                    <a:pt x="21742400" y="177800"/>
                  </a:cubicBezTo>
                  <a:lnTo>
                    <a:pt x="21742400" y="1143000"/>
                  </a:lnTo>
                  <a:cubicBezTo>
                    <a:pt x="21742400" y="1241196"/>
                    <a:pt x="21662796" y="1320800"/>
                    <a:pt x="215646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5F3FF"/>
            </a:solidFill>
            <a:ln w="14288" cap="sq">
              <a:solidFill>
                <a:srgbClr val="D8E7F5"/>
              </a:solidFill>
              <a:prstDash val="solid"/>
              <a:miter/>
            </a:ln>
          </p:spPr>
        </p:sp>
        <p:sp>
          <p:nvSpPr>
            <p:cNvPr name="TextBox 50" id="50"/>
            <p:cNvSpPr txBox="true"/>
            <p:nvPr/>
          </p:nvSpPr>
          <p:spPr>
            <a:xfrm>
              <a:off x="0" y="-66675"/>
              <a:ext cx="21742400" cy="1387475"/>
            </a:xfrm>
            <a:prstGeom prst="rect">
              <a:avLst/>
            </a:prstGeom>
          </p:spPr>
          <p:txBody>
            <a:bodyPr anchor="ctr" rtlCol="false" tIns="50800" lIns="50800" bIns="50800" rIns="50800"/>
            <a:lstStyle/>
            <a:p>
              <a:pPr algn="l">
                <a:lnSpc>
                  <a:spcPts val="4199"/>
                </a:lnSpc>
              </a:pPr>
            </a:p>
          </p:txBody>
        </p:sp>
      </p:grpSp>
      <p:grpSp>
        <p:nvGrpSpPr>
          <p:cNvPr name="Group 51" id="51"/>
          <p:cNvGrpSpPr/>
          <p:nvPr/>
        </p:nvGrpSpPr>
        <p:grpSpPr>
          <a:xfrm rot="0">
            <a:off x="1219200" y="7686675"/>
            <a:ext cx="95250" cy="514350"/>
            <a:chOff x="0" y="0"/>
            <a:chExt cx="127000" cy="685800"/>
          </a:xfrm>
        </p:grpSpPr>
        <p:sp>
          <p:nvSpPr>
            <p:cNvPr name="Freeform 52" id="52"/>
            <p:cNvSpPr/>
            <p:nvPr/>
          </p:nvSpPr>
          <p:spPr>
            <a:xfrm flipH="false" flipV="false" rot="0">
              <a:off x="0" y="0"/>
              <a:ext cx="127000" cy="685800"/>
            </a:xfrm>
            <a:custGeom>
              <a:avLst/>
              <a:gdLst/>
              <a:ahLst/>
              <a:cxnLst/>
              <a:rect r="r" b="b" t="t" l="l"/>
              <a:pathLst>
                <a:path h="685800" w="127000">
                  <a:moveTo>
                    <a:pt x="63500" y="0"/>
                  </a:moveTo>
                  <a:lnTo>
                    <a:pt x="63500" y="0"/>
                  </a:lnTo>
                  <a:cubicBezTo>
                    <a:pt x="98570" y="0"/>
                    <a:pt x="127000" y="28430"/>
                    <a:pt x="127000" y="63500"/>
                  </a:cubicBezTo>
                  <a:lnTo>
                    <a:pt x="127000" y="622300"/>
                  </a:lnTo>
                  <a:cubicBezTo>
                    <a:pt x="127000" y="657370"/>
                    <a:pt x="98570" y="685800"/>
                    <a:pt x="63500" y="685800"/>
                  </a:cubicBezTo>
                  <a:lnTo>
                    <a:pt x="63500" y="685800"/>
                  </a:lnTo>
                  <a:cubicBezTo>
                    <a:pt x="28430" y="685800"/>
                    <a:pt x="0" y="657370"/>
                    <a:pt x="0" y="622300"/>
                  </a:cubicBezTo>
                  <a:lnTo>
                    <a:pt x="0" y="63500"/>
                  </a:lnTo>
                  <a:cubicBezTo>
                    <a:pt x="0" y="28430"/>
                    <a:pt x="28430" y="0"/>
                    <a:pt x="63500" y="0"/>
                  </a:cubicBezTo>
                  <a:close/>
                </a:path>
              </a:pathLst>
            </a:custGeom>
            <a:solidFill>
              <a:srgbClr val="6F64B5"/>
            </a:solidFill>
          </p:spPr>
        </p:sp>
        <p:sp>
          <p:nvSpPr>
            <p:cNvPr name="TextBox 53" id="53"/>
            <p:cNvSpPr txBox="true"/>
            <p:nvPr/>
          </p:nvSpPr>
          <p:spPr>
            <a:xfrm>
              <a:off x="0" y="-66675"/>
              <a:ext cx="127000" cy="752475"/>
            </a:xfrm>
            <a:prstGeom prst="rect">
              <a:avLst/>
            </a:prstGeom>
          </p:spPr>
          <p:txBody>
            <a:bodyPr anchor="ctr" rtlCol="false" tIns="50800" lIns="50800" bIns="50800" rIns="50800"/>
            <a:lstStyle/>
            <a:p>
              <a:pPr algn="l">
                <a:lnSpc>
                  <a:spcPts val="4199"/>
                </a:lnSpc>
              </a:pPr>
            </a:p>
          </p:txBody>
        </p:sp>
      </p:grpSp>
      <p:sp>
        <p:nvSpPr>
          <p:cNvPr name="TextBox 54" id="54"/>
          <p:cNvSpPr txBox="true"/>
          <p:nvPr/>
        </p:nvSpPr>
        <p:spPr>
          <a:xfrm rot="0">
            <a:off x="1543050" y="7616189"/>
            <a:ext cx="7810500" cy="588646"/>
          </a:xfrm>
          <a:prstGeom prst="rect">
            <a:avLst/>
          </a:prstGeom>
        </p:spPr>
        <p:txBody>
          <a:bodyPr anchor="t" rtlCol="false" tIns="0" lIns="0" bIns="0" rIns="0">
            <a:spAutoFit/>
          </a:bodyPr>
          <a:lstStyle/>
          <a:p>
            <a:pPr algn="l">
              <a:lnSpc>
                <a:spcPts val="4829"/>
              </a:lnSpc>
            </a:pPr>
            <a:r>
              <a:rPr lang="en-US" sz="3449" b="true">
                <a:solidFill>
                  <a:srgbClr val="12304A"/>
                </a:solidFill>
                <a:latin typeface="Canva Sans Bold"/>
                <a:ea typeface="Canva Sans Bold"/>
                <a:cs typeface="Canva Sans Bold"/>
                <a:sym typeface="Canva Sans Bold"/>
              </a:rPr>
              <a:t>V_DanhSachLopSinhHoat</a:t>
            </a:r>
          </a:p>
        </p:txBody>
      </p:sp>
      <p:sp>
        <p:nvSpPr>
          <p:cNvPr name="TextBox 55" id="55"/>
          <p:cNvSpPr txBox="true"/>
          <p:nvPr/>
        </p:nvSpPr>
        <p:spPr>
          <a:xfrm rot="0">
            <a:off x="9848850" y="7692389"/>
            <a:ext cx="6924675" cy="507365"/>
          </a:xfrm>
          <a:prstGeom prst="rect">
            <a:avLst/>
          </a:prstGeom>
        </p:spPr>
        <p:txBody>
          <a:bodyPr anchor="t" rtlCol="false" tIns="0" lIns="0" bIns="0" rIns="0">
            <a:spAutoFit/>
          </a:bodyPr>
          <a:lstStyle/>
          <a:p>
            <a:pPr algn="l">
              <a:lnSpc>
                <a:spcPts val="3909"/>
              </a:lnSpc>
            </a:pPr>
            <a:r>
              <a:rPr lang="en-US" sz="3399">
                <a:solidFill>
                  <a:srgbClr val="526579"/>
                </a:solidFill>
                <a:latin typeface="Canva Sans"/>
                <a:ea typeface="Canva Sans"/>
                <a:cs typeface="Canva Sans"/>
                <a:sym typeface="Canva Sans"/>
              </a:rPr>
              <a:t>—  lớp và sĩ số</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TextBox 3" id="3"/>
          <p:cNvSpPr txBox="true"/>
          <p:nvPr/>
        </p:nvSpPr>
        <p:spPr>
          <a:xfrm rot="0">
            <a:off x="896368" y="224790"/>
            <a:ext cx="16154400" cy="755015"/>
          </a:xfrm>
          <a:prstGeom prst="rect">
            <a:avLst/>
          </a:prstGeom>
        </p:spPr>
        <p:txBody>
          <a:bodyPr anchor="t" rtlCol="false" tIns="0" lIns="0" bIns="0" rIns="0">
            <a:spAutoFit/>
          </a:bodyPr>
          <a:lstStyle/>
          <a:p>
            <a:pPr algn="l">
              <a:lnSpc>
                <a:spcPts val="6160"/>
              </a:lnSpc>
            </a:pPr>
            <a:r>
              <a:rPr lang="en-US" sz="4400" b="true">
                <a:solidFill>
                  <a:srgbClr val="173A78"/>
                </a:solidFill>
                <a:latin typeface="Canva Sans Bold"/>
                <a:ea typeface="Canva Sans Bold"/>
                <a:cs typeface="Canva Sans Bold"/>
                <a:sym typeface="Canva Sans Bold"/>
              </a:rPr>
              <a:t>5. CHỈ MỤC PHỤC VỤ CÁC TRUY VẤN NGHIỆP VỤ</a:t>
            </a:r>
          </a:p>
        </p:txBody>
      </p:sp>
      <p:sp>
        <p:nvSpPr>
          <p:cNvPr name="TextBox 4" id="4"/>
          <p:cNvSpPr txBox="true"/>
          <p:nvPr/>
        </p:nvSpPr>
        <p:spPr>
          <a:xfrm rot="0">
            <a:off x="943993" y="1070008"/>
            <a:ext cx="16154400" cy="347980"/>
          </a:xfrm>
          <a:prstGeom prst="rect">
            <a:avLst/>
          </a:prstGeom>
        </p:spPr>
        <p:txBody>
          <a:bodyPr anchor="t" rtlCol="false" tIns="0" lIns="0" bIns="0" rIns="0">
            <a:spAutoFit/>
          </a:bodyPr>
          <a:lstStyle/>
          <a:p>
            <a:pPr algn="l">
              <a:lnSpc>
                <a:spcPts val="2869"/>
              </a:lnSpc>
            </a:pPr>
            <a:r>
              <a:rPr lang="en-US" sz="2049">
                <a:solidFill>
                  <a:srgbClr val="526579"/>
                </a:solidFill>
                <a:latin typeface="Canva Sans"/>
                <a:ea typeface="Canva Sans"/>
                <a:cs typeface="Canva Sans"/>
                <a:sym typeface="Canva Sans"/>
              </a:rPr>
              <a:t>Nhóm tạo 19 index nghiệp vụ theo các điều kiện tìm kiếm, JOIN và thống kê thường dùng.</a:t>
            </a:r>
          </a:p>
        </p:txBody>
      </p:sp>
      <p:grpSp>
        <p:nvGrpSpPr>
          <p:cNvPr name="Group 5" id="5"/>
          <p:cNvGrpSpPr/>
          <p:nvPr/>
        </p:nvGrpSpPr>
        <p:grpSpPr>
          <a:xfrm rot="0">
            <a:off x="943993" y="1637063"/>
            <a:ext cx="16154400" cy="6991350"/>
            <a:chOff x="0" y="0"/>
            <a:chExt cx="21539200" cy="9321800"/>
          </a:xfrm>
        </p:grpSpPr>
        <p:sp>
          <p:nvSpPr>
            <p:cNvPr name="Freeform 6" id="6"/>
            <p:cNvSpPr/>
            <p:nvPr/>
          </p:nvSpPr>
          <p:spPr>
            <a:xfrm flipH="false" flipV="false" rot="0">
              <a:off x="0" y="0"/>
              <a:ext cx="21539200" cy="9321800"/>
            </a:xfrm>
            <a:custGeom>
              <a:avLst/>
              <a:gdLst/>
              <a:ahLst/>
              <a:cxnLst/>
              <a:rect r="r" b="b" t="t" l="l"/>
              <a:pathLst>
                <a:path h="9321800" w="21539200">
                  <a:moveTo>
                    <a:pt x="114300" y="0"/>
                  </a:moveTo>
                  <a:lnTo>
                    <a:pt x="21424900" y="0"/>
                  </a:lnTo>
                  <a:cubicBezTo>
                    <a:pt x="21488026" y="0"/>
                    <a:pt x="21539200" y="51174"/>
                    <a:pt x="21539200" y="114300"/>
                  </a:cubicBezTo>
                  <a:lnTo>
                    <a:pt x="21539200" y="9207500"/>
                  </a:lnTo>
                  <a:cubicBezTo>
                    <a:pt x="21539200" y="9270626"/>
                    <a:pt x="21488026" y="9321800"/>
                    <a:pt x="21424900" y="9321800"/>
                  </a:cubicBezTo>
                  <a:lnTo>
                    <a:pt x="114300" y="9321800"/>
                  </a:lnTo>
                  <a:cubicBezTo>
                    <a:pt x="51174" y="9321800"/>
                    <a:pt x="0" y="9270626"/>
                    <a:pt x="0" y="9207500"/>
                  </a:cubicBezTo>
                  <a:lnTo>
                    <a:pt x="0" y="114300"/>
                  </a:lnTo>
                  <a:cubicBezTo>
                    <a:pt x="0" y="51174"/>
                    <a:pt x="51174" y="0"/>
                    <a:pt x="114300" y="0"/>
                  </a:cubicBezTo>
                  <a:close/>
                </a:path>
              </a:pathLst>
            </a:custGeom>
            <a:solidFill>
              <a:srgbClr val="FFFFFF"/>
            </a:solidFill>
            <a:ln w="11430" cap="sq">
              <a:solidFill>
                <a:srgbClr val="D5E4F0"/>
              </a:solidFill>
              <a:prstDash val="solid"/>
              <a:miter/>
            </a:ln>
          </p:spPr>
        </p:sp>
        <p:sp>
          <p:nvSpPr>
            <p:cNvPr name="TextBox 7" id="7"/>
            <p:cNvSpPr txBox="true"/>
            <p:nvPr/>
          </p:nvSpPr>
          <p:spPr>
            <a:xfrm>
              <a:off x="0" y="-38100"/>
              <a:ext cx="21539200" cy="9359900"/>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943993" y="1637063"/>
            <a:ext cx="16154400" cy="323850"/>
            <a:chOff x="0" y="0"/>
            <a:chExt cx="21539200" cy="431800"/>
          </a:xfrm>
        </p:grpSpPr>
        <p:sp>
          <p:nvSpPr>
            <p:cNvPr name="Freeform 9" id="9"/>
            <p:cNvSpPr/>
            <p:nvPr/>
          </p:nvSpPr>
          <p:spPr>
            <a:xfrm flipH="false" flipV="false" rot="0">
              <a:off x="0" y="0"/>
              <a:ext cx="21539200" cy="431800"/>
            </a:xfrm>
            <a:custGeom>
              <a:avLst/>
              <a:gdLst/>
              <a:ahLst/>
              <a:cxnLst/>
              <a:rect r="r" b="b" t="t" l="l"/>
              <a:pathLst>
                <a:path h="431800" w="21539200">
                  <a:moveTo>
                    <a:pt x="114300" y="0"/>
                  </a:moveTo>
                  <a:lnTo>
                    <a:pt x="21424900" y="0"/>
                  </a:lnTo>
                  <a:cubicBezTo>
                    <a:pt x="21488026" y="0"/>
                    <a:pt x="21539200" y="51174"/>
                    <a:pt x="21539200" y="114300"/>
                  </a:cubicBezTo>
                  <a:lnTo>
                    <a:pt x="21539200" y="317500"/>
                  </a:lnTo>
                  <a:cubicBezTo>
                    <a:pt x="21539200" y="380626"/>
                    <a:pt x="21488026" y="431800"/>
                    <a:pt x="21424900" y="431800"/>
                  </a:cubicBezTo>
                  <a:lnTo>
                    <a:pt x="114300" y="431800"/>
                  </a:lnTo>
                  <a:cubicBezTo>
                    <a:pt x="51174" y="431800"/>
                    <a:pt x="0" y="380626"/>
                    <a:pt x="0" y="317500"/>
                  </a:cubicBezTo>
                  <a:lnTo>
                    <a:pt x="0" y="114300"/>
                  </a:lnTo>
                  <a:cubicBezTo>
                    <a:pt x="0" y="51174"/>
                    <a:pt x="51174" y="0"/>
                    <a:pt x="114300" y="0"/>
                  </a:cubicBezTo>
                  <a:close/>
                </a:path>
              </a:pathLst>
            </a:custGeom>
            <a:solidFill>
              <a:srgbClr val="16324F"/>
            </a:solidFill>
          </p:spPr>
        </p:sp>
        <p:sp>
          <p:nvSpPr>
            <p:cNvPr name="TextBox 10" id="10"/>
            <p:cNvSpPr txBox="true"/>
            <p:nvPr/>
          </p:nvSpPr>
          <p:spPr>
            <a:xfrm>
              <a:off x="0" y="-38100"/>
              <a:ext cx="21539200" cy="469900"/>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9040243" y="1637063"/>
            <a:ext cx="14288" cy="6991350"/>
            <a:chOff x="0" y="0"/>
            <a:chExt cx="19050" cy="9321800"/>
          </a:xfrm>
        </p:grpSpPr>
        <p:sp>
          <p:nvSpPr>
            <p:cNvPr name="Freeform 12" id="12"/>
            <p:cNvSpPr/>
            <p:nvPr/>
          </p:nvSpPr>
          <p:spPr>
            <a:xfrm flipH="false" flipV="false" rot="0">
              <a:off x="0" y="0"/>
              <a:ext cx="19050" cy="9321800"/>
            </a:xfrm>
            <a:custGeom>
              <a:avLst/>
              <a:gdLst/>
              <a:ahLst/>
              <a:cxnLst/>
              <a:rect r="r" b="b" t="t" l="l"/>
              <a:pathLst>
                <a:path h="9321800" w="19050">
                  <a:moveTo>
                    <a:pt x="0" y="0"/>
                  </a:moveTo>
                  <a:lnTo>
                    <a:pt x="19050" y="0"/>
                  </a:lnTo>
                  <a:lnTo>
                    <a:pt x="19050" y="9321800"/>
                  </a:lnTo>
                  <a:lnTo>
                    <a:pt x="0" y="9321800"/>
                  </a:lnTo>
                  <a:close/>
                </a:path>
              </a:pathLst>
            </a:custGeom>
            <a:solidFill>
              <a:srgbClr val="D5E4F0"/>
            </a:solidFill>
          </p:spPr>
        </p:sp>
        <p:sp>
          <p:nvSpPr>
            <p:cNvPr name="TextBox 13" id="13"/>
            <p:cNvSpPr txBox="true"/>
            <p:nvPr/>
          </p:nvSpPr>
          <p:spPr>
            <a:xfrm>
              <a:off x="0" y="-38100"/>
              <a:ext cx="19050" cy="93599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134493" y="1684688"/>
            <a:ext cx="7810500" cy="240665"/>
          </a:xfrm>
          <a:prstGeom prst="rect">
            <a:avLst/>
          </a:prstGeom>
        </p:spPr>
        <p:txBody>
          <a:bodyPr anchor="t" rtlCol="false" tIns="0" lIns="0" bIns="0" rIns="0">
            <a:spAutoFit/>
          </a:bodyPr>
          <a:lstStyle/>
          <a:p>
            <a:pPr algn="l">
              <a:lnSpc>
                <a:spcPts val="1960"/>
              </a:lnSpc>
            </a:pPr>
            <a:r>
              <a:rPr lang="en-US" sz="1400" b="true">
                <a:solidFill>
                  <a:srgbClr val="FFFFFF"/>
                </a:solidFill>
                <a:latin typeface="Canva Sans Bold"/>
                <a:ea typeface="Canva Sans Bold"/>
                <a:cs typeface="Canva Sans Bold"/>
                <a:sym typeface="Canva Sans Bold"/>
              </a:rPr>
              <a:t>Index</a:t>
            </a:r>
          </a:p>
        </p:txBody>
      </p:sp>
      <p:sp>
        <p:nvSpPr>
          <p:cNvPr name="TextBox 15" id="15"/>
          <p:cNvSpPr txBox="true"/>
          <p:nvPr/>
        </p:nvSpPr>
        <p:spPr>
          <a:xfrm rot="0">
            <a:off x="9230743" y="1684688"/>
            <a:ext cx="7772400" cy="240665"/>
          </a:xfrm>
          <a:prstGeom prst="rect">
            <a:avLst/>
          </a:prstGeom>
        </p:spPr>
        <p:txBody>
          <a:bodyPr anchor="t" rtlCol="false" tIns="0" lIns="0" bIns="0" rIns="0">
            <a:spAutoFit/>
          </a:bodyPr>
          <a:lstStyle/>
          <a:p>
            <a:pPr algn="l">
              <a:lnSpc>
                <a:spcPts val="1960"/>
              </a:lnSpc>
            </a:pPr>
            <a:r>
              <a:rPr lang="en-US" sz="1400" b="true">
                <a:solidFill>
                  <a:srgbClr val="FFFFFF"/>
                </a:solidFill>
                <a:latin typeface="Canva Sans Bold"/>
                <a:ea typeface="Canva Sans Bold"/>
                <a:cs typeface="Canva Sans Bold"/>
                <a:sym typeface="Canva Sans Bold"/>
              </a:rPr>
              <a:t>Công dụng</a:t>
            </a:r>
          </a:p>
        </p:txBody>
      </p:sp>
      <p:grpSp>
        <p:nvGrpSpPr>
          <p:cNvPr name="Group 16" id="16"/>
          <p:cNvGrpSpPr/>
          <p:nvPr/>
        </p:nvGrpSpPr>
        <p:grpSpPr>
          <a:xfrm rot="0">
            <a:off x="943993" y="1960913"/>
            <a:ext cx="16154400" cy="219075"/>
            <a:chOff x="0" y="0"/>
            <a:chExt cx="21539200" cy="292100"/>
          </a:xfrm>
        </p:grpSpPr>
        <p:sp>
          <p:nvSpPr>
            <p:cNvPr name="Freeform 17" id="17"/>
            <p:cNvSpPr/>
            <p:nvPr/>
          </p:nvSpPr>
          <p:spPr>
            <a:xfrm flipH="false" flipV="false" rot="0">
              <a:off x="0" y="0"/>
              <a:ext cx="21539200" cy="292100"/>
            </a:xfrm>
            <a:custGeom>
              <a:avLst/>
              <a:gdLst/>
              <a:ahLst/>
              <a:cxnLst/>
              <a:rect r="r" b="b" t="t" l="l"/>
              <a:pathLst>
                <a:path h="292100" w="21539200">
                  <a:moveTo>
                    <a:pt x="0" y="0"/>
                  </a:moveTo>
                  <a:lnTo>
                    <a:pt x="21539200" y="0"/>
                  </a:lnTo>
                  <a:lnTo>
                    <a:pt x="21539200" y="292100"/>
                  </a:lnTo>
                  <a:lnTo>
                    <a:pt x="0" y="292100"/>
                  </a:lnTo>
                  <a:close/>
                </a:path>
              </a:pathLst>
            </a:custGeom>
            <a:solidFill>
              <a:srgbClr val="2B8BC5">
                <a:alpha val="13725"/>
              </a:srgbClr>
            </a:solidFill>
          </p:spPr>
        </p:sp>
        <p:sp>
          <p:nvSpPr>
            <p:cNvPr name="TextBox 18" id="18"/>
            <p:cNvSpPr txBox="true"/>
            <p:nvPr/>
          </p:nvSpPr>
          <p:spPr>
            <a:xfrm>
              <a:off x="0" y="-38100"/>
              <a:ext cx="21539200" cy="330200"/>
            </a:xfrm>
            <a:prstGeom prst="rect">
              <a:avLst/>
            </a:prstGeom>
          </p:spPr>
          <p:txBody>
            <a:bodyPr anchor="ctr" rtlCol="false" tIns="50800" lIns="50800" bIns="50800" rIns="50800"/>
            <a:lstStyle/>
            <a:p>
              <a:pPr algn="l">
                <a:lnSpc>
                  <a:spcPts val="1679"/>
                </a:lnSpc>
              </a:pPr>
            </a:p>
          </p:txBody>
        </p:sp>
      </p:grpSp>
      <p:grpSp>
        <p:nvGrpSpPr>
          <p:cNvPr name="Group 19" id="19"/>
          <p:cNvGrpSpPr/>
          <p:nvPr/>
        </p:nvGrpSpPr>
        <p:grpSpPr>
          <a:xfrm rot="0">
            <a:off x="943993" y="1960913"/>
            <a:ext cx="66675" cy="219075"/>
            <a:chOff x="0" y="0"/>
            <a:chExt cx="88900" cy="292100"/>
          </a:xfrm>
        </p:grpSpPr>
        <p:sp>
          <p:nvSpPr>
            <p:cNvPr name="Freeform 20" id="20"/>
            <p:cNvSpPr/>
            <p:nvPr/>
          </p:nvSpPr>
          <p:spPr>
            <a:xfrm flipH="false" flipV="false" rot="0">
              <a:off x="0" y="0"/>
              <a:ext cx="88900" cy="292100"/>
            </a:xfrm>
            <a:custGeom>
              <a:avLst/>
              <a:gdLst/>
              <a:ahLst/>
              <a:cxnLst/>
              <a:rect r="r" b="b" t="t" l="l"/>
              <a:pathLst>
                <a:path h="292100" w="88900">
                  <a:moveTo>
                    <a:pt x="0" y="0"/>
                  </a:moveTo>
                  <a:lnTo>
                    <a:pt x="88900" y="0"/>
                  </a:lnTo>
                  <a:lnTo>
                    <a:pt x="88900" y="292100"/>
                  </a:lnTo>
                  <a:lnTo>
                    <a:pt x="0" y="292100"/>
                  </a:lnTo>
                  <a:close/>
                </a:path>
              </a:pathLst>
            </a:custGeom>
            <a:solidFill>
              <a:srgbClr val="2B8BC5"/>
            </a:solidFill>
          </p:spPr>
        </p:sp>
        <p:sp>
          <p:nvSpPr>
            <p:cNvPr name="TextBox 21" id="21"/>
            <p:cNvSpPr txBox="true"/>
            <p:nvPr/>
          </p:nvSpPr>
          <p:spPr>
            <a:xfrm>
              <a:off x="0" y="-38100"/>
              <a:ext cx="88900" cy="3302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134493" y="1979963"/>
            <a:ext cx="15868650" cy="181102"/>
          </a:xfrm>
          <a:prstGeom prst="rect">
            <a:avLst/>
          </a:prstGeom>
        </p:spPr>
        <p:txBody>
          <a:bodyPr anchor="t" rtlCol="false" tIns="0" lIns="0" bIns="0" rIns="0">
            <a:spAutoFit/>
          </a:bodyPr>
          <a:lstStyle/>
          <a:p>
            <a:pPr algn="l">
              <a:lnSpc>
                <a:spcPts val="1567"/>
              </a:lnSpc>
            </a:pPr>
            <a:r>
              <a:rPr lang="en-US" sz="1119" b="true">
                <a:solidFill>
                  <a:srgbClr val="2B8BC5"/>
                </a:solidFill>
                <a:latin typeface="Canva Sans Bold"/>
                <a:ea typeface="Canva Sans Bold"/>
                <a:cs typeface="Canva Sans Bold"/>
                <a:sym typeface="Canva Sans Bold"/>
              </a:rPr>
              <a:t>ĐÀO TẠO VÀ CHƯƠNG TRÌNH HỌC</a:t>
            </a:r>
          </a:p>
        </p:txBody>
      </p:sp>
      <p:grpSp>
        <p:nvGrpSpPr>
          <p:cNvPr name="Group 23" id="23"/>
          <p:cNvGrpSpPr/>
          <p:nvPr/>
        </p:nvGrpSpPr>
        <p:grpSpPr>
          <a:xfrm rot="0">
            <a:off x="943993" y="2179988"/>
            <a:ext cx="16154400" cy="304800"/>
            <a:chOff x="0" y="0"/>
            <a:chExt cx="21539200" cy="406400"/>
          </a:xfrm>
        </p:grpSpPr>
        <p:sp>
          <p:nvSpPr>
            <p:cNvPr name="Freeform 24" id="24"/>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25" id="25"/>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943993" y="2475263"/>
            <a:ext cx="16154400" cy="9525"/>
            <a:chOff x="0" y="0"/>
            <a:chExt cx="21539200" cy="12700"/>
          </a:xfrm>
        </p:grpSpPr>
        <p:sp>
          <p:nvSpPr>
            <p:cNvPr name="Freeform 27" id="27"/>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28" id="28"/>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29" id="29"/>
          <p:cNvSpPr txBox="true"/>
          <p:nvPr/>
        </p:nvSpPr>
        <p:spPr>
          <a:xfrm rot="0">
            <a:off x="1134493" y="224666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IX_CTDT_MONHOC_MaCTDT</a:t>
            </a:r>
          </a:p>
        </p:txBody>
      </p:sp>
      <p:sp>
        <p:nvSpPr>
          <p:cNvPr name="TextBox 30" id="30"/>
          <p:cNvSpPr txBox="true"/>
          <p:nvPr/>
        </p:nvSpPr>
        <p:spPr>
          <a:xfrm rot="0">
            <a:off x="9230743" y="223713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môn thuộc chương trình đào tạo.</a:t>
            </a:r>
          </a:p>
        </p:txBody>
      </p:sp>
      <p:grpSp>
        <p:nvGrpSpPr>
          <p:cNvPr name="Group 31" id="31"/>
          <p:cNvGrpSpPr/>
          <p:nvPr/>
        </p:nvGrpSpPr>
        <p:grpSpPr>
          <a:xfrm rot="0">
            <a:off x="943993" y="2484788"/>
            <a:ext cx="16154400" cy="304800"/>
            <a:chOff x="0" y="0"/>
            <a:chExt cx="21539200" cy="406400"/>
          </a:xfrm>
        </p:grpSpPr>
        <p:sp>
          <p:nvSpPr>
            <p:cNvPr name="Freeform 32" id="32"/>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33" id="33"/>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34" id="34"/>
          <p:cNvGrpSpPr/>
          <p:nvPr/>
        </p:nvGrpSpPr>
        <p:grpSpPr>
          <a:xfrm rot="0">
            <a:off x="943993" y="2780063"/>
            <a:ext cx="16154400" cy="9525"/>
            <a:chOff x="0" y="0"/>
            <a:chExt cx="21539200" cy="12700"/>
          </a:xfrm>
        </p:grpSpPr>
        <p:sp>
          <p:nvSpPr>
            <p:cNvPr name="Freeform 35" id="35"/>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36" id="36"/>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134493" y="255146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IX_MONHOCTIENQUYET_MaMonTienQuyet</a:t>
            </a:r>
          </a:p>
        </p:txBody>
      </p:sp>
      <p:sp>
        <p:nvSpPr>
          <p:cNvPr name="TextBox 38" id="38"/>
          <p:cNvSpPr txBox="true"/>
          <p:nvPr/>
        </p:nvSpPr>
        <p:spPr>
          <a:xfrm rot="0">
            <a:off x="9230743" y="254193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tìm các môn yêu cầu một môn tiên quyết.</a:t>
            </a:r>
          </a:p>
        </p:txBody>
      </p:sp>
      <p:grpSp>
        <p:nvGrpSpPr>
          <p:cNvPr name="Group 39" id="39"/>
          <p:cNvGrpSpPr/>
          <p:nvPr/>
        </p:nvGrpSpPr>
        <p:grpSpPr>
          <a:xfrm rot="0">
            <a:off x="943993" y="2789588"/>
            <a:ext cx="16154400" cy="304800"/>
            <a:chOff x="0" y="0"/>
            <a:chExt cx="21539200" cy="406400"/>
          </a:xfrm>
        </p:grpSpPr>
        <p:sp>
          <p:nvSpPr>
            <p:cNvPr name="Freeform 40" id="40"/>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41" id="41"/>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943993" y="3084863"/>
            <a:ext cx="16154400" cy="9525"/>
            <a:chOff x="0" y="0"/>
            <a:chExt cx="21539200" cy="12700"/>
          </a:xfrm>
        </p:grpSpPr>
        <p:sp>
          <p:nvSpPr>
            <p:cNvPr name="Freeform 43" id="43"/>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44" id="44"/>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1134493" y="285626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IX_MONHOC_MaKhoa</a:t>
            </a:r>
          </a:p>
        </p:txBody>
      </p:sp>
      <p:sp>
        <p:nvSpPr>
          <p:cNvPr name="TextBox 46" id="46"/>
          <p:cNvSpPr txBox="true"/>
          <p:nvPr/>
        </p:nvSpPr>
        <p:spPr>
          <a:xfrm rot="0">
            <a:off x="9230743" y="284673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lọc môn học theo khoa và trạng thái.</a:t>
            </a:r>
          </a:p>
        </p:txBody>
      </p:sp>
      <p:grpSp>
        <p:nvGrpSpPr>
          <p:cNvPr name="Group 47" id="47"/>
          <p:cNvGrpSpPr/>
          <p:nvPr/>
        </p:nvGrpSpPr>
        <p:grpSpPr>
          <a:xfrm rot="0">
            <a:off x="943993" y="3094388"/>
            <a:ext cx="16154400" cy="304800"/>
            <a:chOff x="0" y="0"/>
            <a:chExt cx="21539200" cy="406400"/>
          </a:xfrm>
        </p:grpSpPr>
        <p:sp>
          <p:nvSpPr>
            <p:cNvPr name="Freeform 48" id="48"/>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49" id="49"/>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50" id="50"/>
          <p:cNvGrpSpPr/>
          <p:nvPr/>
        </p:nvGrpSpPr>
        <p:grpSpPr>
          <a:xfrm rot="0">
            <a:off x="943993" y="3389663"/>
            <a:ext cx="16154400" cy="9525"/>
            <a:chOff x="0" y="0"/>
            <a:chExt cx="21539200" cy="12700"/>
          </a:xfrm>
        </p:grpSpPr>
        <p:sp>
          <p:nvSpPr>
            <p:cNvPr name="Freeform 51" id="51"/>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52" id="52"/>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53" id="53"/>
          <p:cNvSpPr txBox="true"/>
          <p:nvPr/>
        </p:nvSpPr>
        <p:spPr>
          <a:xfrm rot="0">
            <a:off x="1134493" y="316106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IX_NGANH_MaKhoa</a:t>
            </a:r>
          </a:p>
        </p:txBody>
      </p:sp>
      <p:sp>
        <p:nvSpPr>
          <p:cNvPr name="TextBox 54" id="54"/>
          <p:cNvSpPr txBox="true"/>
          <p:nvPr/>
        </p:nvSpPr>
        <p:spPr>
          <a:xfrm rot="0">
            <a:off x="9230743" y="315153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ngành thuộc một khoa.</a:t>
            </a:r>
          </a:p>
        </p:txBody>
      </p:sp>
      <p:grpSp>
        <p:nvGrpSpPr>
          <p:cNvPr name="Group 55" id="55"/>
          <p:cNvGrpSpPr/>
          <p:nvPr/>
        </p:nvGrpSpPr>
        <p:grpSpPr>
          <a:xfrm rot="0">
            <a:off x="943993" y="3399188"/>
            <a:ext cx="16154400" cy="304800"/>
            <a:chOff x="0" y="0"/>
            <a:chExt cx="21539200" cy="406400"/>
          </a:xfrm>
        </p:grpSpPr>
        <p:sp>
          <p:nvSpPr>
            <p:cNvPr name="Freeform 56" id="56"/>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57" id="57"/>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58" id="58"/>
          <p:cNvGrpSpPr/>
          <p:nvPr/>
        </p:nvGrpSpPr>
        <p:grpSpPr>
          <a:xfrm rot="0">
            <a:off x="943993" y="3694463"/>
            <a:ext cx="16154400" cy="9525"/>
            <a:chOff x="0" y="0"/>
            <a:chExt cx="21539200" cy="12700"/>
          </a:xfrm>
        </p:grpSpPr>
        <p:sp>
          <p:nvSpPr>
            <p:cNvPr name="Freeform 59" id="59"/>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60" id="60"/>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61" id="61"/>
          <p:cNvSpPr txBox="true"/>
          <p:nvPr/>
        </p:nvSpPr>
        <p:spPr>
          <a:xfrm rot="0">
            <a:off x="1134493" y="346586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IX_CHUONGTRINHDAOTAO_MaNganh</a:t>
            </a:r>
          </a:p>
        </p:txBody>
      </p:sp>
      <p:sp>
        <p:nvSpPr>
          <p:cNvPr name="TextBox 62" id="62"/>
          <p:cNvSpPr txBox="true"/>
          <p:nvPr/>
        </p:nvSpPr>
        <p:spPr>
          <a:xfrm rot="0">
            <a:off x="9230743" y="345633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chương trình thuộc một ngành.</a:t>
            </a:r>
          </a:p>
        </p:txBody>
      </p:sp>
      <p:grpSp>
        <p:nvGrpSpPr>
          <p:cNvPr name="Group 63" id="63"/>
          <p:cNvGrpSpPr/>
          <p:nvPr/>
        </p:nvGrpSpPr>
        <p:grpSpPr>
          <a:xfrm rot="0">
            <a:off x="943993" y="3703988"/>
            <a:ext cx="16154400" cy="219075"/>
            <a:chOff x="0" y="0"/>
            <a:chExt cx="21539200" cy="292100"/>
          </a:xfrm>
        </p:grpSpPr>
        <p:sp>
          <p:nvSpPr>
            <p:cNvPr name="Freeform 64" id="64"/>
            <p:cNvSpPr/>
            <p:nvPr/>
          </p:nvSpPr>
          <p:spPr>
            <a:xfrm flipH="false" flipV="false" rot="0">
              <a:off x="0" y="0"/>
              <a:ext cx="21539200" cy="292100"/>
            </a:xfrm>
            <a:custGeom>
              <a:avLst/>
              <a:gdLst/>
              <a:ahLst/>
              <a:cxnLst/>
              <a:rect r="r" b="b" t="t" l="l"/>
              <a:pathLst>
                <a:path h="292100" w="21539200">
                  <a:moveTo>
                    <a:pt x="0" y="0"/>
                  </a:moveTo>
                  <a:lnTo>
                    <a:pt x="21539200" y="0"/>
                  </a:lnTo>
                  <a:lnTo>
                    <a:pt x="21539200" y="292100"/>
                  </a:lnTo>
                  <a:lnTo>
                    <a:pt x="0" y="292100"/>
                  </a:lnTo>
                  <a:close/>
                </a:path>
              </a:pathLst>
            </a:custGeom>
            <a:solidFill>
              <a:srgbClr val="6F64B5">
                <a:alpha val="13725"/>
              </a:srgbClr>
            </a:solidFill>
          </p:spPr>
        </p:sp>
        <p:sp>
          <p:nvSpPr>
            <p:cNvPr name="TextBox 65" id="65"/>
            <p:cNvSpPr txBox="true"/>
            <p:nvPr/>
          </p:nvSpPr>
          <p:spPr>
            <a:xfrm>
              <a:off x="0" y="-38100"/>
              <a:ext cx="21539200" cy="330200"/>
            </a:xfrm>
            <a:prstGeom prst="rect">
              <a:avLst/>
            </a:prstGeom>
          </p:spPr>
          <p:txBody>
            <a:bodyPr anchor="ctr" rtlCol="false" tIns="50800" lIns="50800" bIns="50800" rIns="50800"/>
            <a:lstStyle/>
            <a:p>
              <a:pPr algn="l">
                <a:lnSpc>
                  <a:spcPts val="1679"/>
                </a:lnSpc>
              </a:pPr>
            </a:p>
          </p:txBody>
        </p:sp>
      </p:grpSp>
      <p:grpSp>
        <p:nvGrpSpPr>
          <p:cNvPr name="Group 66" id="66"/>
          <p:cNvGrpSpPr/>
          <p:nvPr/>
        </p:nvGrpSpPr>
        <p:grpSpPr>
          <a:xfrm rot="0">
            <a:off x="943993" y="3703988"/>
            <a:ext cx="66675" cy="219075"/>
            <a:chOff x="0" y="0"/>
            <a:chExt cx="88900" cy="292100"/>
          </a:xfrm>
        </p:grpSpPr>
        <p:sp>
          <p:nvSpPr>
            <p:cNvPr name="Freeform 67" id="67"/>
            <p:cNvSpPr/>
            <p:nvPr/>
          </p:nvSpPr>
          <p:spPr>
            <a:xfrm flipH="false" flipV="false" rot="0">
              <a:off x="0" y="0"/>
              <a:ext cx="88900" cy="292100"/>
            </a:xfrm>
            <a:custGeom>
              <a:avLst/>
              <a:gdLst/>
              <a:ahLst/>
              <a:cxnLst/>
              <a:rect r="r" b="b" t="t" l="l"/>
              <a:pathLst>
                <a:path h="292100" w="88900">
                  <a:moveTo>
                    <a:pt x="0" y="0"/>
                  </a:moveTo>
                  <a:lnTo>
                    <a:pt x="88900" y="0"/>
                  </a:lnTo>
                  <a:lnTo>
                    <a:pt x="88900" y="292100"/>
                  </a:lnTo>
                  <a:lnTo>
                    <a:pt x="0" y="292100"/>
                  </a:lnTo>
                  <a:close/>
                </a:path>
              </a:pathLst>
            </a:custGeom>
            <a:solidFill>
              <a:srgbClr val="6F64B5"/>
            </a:solidFill>
          </p:spPr>
        </p:sp>
        <p:sp>
          <p:nvSpPr>
            <p:cNvPr name="TextBox 68" id="68"/>
            <p:cNvSpPr txBox="true"/>
            <p:nvPr/>
          </p:nvSpPr>
          <p:spPr>
            <a:xfrm>
              <a:off x="0" y="-38100"/>
              <a:ext cx="88900" cy="330200"/>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1134493" y="3723038"/>
            <a:ext cx="15868650" cy="181102"/>
          </a:xfrm>
          <a:prstGeom prst="rect">
            <a:avLst/>
          </a:prstGeom>
        </p:spPr>
        <p:txBody>
          <a:bodyPr anchor="t" rtlCol="false" tIns="0" lIns="0" bIns="0" rIns="0">
            <a:spAutoFit/>
          </a:bodyPr>
          <a:lstStyle/>
          <a:p>
            <a:pPr algn="l">
              <a:lnSpc>
                <a:spcPts val="1567"/>
              </a:lnSpc>
            </a:pPr>
            <a:r>
              <a:rPr lang="en-US" sz="1119" b="true">
                <a:solidFill>
                  <a:srgbClr val="6F64B5"/>
                </a:solidFill>
                <a:latin typeface="Canva Sans Bold"/>
                <a:ea typeface="Canva Sans Bold"/>
                <a:cs typeface="Canva Sans Bold"/>
                <a:sym typeface="Canva Sans Bold"/>
              </a:rPr>
              <a:t>NGƯỜI DÙNG VÀ LỚP SINH HOẠT</a:t>
            </a:r>
          </a:p>
        </p:txBody>
      </p:sp>
      <p:grpSp>
        <p:nvGrpSpPr>
          <p:cNvPr name="Group 70" id="70"/>
          <p:cNvGrpSpPr/>
          <p:nvPr/>
        </p:nvGrpSpPr>
        <p:grpSpPr>
          <a:xfrm rot="0">
            <a:off x="943993" y="3923063"/>
            <a:ext cx="16154400" cy="304800"/>
            <a:chOff x="0" y="0"/>
            <a:chExt cx="21539200" cy="406400"/>
          </a:xfrm>
        </p:grpSpPr>
        <p:sp>
          <p:nvSpPr>
            <p:cNvPr name="Freeform 71" id="71"/>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72" id="72"/>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0">
            <a:off x="943993" y="4218338"/>
            <a:ext cx="16154400" cy="9525"/>
            <a:chOff x="0" y="0"/>
            <a:chExt cx="21539200" cy="12700"/>
          </a:xfrm>
        </p:grpSpPr>
        <p:sp>
          <p:nvSpPr>
            <p:cNvPr name="Freeform 74" id="74"/>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75" id="75"/>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76" id="76"/>
          <p:cNvSpPr txBox="true"/>
          <p:nvPr/>
        </p:nvSpPr>
        <p:spPr>
          <a:xfrm rot="0">
            <a:off x="1134493" y="398973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IX_SINHVIEN_MaKhoa_TrangThai</a:t>
            </a:r>
          </a:p>
        </p:txBody>
      </p:sp>
      <p:sp>
        <p:nvSpPr>
          <p:cNvPr name="TextBox 77" id="77"/>
          <p:cNvSpPr txBox="true"/>
          <p:nvPr/>
        </p:nvSpPr>
        <p:spPr>
          <a:xfrm rot="0">
            <a:off x="9230743" y="398021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lọc sinh viên theo khoa và trạng thái.</a:t>
            </a:r>
          </a:p>
        </p:txBody>
      </p:sp>
      <p:grpSp>
        <p:nvGrpSpPr>
          <p:cNvPr name="Group 78" id="78"/>
          <p:cNvGrpSpPr/>
          <p:nvPr/>
        </p:nvGrpSpPr>
        <p:grpSpPr>
          <a:xfrm rot="0">
            <a:off x="943993" y="4227863"/>
            <a:ext cx="16154400" cy="304800"/>
            <a:chOff x="0" y="0"/>
            <a:chExt cx="21539200" cy="406400"/>
          </a:xfrm>
        </p:grpSpPr>
        <p:sp>
          <p:nvSpPr>
            <p:cNvPr name="Freeform 79" id="79"/>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80" id="80"/>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81" id="81"/>
          <p:cNvGrpSpPr/>
          <p:nvPr/>
        </p:nvGrpSpPr>
        <p:grpSpPr>
          <a:xfrm rot="0">
            <a:off x="943993" y="4523138"/>
            <a:ext cx="16154400" cy="9525"/>
            <a:chOff x="0" y="0"/>
            <a:chExt cx="21539200" cy="12700"/>
          </a:xfrm>
        </p:grpSpPr>
        <p:sp>
          <p:nvSpPr>
            <p:cNvPr name="Freeform 82" id="82"/>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83" id="83"/>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84" id="84"/>
          <p:cNvSpPr txBox="true"/>
          <p:nvPr/>
        </p:nvSpPr>
        <p:spPr>
          <a:xfrm rot="0">
            <a:off x="1134493" y="429453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IX_GIANGVIEN_MaKhoa_TrangThai</a:t>
            </a:r>
          </a:p>
        </p:txBody>
      </p:sp>
      <p:sp>
        <p:nvSpPr>
          <p:cNvPr name="TextBox 85" id="85"/>
          <p:cNvSpPr txBox="true"/>
          <p:nvPr/>
        </p:nvSpPr>
        <p:spPr>
          <a:xfrm rot="0">
            <a:off x="9230743" y="428501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lọc giảng viên theo khoa và trạng thái.</a:t>
            </a:r>
          </a:p>
        </p:txBody>
      </p:sp>
      <p:grpSp>
        <p:nvGrpSpPr>
          <p:cNvPr name="Group 86" id="86"/>
          <p:cNvGrpSpPr/>
          <p:nvPr/>
        </p:nvGrpSpPr>
        <p:grpSpPr>
          <a:xfrm rot="0">
            <a:off x="943993" y="4532663"/>
            <a:ext cx="16154400" cy="304800"/>
            <a:chOff x="0" y="0"/>
            <a:chExt cx="21539200" cy="406400"/>
          </a:xfrm>
        </p:grpSpPr>
        <p:sp>
          <p:nvSpPr>
            <p:cNvPr name="Freeform 87" id="87"/>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88" id="88"/>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89" id="89"/>
          <p:cNvGrpSpPr/>
          <p:nvPr/>
        </p:nvGrpSpPr>
        <p:grpSpPr>
          <a:xfrm rot="0">
            <a:off x="943993" y="4827938"/>
            <a:ext cx="16154400" cy="9525"/>
            <a:chOff x="0" y="0"/>
            <a:chExt cx="21539200" cy="12700"/>
          </a:xfrm>
        </p:grpSpPr>
        <p:sp>
          <p:nvSpPr>
            <p:cNvPr name="Freeform 90" id="90"/>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91" id="91"/>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92" id="92"/>
          <p:cNvSpPr txBox="true"/>
          <p:nvPr/>
        </p:nvSpPr>
        <p:spPr>
          <a:xfrm rot="0">
            <a:off x="1134493" y="459933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IX_TAIKHOAN_VaiTro_TrangThai</a:t>
            </a:r>
          </a:p>
        </p:txBody>
      </p:sp>
      <p:sp>
        <p:nvSpPr>
          <p:cNvPr name="TextBox 93" id="93"/>
          <p:cNvSpPr txBox="true"/>
          <p:nvPr/>
        </p:nvSpPr>
        <p:spPr>
          <a:xfrm rot="0">
            <a:off x="9230743" y="458981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tài khoản theo vai trò và trạng thái.</a:t>
            </a:r>
          </a:p>
        </p:txBody>
      </p:sp>
      <p:grpSp>
        <p:nvGrpSpPr>
          <p:cNvPr name="Group 94" id="94"/>
          <p:cNvGrpSpPr/>
          <p:nvPr/>
        </p:nvGrpSpPr>
        <p:grpSpPr>
          <a:xfrm rot="0">
            <a:off x="943993" y="4837463"/>
            <a:ext cx="16154400" cy="304800"/>
            <a:chOff x="0" y="0"/>
            <a:chExt cx="21539200" cy="406400"/>
          </a:xfrm>
        </p:grpSpPr>
        <p:sp>
          <p:nvSpPr>
            <p:cNvPr name="Freeform 95" id="95"/>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96" id="96"/>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97" id="97"/>
          <p:cNvGrpSpPr/>
          <p:nvPr/>
        </p:nvGrpSpPr>
        <p:grpSpPr>
          <a:xfrm rot="0">
            <a:off x="943993" y="5132738"/>
            <a:ext cx="16154400" cy="9525"/>
            <a:chOff x="0" y="0"/>
            <a:chExt cx="21539200" cy="12700"/>
          </a:xfrm>
        </p:grpSpPr>
        <p:sp>
          <p:nvSpPr>
            <p:cNvPr name="Freeform 98" id="98"/>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99" id="99"/>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00" id="100"/>
          <p:cNvSpPr txBox="true"/>
          <p:nvPr/>
        </p:nvSpPr>
        <p:spPr>
          <a:xfrm rot="0">
            <a:off x="1134493" y="490413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IX_SINHVIEN_MaLop</a:t>
            </a:r>
          </a:p>
        </p:txBody>
      </p:sp>
      <p:sp>
        <p:nvSpPr>
          <p:cNvPr name="TextBox 101" id="101"/>
          <p:cNvSpPr txBox="true"/>
          <p:nvPr/>
        </p:nvSpPr>
        <p:spPr>
          <a:xfrm rot="0">
            <a:off x="9230743" y="489461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lập danh sách sinh viên của lớp sinh hoạt.</a:t>
            </a:r>
          </a:p>
        </p:txBody>
      </p:sp>
      <p:grpSp>
        <p:nvGrpSpPr>
          <p:cNvPr name="Group 102" id="102"/>
          <p:cNvGrpSpPr/>
          <p:nvPr/>
        </p:nvGrpSpPr>
        <p:grpSpPr>
          <a:xfrm rot="0">
            <a:off x="943993" y="5142263"/>
            <a:ext cx="16154400" cy="304800"/>
            <a:chOff x="0" y="0"/>
            <a:chExt cx="21539200" cy="406400"/>
          </a:xfrm>
        </p:grpSpPr>
        <p:sp>
          <p:nvSpPr>
            <p:cNvPr name="Freeform 103" id="103"/>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104" id="104"/>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05" id="105"/>
          <p:cNvGrpSpPr/>
          <p:nvPr/>
        </p:nvGrpSpPr>
        <p:grpSpPr>
          <a:xfrm rot="0">
            <a:off x="943993" y="5437538"/>
            <a:ext cx="16154400" cy="9525"/>
            <a:chOff x="0" y="0"/>
            <a:chExt cx="21539200" cy="12700"/>
          </a:xfrm>
        </p:grpSpPr>
        <p:sp>
          <p:nvSpPr>
            <p:cNvPr name="Freeform 106" id="106"/>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07" id="107"/>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08" id="108"/>
          <p:cNvSpPr txBox="true"/>
          <p:nvPr/>
        </p:nvSpPr>
        <p:spPr>
          <a:xfrm rot="0">
            <a:off x="1134493" y="520893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IX_LOP_MaKhoa_NamNhapHoc</a:t>
            </a:r>
          </a:p>
        </p:txBody>
      </p:sp>
      <p:sp>
        <p:nvSpPr>
          <p:cNvPr name="TextBox 109" id="109"/>
          <p:cNvSpPr txBox="true"/>
          <p:nvPr/>
        </p:nvSpPr>
        <p:spPr>
          <a:xfrm rot="0">
            <a:off x="9230743" y="519941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lớp theo khoa và năm nhập học.</a:t>
            </a:r>
          </a:p>
        </p:txBody>
      </p:sp>
      <p:grpSp>
        <p:nvGrpSpPr>
          <p:cNvPr name="Group 110" id="110"/>
          <p:cNvGrpSpPr/>
          <p:nvPr/>
        </p:nvGrpSpPr>
        <p:grpSpPr>
          <a:xfrm rot="0">
            <a:off x="943993" y="5447063"/>
            <a:ext cx="16154400" cy="219075"/>
            <a:chOff x="0" y="0"/>
            <a:chExt cx="21539200" cy="292100"/>
          </a:xfrm>
        </p:grpSpPr>
        <p:sp>
          <p:nvSpPr>
            <p:cNvPr name="Freeform 111" id="111"/>
            <p:cNvSpPr/>
            <p:nvPr/>
          </p:nvSpPr>
          <p:spPr>
            <a:xfrm flipH="false" flipV="false" rot="0">
              <a:off x="0" y="0"/>
              <a:ext cx="21539200" cy="292100"/>
            </a:xfrm>
            <a:custGeom>
              <a:avLst/>
              <a:gdLst/>
              <a:ahLst/>
              <a:cxnLst/>
              <a:rect r="r" b="b" t="t" l="l"/>
              <a:pathLst>
                <a:path h="292100" w="21539200">
                  <a:moveTo>
                    <a:pt x="0" y="0"/>
                  </a:moveTo>
                  <a:lnTo>
                    <a:pt x="21539200" y="0"/>
                  </a:lnTo>
                  <a:lnTo>
                    <a:pt x="21539200" y="292100"/>
                  </a:lnTo>
                  <a:lnTo>
                    <a:pt x="0" y="292100"/>
                  </a:lnTo>
                  <a:close/>
                </a:path>
              </a:pathLst>
            </a:custGeom>
            <a:solidFill>
              <a:srgbClr val="3F9B8A">
                <a:alpha val="13725"/>
              </a:srgbClr>
            </a:solidFill>
          </p:spPr>
        </p:sp>
        <p:sp>
          <p:nvSpPr>
            <p:cNvPr name="TextBox 112" id="112"/>
            <p:cNvSpPr txBox="true"/>
            <p:nvPr/>
          </p:nvSpPr>
          <p:spPr>
            <a:xfrm>
              <a:off x="0" y="-38100"/>
              <a:ext cx="21539200" cy="330200"/>
            </a:xfrm>
            <a:prstGeom prst="rect">
              <a:avLst/>
            </a:prstGeom>
          </p:spPr>
          <p:txBody>
            <a:bodyPr anchor="ctr" rtlCol="false" tIns="50800" lIns="50800" bIns="50800" rIns="50800"/>
            <a:lstStyle/>
            <a:p>
              <a:pPr algn="l">
                <a:lnSpc>
                  <a:spcPts val="1679"/>
                </a:lnSpc>
              </a:pPr>
            </a:p>
          </p:txBody>
        </p:sp>
      </p:grpSp>
      <p:grpSp>
        <p:nvGrpSpPr>
          <p:cNvPr name="Group 113" id="113"/>
          <p:cNvGrpSpPr/>
          <p:nvPr/>
        </p:nvGrpSpPr>
        <p:grpSpPr>
          <a:xfrm rot="0">
            <a:off x="943993" y="5447063"/>
            <a:ext cx="66675" cy="219075"/>
            <a:chOff x="0" y="0"/>
            <a:chExt cx="88900" cy="292100"/>
          </a:xfrm>
        </p:grpSpPr>
        <p:sp>
          <p:nvSpPr>
            <p:cNvPr name="Freeform 114" id="114"/>
            <p:cNvSpPr/>
            <p:nvPr/>
          </p:nvSpPr>
          <p:spPr>
            <a:xfrm flipH="false" flipV="false" rot="0">
              <a:off x="0" y="0"/>
              <a:ext cx="88900" cy="292100"/>
            </a:xfrm>
            <a:custGeom>
              <a:avLst/>
              <a:gdLst/>
              <a:ahLst/>
              <a:cxnLst/>
              <a:rect r="r" b="b" t="t" l="l"/>
              <a:pathLst>
                <a:path h="292100" w="88900">
                  <a:moveTo>
                    <a:pt x="0" y="0"/>
                  </a:moveTo>
                  <a:lnTo>
                    <a:pt x="88900" y="0"/>
                  </a:lnTo>
                  <a:lnTo>
                    <a:pt x="88900" y="292100"/>
                  </a:lnTo>
                  <a:lnTo>
                    <a:pt x="0" y="292100"/>
                  </a:lnTo>
                  <a:close/>
                </a:path>
              </a:pathLst>
            </a:custGeom>
            <a:solidFill>
              <a:srgbClr val="3F9B8A"/>
            </a:solidFill>
          </p:spPr>
        </p:sp>
        <p:sp>
          <p:nvSpPr>
            <p:cNvPr name="TextBox 115" id="115"/>
            <p:cNvSpPr txBox="true"/>
            <p:nvPr/>
          </p:nvSpPr>
          <p:spPr>
            <a:xfrm>
              <a:off x="0" y="-38100"/>
              <a:ext cx="88900" cy="330200"/>
            </a:xfrm>
            <a:prstGeom prst="rect">
              <a:avLst/>
            </a:prstGeom>
          </p:spPr>
          <p:txBody>
            <a:bodyPr anchor="ctr" rtlCol="false" tIns="50800" lIns="50800" bIns="50800" rIns="50800"/>
            <a:lstStyle/>
            <a:p>
              <a:pPr algn="l">
                <a:lnSpc>
                  <a:spcPts val="1679"/>
                </a:lnSpc>
              </a:pPr>
            </a:p>
          </p:txBody>
        </p:sp>
      </p:grpSp>
      <p:sp>
        <p:nvSpPr>
          <p:cNvPr name="TextBox 116" id="116"/>
          <p:cNvSpPr txBox="true"/>
          <p:nvPr/>
        </p:nvSpPr>
        <p:spPr>
          <a:xfrm rot="0">
            <a:off x="1134493" y="5466113"/>
            <a:ext cx="15868650" cy="181102"/>
          </a:xfrm>
          <a:prstGeom prst="rect">
            <a:avLst/>
          </a:prstGeom>
        </p:spPr>
        <p:txBody>
          <a:bodyPr anchor="t" rtlCol="false" tIns="0" lIns="0" bIns="0" rIns="0">
            <a:spAutoFit/>
          </a:bodyPr>
          <a:lstStyle/>
          <a:p>
            <a:pPr algn="l">
              <a:lnSpc>
                <a:spcPts val="1567"/>
              </a:lnSpc>
            </a:pPr>
            <a:r>
              <a:rPr lang="en-US" sz="1119" b="true">
                <a:solidFill>
                  <a:srgbClr val="3F9B8A"/>
                </a:solidFill>
                <a:latin typeface="Canva Sans Bold"/>
                <a:ea typeface="Canva Sans Bold"/>
                <a:cs typeface="Canva Sans Bold"/>
                <a:sym typeface="Canva Sans Bold"/>
              </a:rPr>
              <a:t>HỌC KỲ, ĐĂNG KÝ VÀ LỊCH HỌC</a:t>
            </a:r>
          </a:p>
        </p:txBody>
      </p:sp>
      <p:grpSp>
        <p:nvGrpSpPr>
          <p:cNvPr name="Group 117" id="117"/>
          <p:cNvGrpSpPr/>
          <p:nvPr/>
        </p:nvGrpSpPr>
        <p:grpSpPr>
          <a:xfrm rot="0">
            <a:off x="943993" y="5666138"/>
            <a:ext cx="16154400" cy="304800"/>
            <a:chOff x="0" y="0"/>
            <a:chExt cx="21539200" cy="406400"/>
          </a:xfrm>
        </p:grpSpPr>
        <p:sp>
          <p:nvSpPr>
            <p:cNvPr name="Freeform 118" id="118"/>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119" id="119"/>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20" id="120"/>
          <p:cNvGrpSpPr/>
          <p:nvPr/>
        </p:nvGrpSpPr>
        <p:grpSpPr>
          <a:xfrm rot="0">
            <a:off x="943993" y="5961413"/>
            <a:ext cx="16154400" cy="9525"/>
            <a:chOff x="0" y="0"/>
            <a:chExt cx="21539200" cy="12700"/>
          </a:xfrm>
        </p:grpSpPr>
        <p:sp>
          <p:nvSpPr>
            <p:cNvPr name="Freeform 121" id="121"/>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22" id="122"/>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23" id="123"/>
          <p:cNvSpPr txBox="true"/>
          <p:nvPr/>
        </p:nvSpPr>
        <p:spPr>
          <a:xfrm rot="0">
            <a:off x="1134493" y="573281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IX_HOCKY_TrangThai_NgayMoDangKy</a:t>
            </a:r>
          </a:p>
        </p:txBody>
      </p:sp>
      <p:sp>
        <p:nvSpPr>
          <p:cNvPr name="TextBox 124" id="124"/>
          <p:cNvSpPr txBox="true"/>
          <p:nvPr/>
        </p:nvSpPr>
        <p:spPr>
          <a:xfrm rot="0">
            <a:off x="9230743" y="572328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tìm học kỳ theo trạng thái và thời điểm mở đăng ký.</a:t>
            </a:r>
          </a:p>
        </p:txBody>
      </p:sp>
      <p:grpSp>
        <p:nvGrpSpPr>
          <p:cNvPr name="Group 125" id="125"/>
          <p:cNvGrpSpPr/>
          <p:nvPr/>
        </p:nvGrpSpPr>
        <p:grpSpPr>
          <a:xfrm rot="0">
            <a:off x="943993" y="5970938"/>
            <a:ext cx="16154400" cy="304800"/>
            <a:chOff x="0" y="0"/>
            <a:chExt cx="21539200" cy="406400"/>
          </a:xfrm>
        </p:grpSpPr>
        <p:sp>
          <p:nvSpPr>
            <p:cNvPr name="Freeform 126" id="126"/>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127" id="127"/>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28" id="128"/>
          <p:cNvGrpSpPr/>
          <p:nvPr/>
        </p:nvGrpSpPr>
        <p:grpSpPr>
          <a:xfrm rot="0">
            <a:off x="943993" y="6266213"/>
            <a:ext cx="16154400" cy="9525"/>
            <a:chOff x="0" y="0"/>
            <a:chExt cx="21539200" cy="12700"/>
          </a:xfrm>
        </p:grpSpPr>
        <p:sp>
          <p:nvSpPr>
            <p:cNvPr name="Freeform 129" id="129"/>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30" id="130"/>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31" id="131"/>
          <p:cNvSpPr txBox="true"/>
          <p:nvPr/>
        </p:nvSpPr>
        <p:spPr>
          <a:xfrm rot="0">
            <a:off x="1134493" y="603761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IX_DANGKYTINCHI_MaSV_MaLHP</a:t>
            </a:r>
          </a:p>
        </p:txBody>
      </p:sp>
      <p:sp>
        <p:nvSpPr>
          <p:cNvPr name="TextBox 132" id="132"/>
          <p:cNvSpPr txBox="true"/>
          <p:nvPr/>
        </p:nvSpPr>
        <p:spPr>
          <a:xfrm rot="0">
            <a:off x="9230743" y="602808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lượt đăng ký của sinh viên.</a:t>
            </a:r>
          </a:p>
        </p:txBody>
      </p:sp>
      <p:grpSp>
        <p:nvGrpSpPr>
          <p:cNvPr name="Group 133" id="133"/>
          <p:cNvGrpSpPr/>
          <p:nvPr/>
        </p:nvGrpSpPr>
        <p:grpSpPr>
          <a:xfrm rot="0">
            <a:off x="943993" y="6275738"/>
            <a:ext cx="16154400" cy="304800"/>
            <a:chOff x="0" y="0"/>
            <a:chExt cx="21539200" cy="406400"/>
          </a:xfrm>
        </p:grpSpPr>
        <p:sp>
          <p:nvSpPr>
            <p:cNvPr name="Freeform 134" id="134"/>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135" id="135"/>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36" id="136"/>
          <p:cNvGrpSpPr/>
          <p:nvPr/>
        </p:nvGrpSpPr>
        <p:grpSpPr>
          <a:xfrm rot="0">
            <a:off x="943993" y="6571013"/>
            <a:ext cx="16154400" cy="9525"/>
            <a:chOff x="0" y="0"/>
            <a:chExt cx="21539200" cy="12700"/>
          </a:xfrm>
        </p:grpSpPr>
        <p:sp>
          <p:nvSpPr>
            <p:cNvPr name="Freeform 137" id="137"/>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38" id="138"/>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39" id="139"/>
          <p:cNvSpPr txBox="true"/>
          <p:nvPr/>
        </p:nvSpPr>
        <p:spPr>
          <a:xfrm rot="0">
            <a:off x="1134493" y="634241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IX_DANGKYTINCHI_MaLHP_TrangThai</a:t>
            </a:r>
          </a:p>
        </p:txBody>
      </p:sp>
      <p:sp>
        <p:nvSpPr>
          <p:cNvPr name="TextBox 140" id="140"/>
          <p:cNvSpPr txBox="true"/>
          <p:nvPr/>
        </p:nvSpPr>
        <p:spPr>
          <a:xfrm rot="0">
            <a:off x="9230743" y="633288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và đếm đăng ký theo lớp học phần, trạng thái.</a:t>
            </a:r>
          </a:p>
        </p:txBody>
      </p:sp>
      <p:grpSp>
        <p:nvGrpSpPr>
          <p:cNvPr name="Group 141" id="141"/>
          <p:cNvGrpSpPr/>
          <p:nvPr/>
        </p:nvGrpSpPr>
        <p:grpSpPr>
          <a:xfrm rot="0">
            <a:off x="943993" y="6580538"/>
            <a:ext cx="16154400" cy="304800"/>
            <a:chOff x="0" y="0"/>
            <a:chExt cx="21539200" cy="406400"/>
          </a:xfrm>
        </p:grpSpPr>
        <p:sp>
          <p:nvSpPr>
            <p:cNvPr name="Freeform 142" id="142"/>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143" id="143"/>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44" id="144"/>
          <p:cNvGrpSpPr/>
          <p:nvPr/>
        </p:nvGrpSpPr>
        <p:grpSpPr>
          <a:xfrm rot="0">
            <a:off x="943993" y="6875813"/>
            <a:ext cx="16154400" cy="9525"/>
            <a:chOff x="0" y="0"/>
            <a:chExt cx="21539200" cy="12700"/>
          </a:xfrm>
        </p:grpSpPr>
        <p:sp>
          <p:nvSpPr>
            <p:cNvPr name="Freeform 145" id="145"/>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46" id="146"/>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47" id="147"/>
          <p:cNvSpPr txBox="true"/>
          <p:nvPr/>
        </p:nvSpPr>
        <p:spPr>
          <a:xfrm rot="0">
            <a:off x="1134493" y="664721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IX_LOPHOCPHAN_MaHocKy_MaMonHoc</a:t>
            </a:r>
          </a:p>
        </p:txBody>
      </p:sp>
      <p:sp>
        <p:nvSpPr>
          <p:cNvPr name="TextBox 148" id="148"/>
          <p:cNvSpPr txBox="true"/>
          <p:nvPr/>
        </p:nvSpPr>
        <p:spPr>
          <a:xfrm rot="0">
            <a:off x="9230743" y="663768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tìm lớp học phần theo học kỳ và môn.</a:t>
            </a:r>
          </a:p>
        </p:txBody>
      </p:sp>
      <p:grpSp>
        <p:nvGrpSpPr>
          <p:cNvPr name="Group 149" id="149"/>
          <p:cNvGrpSpPr/>
          <p:nvPr/>
        </p:nvGrpSpPr>
        <p:grpSpPr>
          <a:xfrm rot="0">
            <a:off x="943993" y="6885338"/>
            <a:ext cx="16154400" cy="304800"/>
            <a:chOff x="0" y="0"/>
            <a:chExt cx="21539200" cy="406400"/>
          </a:xfrm>
        </p:grpSpPr>
        <p:sp>
          <p:nvSpPr>
            <p:cNvPr name="Freeform 150" id="150"/>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151" id="151"/>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52" id="152"/>
          <p:cNvGrpSpPr/>
          <p:nvPr/>
        </p:nvGrpSpPr>
        <p:grpSpPr>
          <a:xfrm rot="0">
            <a:off x="943993" y="7180613"/>
            <a:ext cx="16154400" cy="9525"/>
            <a:chOff x="0" y="0"/>
            <a:chExt cx="21539200" cy="12700"/>
          </a:xfrm>
        </p:grpSpPr>
        <p:sp>
          <p:nvSpPr>
            <p:cNvPr name="Freeform 153" id="153"/>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54" id="154"/>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55" id="155"/>
          <p:cNvSpPr txBox="true"/>
          <p:nvPr/>
        </p:nvSpPr>
        <p:spPr>
          <a:xfrm rot="0">
            <a:off x="1134493" y="6952013"/>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IX_LICHHOC_MaLHP_Thu_Tiet</a:t>
            </a:r>
          </a:p>
        </p:txBody>
      </p:sp>
      <p:sp>
        <p:nvSpPr>
          <p:cNvPr name="TextBox 156" id="156"/>
          <p:cNvSpPr txBox="true"/>
          <p:nvPr/>
        </p:nvSpPr>
        <p:spPr>
          <a:xfrm rot="0">
            <a:off x="9230743" y="6942488"/>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lịch theo lớp học phần, thứ và tiết.</a:t>
            </a:r>
          </a:p>
        </p:txBody>
      </p:sp>
      <p:grpSp>
        <p:nvGrpSpPr>
          <p:cNvPr name="Group 157" id="157"/>
          <p:cNvGrpSpPr/>
          <p:nvPr/>
        </p:nvGrpSpPr>
        <p:grpSpPr>
          <a:xfrm rot="0">
            <a:off x="943993" y="7190138"/>
            <a:ext cx="16154400" cy="219075"/>
            <a:chOff x="0" y="0"/>
            <a:chExt cx="21539200" cy="292100"/>
          </a:xfrm>
        </p:grpSpPr>
        <p:sp>
          <p:nvSpPr>
            <p:cNvPr name="Freeform 158" id="158"/>
            <p:cNvSpPr/>
            <p:nvPr/>
          </p:nvSpPr>
          <p:spPr>
            <a:xfrm flipH="false" flipV="false" rot="0">
              <a:off x="0" y="0"/>
              <a:ext cx="21539200" cy="292100"/>
            </a:xfrm>
            <a:custGeom>
              <a:avLst/>
              <a:gdLst/>
              <a:ahLst/>
              <a:cxnLst/>
              <a:rect r="r" b="b" t="t" l="l"/>
              <a:pathLst>
                <a:path h="292100" w="21539200">
                  <a:moveTo>
                    <a:pt x="0" y="0"/>
                  </a:moveTo>
                  <a:lnTo>
                    <a:pt x="21539200" y="0"/>
                  </a:lnTo>
                  <a:lnTo>
                    <a:pt x="21539200" y="292100"/>
                  </a:lnTo>
                  <a:lnTo>
                    <a:pt x="0" y="292100"/>
                  </a:lnTo>
                  <a:close/>
                </a:path>
              </a:pathLst>
            </a:custGeom>
            <a:solidFill>
              <a:srgbClr val="D5895B">
                <a:alpha val="13725"/>
              </a:srgbClr>
            </a:solidFill>
          </p:spPr>
        </p:sp>
        <p:sp>
          <p:nvSpPr>
            <p:cNvPr name="TextBox 159" id="159"/>
            <p:cNvSpPr txBox="true"/>
            <p:nvPr/>
          </p:nvSpPr>
          <p:spPr>
            <a:xfrm>
              <a:off x="0" y="-38100"/>
              <a:ext cx="21539200" cy="330200"/>
            </a:xfrm>
            <a:prstGeom prst="rect">
              <a:avLst/>
            </a:prstGeom>
          </p:spPr>
          <p:txBody>
            <a:bodyPr anchor="ctr" rtlCol="false" tIns="50800" lIns="50800" bIns="50800" rIns="50800"/>
            <a:lstStyle/>
            <a:p>
              <a:pPr algn="l">
                <a:lnSpc>
                  <a:spcPts val="1679"/>
                </a:lnSpc>
              </a:pPr>
            </a:p>
          </p:txBody>
        </p:sp>
      </p:grpSp>
      <p:grpSp>
        <p:nvGrpSpPr>
          <p:cNvPr name="Group 160" id="160"/>
          <p:cNvGrpSpPr/>
          <p:nvPr/>
        </p:nvGrpSpPr>
        <p:grpSpPr>
          <a:xfrm rot="0">
            <a:off x="943993" y="7190138"/>
            <a:ext cx="66675" cy="219075"/>
            <a:chOff x="0" y="0"/>
            <a:chExt cx="88900" cy="292100"/>
          </a:xfrm>
        </p:grpSpPr>
        <p:sp>
          <p:nvSpPr>
            <p:cNvPr name="Freeform 161" id="161"/>
            <p:cNvSpPr/>
            <p:nvPr/>
          </p:nvSpPr>
          <p:spPr>
            <a:xfrm flipH="false" flipV="false" rot="0">
              <a:off x="0" y="0"/>
              <a:ext cx="88900" cy="292100"/>
            </a:xfrm>
            <a:custGeom>
              <a:avLst/>
              <a:gdLst/>
              <a:ahLst/>
              <a:cxnLst/>
              <a:rect r="r" b="b" t="t" l="l"/>
              <a:pathLst>
                <a:path h="292100" w="88900">
                  <a:moveTo>
                    <a:pt x="0" y="0"/>
                  </a:moveTo>
                  <a:lnTo>
                    <a:pt x="88900" y="0"/>
                  </a:lnTo>
                  <a:lnTo>
                    <a:pt x="88900" y="292100"/>
                  </a:lnTo>
                  <a:lnTo>
                    <a:pt x="0" y="292100"/>
                  </a:lnTo>
                  <a:close/>
                </a:path>
              </a:pathLst>
            </a:custGeom>
            <a:solidFill>
              <a:srgbClr val="D5895B"/>
            </a:solidFill>
          </p:spPr>
        </p:sp>
        <p:sp>
          <p:nvSpPr>
            <p:cNvPr name="TextBox 162" id="162"/>
            <p:cNvSpPr txBox="true"/>
            <p:nvPr/>
          </p:nvSpPr>
          <p:spPr>
            <a:xfrm>
              <a:off x="0" y="-38100"/>
              <a:ext cx="88900" cy="330200"/>
            </a:xfrm>
            <a:prstGeom prst="rect">
              <a:avLst/>
            </a:prstGeom>
          </p:spPr>
          <p:txBody>
            <a:bodyPr anchor="ctr" rtlCol="false" tIns="50800" lIns="50800" bIns="50800" rIns="50800"/>
            <a:lstStyle/>
            <a:p>
              <a:pPr algn="l">
                <a:lnSpc>
                  <a:spcPts val="1679"/>
                </a:lnSpc>
              </a:pPr>
            </a:p>
          </p:txBody>
        </p:sp>
      </p:grpSp>
      <p:sp>
        <p:nvSpPr>
          <p:cNvPr name="TextBox 163" id="163"/>
          <p:cNvSpPr txBox="true"/>
          <p:nvPr/>
        </p:nvSpPr>
        <p:spPr>
          <a:xfrm rot="0">
            <a:off x="1134493" y="7209188"/>
            <a:ext cx="15868650" cy="181102"/>
          </a:xfrm>
          <a:prstGeom prst="rect">
            <a:avLst/>
          </a:prstGeom>
        </p:spPr>
        <p:txBody>
          <a:bodyPr anchor="t" rtlCol="false" tIns="0" lIns="0" bIns="0" rIns="0">
            <a:spAutoFit/>
          </a:bodyPr>
          <a:lstStyle/>
          <a:p>
            <a:pPr algn="l">
              <a:lnSpc>
                <a:spcPts val="1567"/>
              </a:lnSpc>
            </a:pPr>
            <a:r>
              <a:rPr lang="en-US" sz="1119" b="true">
                <a:solidFill>
                  <a:srgbClr val="D5895B"/>
                </a:solidFill>
                <a:latin typeface="Canva Sans Bold"/>
                <a:ea typeface="Canva Sans Bold"/>
                <a:cs typeface="Canva Sans Bold"/>
                <a:sym typeface="Canva Sans Bold"/>
              </a:rPr>
              <a:t>HỌC PHÍ VÀ KIỂM TOÁN</a:t>
            </a:r>
          </a:p>
        </p:txBody>
      </p:sp>
      <p:grpSp>
        <p:nvGrpSpPr>
          <p:cNvPr name="Group 164" id="164"/>
          <p:cNvGrpSpPr/>
          <p:nvPr/>
        </p:nvGrpSpPr>
        <p:grpSpPr>
          <a:xfrm rot="0">
            <a:off x="943993" y="7409213"/>
            <a:ext cx="16154400" cy="304800"/>
            <a:chOff x="0" y="0"/>
            <a:chExt cx="21539200" cy="406400"/>
          </a:xfrm>
        </p:grpSpPr>
        <p:sp>
          <p:nvSpPr>
            <p:cNvPr name="Freeform 165" id="165"/>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166" id="166"/>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67" id="167"/>
          <p:cNvGrpSpPr/>
          <p:nvPr/>
        </p:nvGrpSpPr>
        <p:grpSpPr>
          <a:xfrm rot="0">
            <a:off x="943993" y="7704488"/>
            <a:ext cx="16154400" cy="9525"/>
            <a:chOff x="0" y="0"/>
            <a:chExt cx="21539200" cy="12700"/>
          </a:xfrm>
        </p:grpSpPr>
        <p:sp>
          <p:nvSpPr>
            <p:cNvPr name="Freeform 168" id="168"/>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69" id="169"/>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70" id="170"/>
          <p:cNvSpPr txBox="true"/>
          <p:nvPr/>
        </p:nvSpPr>
        <p:spPr>
          <a:xfrm rot="0">
            <a:off x="1134493" y="747588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IX_HOCPHI_MaSV_MaHocKy</a:t>
            </a:r>
          </a:p>
        </p:txBody>
      </p:sp>
      <p:sp>
        <p:nvSpPr>
          <p:cNvPr name="TextBox 171" id="171"/>
          <p:cNvSpPr txBox="true"/>
          <p:nvPr/>
        </p:nvSpPr>
        <p:spPr>
          <a:xfrm rot="0">
            <a:off x="9230743" y="746636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học phí của sinh viên theo học kỳ.</a:t>
            </a:r>
          </a:p>
        </p:txBody>
      </p:sp>
      <p:grpSp>
        <p:nvGrpSpPr>
          <p:cNvPr name="Group 172" id="172"/>
          <p:cNvGrpSpPr/>
          <p:nvPr/>
        </p:nvGrpSpPr>
        <p:grpSpPr>
          <a:xfrm rot="0">
            <a:off x="943993" y="7714013"/>
            <a:ext cx="16154400" cy="304800"/>
            <a:chOff x="0" y="0"/>
            <a:chExt cx="21539200" cy="406400"/>
          </a:xfrm>
        </p:grpSpPr>
        <p:sp>
          <p:nvSpPr>
            <p:cNvPr name="Freeform 173" id="173"/>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174" id="174"/>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75" id="175"/>
          <p:cNvGrpSpPr/>
          <p:nvPr/>
        </p:nvGrpSpPr>
        <p:grpSpPr>
          <a:xfrm rot="0">
            <a:off x="943993" y="8009288"/>
            <a:ext cx="16154400" cy="9525"/>
            <a:chOff x="0" y="0"/>
            <a:chExt cx="21539200" cy="12700"/>
          </a:xfrm>
        </p:grpSpPr>
        <p:sp>
          <p:nvSpPr>
            <p:cNvPr name="Freeform 176" id="176"/>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77" id="177"/>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78" id="178"/>
          <p:cNvSpPr txBox="true"/>
          <p:nvPr/>
        </p:nvSpPr>
        <p:spPr>
          <a:xfrm rot="0">
            <a:off x="1134493" y="778068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IX_HOCPHI_MaHocKy_TrangThai</a:t>
            </a:r>
          </a:p>
        </p:txBody>
      </p:sp>
      <p:sp>
        <p:nvSpPr>
          <p:cNvPr name="TextBox 179" id="179"/>
          <p:cNvSpPr txBox="true"/>
          <p:nvPr/>
        </p:nvSpPr>
        <p:spPr>
          <a:xfrm rot="0">
            <a:off x="9230743" y="777116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thống kê học phí theo học kỳ và trạng thái.</a:t>
            </a:r>
          </a:p>
        </p:txBody>
      </p:sp>
      <p:grpSp>
        <p:nvGrpSpPr>
          <p:cNvPr name="Group 180" id="180"/>
          <p:cNvGrpSpPr/>
          <p:nvPr/>
        </p:nvGrpSpPr>
        <p:grpSpPr>
          <a:xfrm rot="0">
            <a:off x="943993" y="8018813"/>
            <a:ext cx="16154400" cy="304800"/>
            <a:chOff x="0" y="0"/>
            <a:chExt cx="21539200" cy="406400"/>
          </a:xfrm>
        </p:grpSpPr>
        <p:sp>
          <p:nvSpPr>
            <p:cNvPr name="Freeform 181" id="181"/>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FFFFF"/>
            </a:solidFill>
          </p:spPr>
        </p:sp>
        <p:sp>
          <p:nvSpPr>
            <p:cNvPr name="TextBox 182" id="182"/>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83" id="183"/>
          <p:cNvGrpSpPr/>
          <p:nvPr/>
        </p:nvGrpSpPr>
        <p:grpSpPr>
          <a:xfrm rot="0">
            <a:off x="943993" y="8314088"/>
            <a:ext cx="16154400" cy="9525"/>
            <a:chOff x="0" y="0"/>
            <a:chExt cx="21539200" cy="12700"/>
          </a:xfrm>
        </p:grpSpPr>
        <p:sp>
          <p:nvSpPr>
            <p:cNvPr name="Freeform 184" id="184"/>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85" id="185"/>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86" id="186"/>
          <p:cNvSpPr txBox="true"/>
          <p:nvPr/>
        </p:nvSpPr>
        <p:spPr>
          <a:xfrm rot="0">
            <a:off x="1134493" y="808548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IX_LOGHOATDONG_ThoiGian</a:t>
            </a:r>
          </a:p>
        </p:txBody>
      </p:sp>
      <p:sp>
        <p:nvSpPr>
          <p:cNvPr name="TextBox 187" id="187"/>
          <p:cNvSpPr txBox="true"/>
          <p:nvPr/>
        </p:nvSpPr>
        <p:spPr>
          <a:xfrm rot="0">
            <a:off x="9230743" y="807596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nhật ký theo thời gian.</a:t>
            </a:r>
          </a:p>
        </p:txBody>
      </p:sp>
      <p:grpSp>
        <p:nvGrpSpPr>
          <p:cNvPr name="Group 188" id="188"/>
          <p:cNvGrpSpPr/>
          <p:nvPr/>
        </p:nvGrpSpPr>
        <p:grpSpPr>
          <a:xfrm rot="0">
            <a:off x="943993" y="8323613"/>
            <a:ext cx="16154400" cy="304800"/>
            <a:chOff x="0" y="0"/>
            <a:chExt cx="21539200" cy="406400"/>
          </a:xfrm>
        </p:grpSpPr>
        <p:sp>
          <p:nvSpPr>
            <p:cNvPr name="Freeform 189" id="189"/>
            <p:cNvSpPr/>
            <p:nvPr/>
          </p:nvSpPr>
          <p:spPr>
            <a:xfrm flipH="false" flipV="false" rot="0">
              <a:off x="0" y="0"/>
              <a:ext cx="21539200" cy="406400"/>
            </a:xfrm>
            <a:custGeom>
              <a:avLst/>
              <a:gdLst/>
              <a:ahLst/>
              <a:cxnLst/>
              <a:rect r="r" b="b" t="t" l="l"/>
              <a:pathLst>
                <a:path h="406400" w="21539200">
                  <a:moveTo>
                    <a:pt x="0" y="0"/>
                  </a:moveTo>
                  <a:lnTo>
                    <a:pt x="21539200" y="0"/>
                  </a:lnTo>
                  <a:lnTo>
                    <a:pt x="21539200" y="406400"/>
                  </a:lnTo>
                  <a:lnTo>
                    <a:pt x="0" y="406400"/>
                  </a:lnTo>
                  <a:close/>
                </a:path>
              </a:pathLst>
            </a:custGeom>
            <a:solidFill>
              <a:srgbClr val="F5F9FC"/>
            </a:solidFill>
          </p:spPr>
        </p:sp>
        <p:sp>
          <p:nvSpPr>
            <p:cNvPr name="TextBox 190" id="190"/>
            <p:cNvSpPr txBox="true"/>
            <p:nvPr/>
          </p:nvSpPr>
          <p:spPr>
            <a:xfrm>
              <a:off x="0" y="-38100"/>
              <a:ext cx="21539200" cy="444500"/>
            </a:xfrm>
            <a:prstGeom prst="rect">
              <a:avLst/>
            </a:prstGeom>
          </p:spPr>
          <p:txBody>
            <a:bodyPr anchor="ctr" rtlCol="false" tIns="50800" lIns="50800" bIns="50800" rIns="50800"/>
            <a:lstStyle/>
            <a:p>
              <a:pPr algn="l">
                <a:lnSpc>
                  <a:spcPts val="1679"/>
                </a:lnSpc>
              </a:pPr>
            </a:p>
          </p:txBody>
        </p:sp>
      </p:grpSp>
      <p:grpSp>
        <p:nvGrpSpPr>
          <p:cNvPr name="Group 191" id="191"/>
          <p:cNvGrpSpPr/>
          <p:nvPr/>
        </p:nvGrpSpPr>
        <p:grpSpPr>
          <a:xfrm rot="0">
            <a:off x="943993" y="8618888"/>
            <a:ext cx="16154400" cy="9525"/>
            <a:chOff x="0" y="0"/>
            <a:chExt cx="21539200" cy="12700"/>
          </a:xfrm>
        </p:grpSpPr>
        <p:sp>
          <p:nvSpPr>
            <p:cNvPr name="Freeform 192" id="192"/>
            <p:cNvSpPr/>
            <p:nvPr/>
          </p:nvSpPr>
          <p:spPr>
            <a:xfrm flipH="false" flipV="false" rot="0">
              <a:off x="0" y="0"/>
              <a:ext cx="21539200" cy="12700"/>
            </a:xfrm>
            <a:custGeom>
              <a:avLst/>
              <a:gdLst/>
              <a:ahLst/>
              <a:cxnLst/>
              <a:rect r="r" b="b" t="t" l="l"/>
              <a:pathLst>
                <a:path h="12700" w="21539200">
                  <a:moveTo>
                    <a:pt x="0" y="0"/>
                  </a:moveTo>
                  <a:lnTo>
                    <a:pt x="21539200" y="0"/>
                  </a:lnTo>
                  <a:lnTo>
                    <a:pt x="21539200" y="12700"/>
                  </a:lnTo>
                  <a:lnTo>
                    <a:pt x="0" y="12700"/>
                  </a:lnTo>
                  <a:close/>
                </a:path>
              </a:pathLst>
            </a:custGeom>
            <a:solidFill>
              <a:srgbClr val="D5E4F0"/>
            </a:solidFill>
          </p:spPr>
        </p:sp>
        <p:sp>
          <p:nvSpPr>
            <p:cNvPr name="TextBox 193" id="193"/>
            <p:cNvSpPr txBox="true"/>
            <p:nvPr/>
          </p:nvSpPr>
          <p:spPr>
            <a:xfrm>
              <a:off x="0" y="-38100"/>
              <a:ext cx="21539200" cy="50800"/>
            </a:xfrm>
            <a:prstGeom prst="rect">
              <a:avLst/>
            </a:prstGeom>
          </p:spPr>
          <p:txBody>
            <a:bodyPr anchor="ctr" rtlCol="false" tIns="50800" lIns="50800" bIns="50800" rIns="50800"/>
            <a:lstStyle/>
            <a:p>
              <a:pPr algn="l">
                <a:lnSpc>
                  <a:spcPts val="1679"/>
                </a:lnSpc>
              </a:pPr>
            </a:p>
          </p:txBody>
        </p:sp>
      </p:grpSp>
      <p:sp>
        <p:nvSpPr>
          <p:cNvPr name="TextBox 194" id="194"/>
          <p:cNvSpPr txBox="true"/>
          <p:nvPr/>
        </p:nvSpPr>
        <p:spPr>
          <a:xfrm rot="0">
            <a:off x="1134493" y="8390288"/>
            <a:ext cx="7772400" cy="180848"/>
          </a:xfrm>
          <a:prstGeom prst="rect">
            <a:avLst/>
          </a:prstGeom>
        </p:spPr>
        <p:txBody>
          <a:bodyPr anchor="t" rtlCol="false" tIns="0" lIns="0" bIns="0" rIns="0">
            <a:spAutoFit/>
          </a:bodyPr>
          <a:lstStyle/>
          <a:p>
            <a:pPr algn="l">
              <a:lnSpc>
                <a:spcPts val="1582"/>
              </a:lnSpc>
            </a:pPr>
            <a:r>
              <a:rPr lang="en-US" sz="1130" spc="-11" b="true">
                <a:solidFill>
                  <a:srgbClr val="16324F"/>
                </a:solidFill>
                <a:latin typeface="Canva Sans Bold"/>
                <a:ea typeface="Canva Sans Bold"/>
                <a:cs typeface="Canva Sans Bold"/>
                <a:sym typeface="Canva Sans Bold"/>
              </a:rPr>
              <a:t>IX_LOGHOATDONG_MaTaiKhoan_ThoiGian</a:t>
            </a:r>
          </a:p>
        </p:txBody>
      </p:sp>
      <p:sp>
        <p:nvSpPr>
          <p:cNvPr name="TextBox 195" id="195"/>
          <p:cNvSpPr txBox="true"/>
          <p:nvPr/>
        </p:nvSpPr>
        <p:spPr>
          <a:xfrm rot="0">
            <a:off x="9230743" y="8380763"/>
            <a:ext cx="7734300" cy="189865"/>
          </a:xfrm>
          <a:prstGeom prst="rect">
            <a:avLst/>
          </a:prstGeom>
        </p:spPr>
        <p:txBody>
          <a:bodyPr anchor="t" rtlCol="false" tIns="0" lIns="0" bIns="0" rIns="0">
            <a:spAutoFit/>
          </a:bodyPr>
          <a:lstStyle/>
          <a:p>
            <a:pPr algn="l">
              <a:lnSpc>
                <a:spcPts val="1609"/>
              </a:lnSpc>
            </a:pPr>
            <a:r>
              <a:rPr lang="en-US" sz="1149">
                <a:solidFill>
                  <a:srgbClr val="18344F"/>
                </a:solidFill>
                <a:latin typeface="Canva Sans"/>
                <a:ea typeface="Canva Sans"/>
                <a:cs typeface="Canva Sans"/>
                <a:sym typeface="Canva Sans"/>
              </a:rPr>
              <a:t>tra lịch sử thao tác của tài khoản.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9100" y="391577"/>
            <a:ext cx="14441636" cy="637123"/>
          </a:xfrm>
          <a:prstGeom prst="rect">
            <a:avLst/>
          </a:prstGeom>
        </p:spPr>
        <p:txBody>
          <a:bodyPr anchor="t" rtlCol="false" tIns="0" lIns="0" bIns="0" rIns="0">
            <a:spAutoFit/>
          </a:bodyPr>
          <a:lstStyle/>
          <a:p>
            <a:pPr algn="l">
              <a:lnSpc>
                <a:spcPts val="4838"/>
              </a:lnSpc>
            </a:pPr>
            <a:r>
              <a:rPr lang="en-US" b="true" sz="4400">
                <a:solidFill>
                  <a:srgbClr val="173A78"/>
                </a:solidFill>
                <a:latin typeface="Roboto Bold"/>
                <a:ea typeface="Roboto Bold"/>
                <a:cs typeface="Roboto Bold"/>
                <a:sym typeface="Roboto Bold"/>
              </a:rPr>
              <a:t>6. CÁC FUNCTION VÀ CÔNG DỤNG</a:t>
            </a:r>
          </a:p>
        </p:txBody>
      </p:sp>
      <p:sp>
        <p:nvSpPr>
          <p:cNvPr name="Freeform 4" id="4"/>
          <p:cNvSpPr/>
          <p:nvPr/>
        </p:nvSpPr>
        <p:spPr>
          <a:xfrm flipH="false" flipV="false" rot="0">
            <a:off x="209550" y="1495425"/>
            <a:ext cx="17649825" cy="1295400"/>
          </a:xfrm>
          <a:custGeom>
            <a:avLst/>
            <a:gdLst/>
            <a:ahLst/>
            <a:cxnLst/>
            <a:rect r="r" b="b" t="t" l="l"/>
            <a:pathLst>
              <a:path h="1295400" w="17649825">
                <a:moveTo>
                  <a:pt x="0" y="0"/>
                </a:moveTo>
                <a:lnTo>
                  <a:pt x="17649825" y="0"/>
                </a:lnTo>
                <a:lnTo>
                  <a:pt x="17649825" y="1295400"/>
                </a:lnTo>
                <a:lnTo>
                  <a:pt x="0" y="1295400"/>
                </a:lnTo>
                <a:lnTo>
                  <a:pt x="0" y="0"/>
                </a:lnTo>
                <a:close/>
              </a:path>
            </a:pathLst>
          </a:custGeom>
          <a:blipFill>
            <a:blip r:embed="rId3"/>
            <a:stretch>
              <a:fillRect l="0" t="0" r="0" b="0"/>
            </a:stretch>
          </a:blipFill>
        </p:spPr>
      </p:sp>
      <p:sp>
        <p:nvSpPr>
          <p:cNvPr name="Freeform 5" id="5"/>
          <p:cNvSpPr/>
          <p:nvPr/>
        </p:nvSpPr>
        <p:spPr>
          <a:xfrm flipH="false" flipV="false" rot="0">
            <a:off x="647700" y="1495425"/>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4"/>
            <a:stretch>
              <a:fillRect l="0" t="0" r="0" b="0"/>
            </a:stretch>
          </a:blipFill>
        </p:spPr>
      </p:sp>
      <p:sp>
        <p:nvSpPr>
          <p:cNvPr name="TextBox 6" id="6"/>
          <p:cNvSpPr txBox="true"/>
          <p:nvPr/>
        </p:nvSpPr>
        <p:spPr>
          <a:xfrm rot="0">
            <a:off x="1962150" y="1830824"/>
            <a:ext cx="15457289" cy="464701"/>
          </a:xfrm>
          <a:prstGeom prst="rect">
            <a:avLst/>
          </a:prstGeom>
        </p:spPr>
        <p:txBody>
          <a:bodyPr anchor="t" rtlCol="false" tIns="0" lIns="0" bIns="0" rIns="0">
            <a:spAutoFit/>
          </a:bodyPr>
          <a:lstStyle/>
          <a:p>
            <a:pPr algn="l">
              <a:lnSpc>
                <a:spcPts val="3780"/>
              </a:lnSpc>
            </a:pPr>
            <a:r>
              <a:rPr lang="en-US" sz="2699">
                <a:solidFill>
                  <a:srgbClr val="123562"/>
                </a:solidFill>
                <a:latin typeface="Roboto"/>
                <a:ea typeface="Roboto"/>
                <a:cs typeface="Roboto"/>
                <a:sym typeface="Roboto"/>
              </a:rPr>
              <a:t>Function đóng gói các phép kiểm tra và tính toán để procedure, view và ứng dụng dùng lại thống nhất.</a:t>
            </a:r>
          </a:p>
        </p:txBody>
      </p:sp>
      <p:sp>
        <p:nvSpPr>
          <p:cNvPr name="Freeform 7" id="7"/>
          <p:cNvSpPr/>
          <p:nvPr/>
        </p:nvSpPr>
        <p:spPr>
          <a:xfrm flipH="false" flipV="false" rot="0">
            <a:off x="209550" y="2781300"/>
            <a:ext cx="8724900" cy="7077075"/>
          </a:xfrm>
          <a:custGeom>
            <a:avLst/>
            <a:gdLst/>
            <a:ahLst/>
            <a:cxnLst/>
            <a:rect r="r" b="b" t="t" l="l"/>
            <a:pathLst>
              <a:path h="7077075" w="8724900">
                <a:moveTo>
                  <a:pt x="0" y="0"/>
                </a:moveTo>
                <a:lnTo>
                  <a:pt x="8724900" y="0"/>
                </a:lnTo>
                <a:lnTo>
                  <a:pt x="8724900" y="7077075"/>
                </a:lnTo>
                <a:lnTo>
                  <a:pt x="0" y="7077075"/>
                </a:lnTo>
                <a:lnTo>
                  <a:pt x="0" y="0"/>
                </a:lnTo>
                <a:close/>
              </a:path>
            </a:pathLst>
          </a:custGeom>
          <a:blipFill>
            <a:blip r:embed="rId5"/>
            <a:stretch>
              <a:fillRect l="0" t="0" r="0" b="0"/>
            </a:stretch>
          </a:blipFill>
        </p:spPr>
      </p:sp>
      <p:sp>
        <p:nvSpPr>
          <p:cNvPr name="Freeform 8" id="8"/>
          <p:cNvSpPr/>
          <p:nvPr/>
        </p:nvSpPr>
        <p:spPr>
          <a:xfrm flipH="false" flipV="false" rot="0">
            <a:off x="647700" y="3000375"/>
            <a:ext cx="1095375" cy="1285875"/>
          </a:xfrm>
          <a:custGeom>
            <a:avLst/>
            <a:gdLst/>
            <a:ahLst/>
            <a:cxnLst/>
            <a:rect r="r" b="b" t="t" l="l"/>
            <a:pathLst>
              <a:path h="1285875" w="1095375">
                <a:moveTo>
                  <a:pt x="0" y="0"/>
                </a:moveTo>
                <a:lnTo>
                  <a:pt x="1095375" y="0"/>
                </a:lnTo>
                <a:lnTo>
                  <a:pt x="1095375" y="1285875"/>
                </a:lnTo>
                <a:lnTo>
                  <a:pt x="0" y="1285875"/>
                </a:lnTo>
                <a:lnTo>
                  <a:pt x="0" y="0"/>
                </a:lnTo>
                <a:close/>
              </a:path>
            </a:pathLst>
          </a:custGeom>
          <a:blipFill>
            <a:blip r:embed="rId6"/>
            <a:stretch>
              <a:fillRect l="0" t="0" r="0" b="0"/>
            </a:stretch>
          </a:blipFill>
        </p:spPr>
      </p:sp>
      <p:sp>
        <p:nvSpPr>
          <p:cNvPr name="TextBox 9" id="9"/>
          <p:cNvSpPr txBox="true"/>
          <p:nvPr/>
        </p:nvSpPr>
        <p:spPr>
          <a:xfrm rot="0">
            <a:off x="2161194" y="3359292"/>
            <a:ext cx="4377402" cy="556838"/>
          </a:xfrm>
          <a:prstGeom prst="rect">
            <a:avLst/>
          </a:prstGeom>
        </p:spPr>
        <p:txBody>
          <a:bodyPr anchor="t" rtlCol="false" tIns="0" lIns="0" bIns="0" rIns="0">
            <a:spAutoFit/>
          </a:bodyPr>
          <a:lstStyle/>
          <a:p>
            <a:pPr algn="l">
              <a:lnSpc>
                <a:spcPts val="4475"/>
              </a:lnSpc>
            </a:pPr>
            <a:r>
              <a:rPr lang="en-US" sz="3195" b="true">
                <a:solidFill>
                  <a:srgbClr val="2C88E8"/>
                </a:solidFill>
                <a:latin typeface="Roboto Bold"/>
                <a:ea typeface="Roboto Bold"/>
                <a:cs typeface="Roboto Bold"/>
                <a:sym typeface="Roboto Bold"/>
              </a:rPr>
              <a:t>KIỂM TRA ĐIỀU KIỆN</a:t>
            </a:r>
          </a:p>
        </p:txBody>
      </p:sp>
      <p:sp>
        <p:nvSpPr>
          <p:cNvPr name="Freeform 10" id="10"/>
          <p:cNvSpPr/>
          <p:nvPr/>
        </p:nvSpPr>
        <p:spPr>
          <a:xfrm flipH="false" flipV="false" rot="0">
            <a:off x="647700" y="406717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7"/>
            <a:stretch>
              <a:fillRect l="0" t="0" r="0" b="0"/>
            </a:stretch>
          </a:blipFill>
        </p:spPr>
      </p:sp>
      <p:sp>
        <p:nvSpPr>
          <p:cNvPr name="Freeform 11" id="11"/>
          <p:cNvSpPr/>
          <p:nvPr/>
        </p:nvSpPr>
        <p:spPr>
          <a:xfrm flipH="false" flipV="false" rot="0">
            <a:off x="647700" y="4495800"/>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8"/>
            <a:stretch>
              <a:fillRect l="0" t="0" r="0" b="0"/>
            </a:stretch>
          </a:blipFill>
        </p:spPr>
      </p:sp>
      <p:sp>
        <p:nvSpPr>
          <p:cNvPr name="Freeform 12" id="12"/>
          <p:cNvSpPr/>
          <p:nvPr/>
        </p:nvSpPr>
        <p:spPr>
          <a:xfrm flipH="false" flipV="false" rot="0">
            <a:off x="647700" y="578167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9"/>
            <a:stretch>
              <a:fillRect l="0" t="0" r="0" b="0"/>
            </a:stretch>
          </a:blipFill>
        </p:spPr>
      </p:sp>
      <p:sp>
        <p:nvSpPr>
          <p:cNvPr name="Freeform 13" id="13"/>
          <p:cNvSpPr/>
          <p:nvPr/>
        </p:nvSpPr>
        <p:spPr>
          <a:xfrm flipH="false" flipV="false" rot="0">
            <a:off x="647700" y="6210300"/>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10"/>
            <a:stretch>
              <a:fillRect l="0" t="0" r="0" b="0"/>
            </a:stretch>
          </a:blipFill>
        </p:spPr>
      </p:sp>
      <p:sp>
        <p:nvSpPr>
          <p:cNvPr name="TextBox 14" id="14"/>
          <p:cNvSpPr txBox="true"/>
          <p:nvPr/>
        </p:nvSpPr>
        <p:spPr>
          <a:xfrm rot="0">
            <a:off x="2137441" y="6813964"/>
            <a:ext cx="5926197" cy="799064"/>
          </a:xfrm>
          <a:prstGeom prst="rect">
            <a:avLst/>
          </a:prstGeom>
        </p:spPr>
        <p:txBody>
          <a:bodyPr anchor="t" rtlCol="false" tIns="0" lIns="0" bIns="0" rIns="0">
            <a:spAutoFit/>
          </a:bodyPr>
          <a:lstStyle/>
          <a:p>
            <a:pPr algn="l">
              <a:lnSpc>
                <a:spcPts val="3201"/>
              </a:lnSpc>
            </a:pPr>
            <a:r>
              <a:rPr lang="en-US" sz="2286" spc="-45">
                <a:solidFill>
                  <a:srgbClr val="545454"/>
                </a:solidFill>
                <a:latin typeface="Roboto"/>
                <a:ea typeface="Roboto"/>
                <a:cs typeface="Roboto"/>
                <a:sym typeface="Roboto"/>
              </a:rPr>
              <a:t>xác định một thời điểm có nầm trong đợt mở đăng ký.</a:t>
            </a:r>
          </a:p>
        </p:txBody>
      </p:sp>
      <p:sp>
        <p:nvSpPr>
          <p:cNvPr name="Freeform 15" id="15"/>
          <p:cNvSpPr/>
          <p:nvPr/>
        </p:nvSpPr>
        <p:spPr>
          <a:xfrm flipH="false" flipV="false" rot="0">
            <a:off x="647700" y="749617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11"/>
            <a:stretch>
              <a:fillRect l="0" t="0" r="0" b="0"/>
            </a:stretch>
          </a:blipFill>
        </p:spPr>
      </p:sp>
      <p:sp>
        <p:nvSpPr>
          <p:cNvPr name="Freeform 16" id="16"/>
          <p:cNvSpPr/>
          <p:nvPr/>
        </p:nvSpPr>
        <p:spPr>
          <a:xfrm flipH="false" flipV="false" rot="0">
            <a:off x="647700" y="7924800"/>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12"/>
            <a:stretch>
              <a:fillRect l="0" t="0" r="0" b="0"/>
            </a:stretch>
          </a:blipFill>
        </p:spPr>
      </p:sp>
      <p:sp>
        <p:nvSpPr>
          <p:cNvPr name="TextBox 17" id="17"/>
          <p:cNvSpPr txBox="true"/>
          <p:nvPr/>
        </p:nvSpPr>
        <p:spPr>
          <a:xfrm rot="0">
            <a:off x="2196703" y="8138301"/>
            <a:ext cx="650974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FN_KiemTraTaiKhoanDangHoatDong</a:t>
            </a:r>
          </a:p>
        </p:txBody>
      </p:sp>
      <p:sp>
        <p:nvSpPr>
          <p:cNvPr name="TextBox 18" id="18"/>
          <p:cNvSpPr txBox="true"/>
          <p:nvPr/>
        </p:nvSpPr>
        <p:spPr>
          <a:xfrm rot="0">
            <a:off x="2152846" y="8637295"/>
            <a:ext cx="4385750" cy="799064"/>
          </a:xfrm>
          <a:prstGeom prst="rect">
            <a:avLst/>
          </a:prstGeom>
        </p:spPr>
        <p:txBody>
          <a:bodyPr anchor="t" rtlCol="false" tIns="0" lIns="0" bIns="0" rIns="0">
            <a:spAutoFit/>
          </a:bodyPr>
          <a:lstStyle/>
          <a:p>
            <a:pPr algn="l">
              <a:lnSpc>
                <a:spcPts val="3201"/>
              </a:lnSpc>
            </a:pPr>
            <a:r>
              <a:rPr lang="en-US" sz="2286" spc="-45">
                <a:solidFill>
                  <a:srgbClr val="545454"/>
                </a:solidFill>
                <a:latin typeface="Roboto"/>
                <a:ea typeface="Roboto"/>
                <a:cs typeface="Roboto"/>
                <a:sym typeface="Roboto"/>
              </a:rPr>
              <a:t>kiểm tra tài khoản có trạng thái ACTIVE.</a:t>
            </a:r>
          </a:p>
        </p:txBody>
      </p:sp>
      <p:sp>
        <p:nvSpPr>
          <p:cNvPr name="Freeform 19" id="19"/>
          <p:cNvSpPr/>
          <p:nvPr/>
        </p:nvSpPr>
        <p:spPr>
          <a:xfrm flipH="false" flipV="false" rot="0">
            <a:off x="8924925" y="2781300"/>
            <a:ext cx="8934450" cy="7077075"/>
          </a:xfrm>
          <a:custGeom>
            <a:avLst/>
            <a:gdLst/>
            <a:ahLst/>
            <a:cxnLst/>
            <a:rect r="r" b="b" t="t" l="l"/>
            <a:pathLst>
              <a:path h="7077075" w="8934450">
                <a:moveTo>
                  <a:pt x="0" y="0"/>
                </a:moveTo>
                <a:lnTo>
                  <a:pt x="8934450" y="0"/>
                </a:lnTo>
                <a:lnTo>
                  <a:pt x="8934450" y="7077075"/>
                </a:lnTo>
                <a:lnTo>
                  <a:pt x="0" y="7077075"/>
                </a:lnTo>
                <a:lnTo>
                  <a:pt x="0" y="0"/>
                </a:lnTo>
                <a:close/>
              </a:path>
            </a:pathLst>
          </a:custGeom>
          <a:blipFill>
            <a:blip r:embed="rId13"/>
            <a:stretch>
              <a:fillRect l="0" t="0" r="0" b="0"/>
            </a:stretch>
          </a:blipFill>
        </p:spPr>
      </p:sp>
      <p:sp>
        <p:nvSpPr>
          <p:cNvPr name="Freeform 20" id="20"/>
          <p:cNvSpPr/>
          <p:nvPr/>
        </p:nvSpPr>
        <p:spPr>
          <a:xfrm flipH="false" flipV="false" rot="0">
            <a:off x="9353550" y="3000375"/>
            <a:ext cx="1104900" cy="1076325"/>
          </a:xfrm>
          <a:custGeom>
            <a:avLst/>
            <a:gdLst/>
            <a:ahLst/>
            <a:cxnLst/>
            <a:rect r="r" b="b" t="t" l="l"/>
            <a:pathLst>
              <a:path h="1076325" w="1104900">
                <a:moveTo>
                  <a:pt x="0" y="0"/>
                </a:moveTo>
                <a:lnTo>
                  <a:pt x="1104900" y="0"/>
                </a:lnTo>
                <a:lnTo>
                  <a:pt x="1104900" y="1076325"/>
                </a:lnTo>
                <a:lnTo>
                  <a:pt x="0" y="1076325"/>
                </a:lnTo>
                <a:lnTo>
                  <a:pt x="0" y="0"/>
                </a:lnTo>
                <a:close/>
              </a:path>
            </a:pathLst>
          </a:custGeom>
          <a:blipFill>
            <a:blip r:embed="rId14"/>
            <a:stretch>
              <a:fillRect l="0" t="0" r="0" b="0"/>
            </a:stretch>
          </a:blipFill>
        </p:spPr>
      </p:sp>
      <p:sp>
        <p:nvSpPr>
          <p:cNvPr name="TextBox 21" id="21"/>
          <p:cNvSpPr txBox="true"/>
          <p:nvPr/>
        </p:nvSpPr>
        <p:spPr>
          <a:xfrm rot="0">
            <a:off x="10512308" y="3359292"/>
            <a:ext cx="5111679" cy="556838"/>
          </a:xfrm>
          <a:prstGeom prst="rect">
            <a:avLst/>
          </a:prstGeom>
        </p:spPr>
        <p:txBody>
          <a:bodyPr anchor="t" rtlCol="false" tIns="0" lIns="0" bIns="0" rIns="0">
            <a:spAutoFit/>
          </a:bodyPr>
          <a:lstStyle/>
          <a:p>
            <a:pPr algn="l">
              <a:lnSpc>
                <a:spcPts val="4475"/>
              </a:lnSpc>
            </a:pPr>
            <a:r>
              <a:rPr lang="en-US" sz="3195" b="true">
                <a:solidFill>
                  <a:srgbClr val="8C6AD6"/>
                </a:solidFill>
                <a:latin typeface="Roboto Bold"/>
                <a:ea typeface="Roboto Bold"/>
                <a:cs typeface="Roboto Bold"/>
                <a:sym typeface="Roboto Bold"/>
              </a:rPr>
              <a:t>TÍNH TOÁN VÀ TRA CỨU</a:t>
            </a:r>
          </a:p>
        </p:txBody>
      </p:sp>
      <p:sp>
        <p:nvSpPr>
          <p:cNvPr name="Freeform 22" id="22"/>
          <p:cNvSpPr/>
          <p:nvPr/>
        </p:nvSpPr>
        <p:spPr>
          <a:xfrm flipH="false" flipV="false" rot="0">
            <a:off x="9144000" y="4067175"/>
            <a:ext cx="8496300" cy="219075"/>
          </a:xfrm>
          <a:custGeom>
            <a:avLst/>
            <a:gdLst/>
            <a:ahLst/>
            <a:cxnLst/>
            <a:rect r="r" b="b" t="t" l="l"/>
            <a:pathLst>
              <a:path h="219075" w="8496300">
                <a:moveTo>
                  <a:pt x="0" y="0"/>
                </a:moveTo>
                <a:lnTo>
                  <a:pt x="8496300" y="0"/>
                </a:lnTo>
                <a:lnTo>
                  <a:pt x="8496300" y="219075"/>
                </a:lnTo>
                <a:lnTo>
                  <a:pt x="0" y="219075"/>
                </a:lnTo>
                <a:lnTo>
                  <a:pt x="0" y="0"/>
                </a:lnTo>
                <a:close/>
              </a:path>
            </a:pathLst>
          </a:custGeom>
          <a:blipFill>
            <a:blip r:embed="rId15"/>
            <a:stretch>
              <a:fillRect l="0" t="0" r="0" b="0"/>
            </a:stretch>
          </a:blipFill>
        </p:spPr>
      </p:sp>
      <p:sp>
        <p:nvSpPr>
          <p:cNvPr name="Freeform 23" id="23"/>
          <p:cNvSpPr/>
          <p:nvPr/>
        </p:nvSpPr>
        <p:spPr>
          <a:xfrm flipH="false" flipV="false" rot="0">
            <a:off x="9144000" y="4495800"/>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16"/>
            <a:stretch>
              <a:fillRect l="0" t="0" r="0" b="0"/>
            </a:stretch>
          </a:blipFill>
        </p:spPr>
      </p:sp>
      <p:sp>
        <p:nvSpPr>
          <p:cNvPr name="Freeform 24" id="24"/>
          <p:cNvSpPr/>
          <p:nvPr/>
        </p:nvSpPr>
        <p:spPr>
          <a:xfrm flipH="false" flipV="false" rot="0">
            <a:off x="9144000" y="5572125"/>
            <a:ext cx="8496300" cy="219075"/>
          </a:xfrm>
          <a:custGeom>
            <a:avLst/>
            <a:gdLst/>
            <a:ahLst/>
            <a:cxnLst/>
            <a:rect r="r" b="b" t="t" l="l"/>
            <a:pathLst>
              <a:path h="219075" w="8496300">
                <a:moveTo>
                  <a:pt x="0" y="0"/>
                </a:moveTo>
                <a:lnTo>
                  <a:pt x="8496300" y="0"/>
                </a:lnTo>
                <a:lnTo>
                  <a:pt x="8496300" y="219075"/>
                </a:lnTo>
                <a:lnTo>
                  <a:pt x="0" y="219075"/>
                </a:lnTo>
                <a:lnTo>
                  <a:pt x="0" y="0"/>
                </a:lnTo>
                <a:close/>
              </a:path>
            </a:pathLst>
          </a:custGeom>
          <a:blipFill>
            <a:blip r:embed="rId17"/>
            <a:stretch>
              <a:fillRect l="0" t="0" r="0" b="0"/>
            </a:stretch>
          </a:blipFill>
        </p:spPr>
      </p:sp>
      <p:sp>
        <p:nvSpPr>
          <p:cNvPr name="Freeform 25" id="25"/>
          <p:cNvSpPr/>
          <p:nvPr/>
        </p:nvSpPr>
        <p:spPr>
          <a:xfrm flipH="false" flipV="false" rot="0">
            <a:off x="9144000" y="5781675"/>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18"/>
            <a:stretch>
              <a:fillRect l="0" t="0" r="0" b="0"/>
            </a:stretch>
          </a:blipFill>
        </p:spPr>
      </p:sp>
      <p:sp>
        <p:nvSpPr>
          <p:cNvPr name="TextBox 26" id="26"/>
          <p:cNvSpPr txBox="true"/>
          <p:nvPr/>
        </p:nvSpPr>
        <p:spPr>
          <a:xfrm rot="0">
            <a:off x="10486506" y="6272213"/>
            <a:ext cx="7801494" cy="372984"/>
          </a:xfrm>
          <a:prstGeom prst="rect">
            <a:avLst/>
          </a:prstGeom>
        </p:spPr>
        <p:txBody>
          <a:bodyPr anchor="t" rtlCol="false" tIns="0" lIns="0" bIns="0" rIns="0">
            <a:spAutoFit/>
          </a:bodyPr>
          <a:lstStyle/>
          <a:p>
            <a:pPr algn="l">
              <a:lnSpc>
                <a:spcPts val="3061"/>
              </a:lnSpc>
            </a:pPr>
            <a:r>
              <a:rPr lang="en-US" sz="2186" spc="-43">
                <a:solidFill>
                  <a:srgbClr val="545454"/>
                </a:solidFill>
                <a:latin typeface="Roboto"/>
                <a:ea typeface="Roboto"/>
                <a:cs typeface="Roboto"/>
                <a:sym typeface="Roboto"/>
              </a:rPr>
              <a:t>tính điểm hệt 10 từ ba điểm thành phần và tỷ trọng tương ứng.</a:t>
            </a:r>
          </a:p>
        </p:txBody>
      </p:sp>
      <p:sp>
        <p:nvSpPr>
          <p:cNvPr name="Freeform 27" id="27"/>
          <p:cNvSpPr/>
          <p:nvPr/>
        </p:nvSpPr>
        <p:spPr>
          <a:xfrm flipH="false" flipV="false" rot="0">
            <a:off x="9144000" y="6858000"/>
            <a:ext cx="8496300" cy="219075"/>
          </a:xfrm>
          <a:custGeom>
            <a:avLst/>
            <a:gdLst/>
            <a:ahLst/>
            <a:cxnLst/>
            <a:rect r="r" b="b" t="t" l="l"/>
            <a:pathLst>
              <a:path h="219075" w="8496300">
                <a:moveTo>
                  <a:pt x="0" y="0"/>
                </a:moveTo>
                <a:lnTo>
                  <a:pt x="8496300" y="0"/>
                </a:lnTo>
                <a:lnTo>
                  <a:pt x="8496300" y="219075"/>
                </a:lnTo>
                <a:lnTo>
                  <a:pt x="0" y="219075"/>
                </a:lnTo>
                <a:lnTo>
                  <a:pt x="0" y="0"/>
                </a:lnTo>
                <a:close/>
              </a:path>
            </a:pathLst>
          </a:custGeom>
          <a:blipFill>
            <a:blip r:embed="rId19"/>
            <a:stretch>
              <a:fillRect l="0" t="0" r="0" b="0"/>
            </a:stretch>
          </a:blipFill>
        </p:spPr>
      </p:sp>
      <p:sp>
        <p:nvSpPr>
          <p:cNvPr name="Freeform 28" id="28"/>
          <p:cNvSpPr/>
          <p:nvPr/>
        </p:nvSpPr>
        <p:spPr>
          <a:xfrm flipH="false" flipV="false" rot="0">
            <a:off x="9144000" y="7067550"/>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20"/>
            <a:stretch>
              <a:fillRect l="0" t="0" r="0" b="0"/>
            </a:stretch>
          </a:blipFill>
        </p:spPr>
      </p:sp>
      <p:sp>
        <p:nvSpPr>
          <p:cNvPr name="TextBox 29" id="29"/>
          <p:cNvSpPr txBox="true"/>
          <p:nvPr/>
        </p:nvSpPr>
        <p:spPr>
          <a:xfrm rot="0">
            <a:off x="10489036" y="7582475"/>
            <a:ext cx="7515430" cy="399014"/>
          </a:xfrm>
          <a:prstGeom prst="rect">
            <a:avLst/>
          </a:prstGeom>
        </p:spPr>
        <p:txBody>
          <a:bodyPr anchor="t" rtlCol="false" tIns="0" lIns="0" bIns="0" rIns="0">
            <a:spAutoFit/>
          </a:bodyPr>
          <a:lstStyle/>
          <a:p>
            <a:pPr algn="l">
              <a:lnSpc>
                <a:spcPts val="3201"/>
              </a:lnSpc>
            </a:pPr>
            <a:r>
              <a:rPr lang="en-US" sz="2286" spc="-45">
                <a:solidFill>
                  <a:srgbClr val="545454"/>
                </a:solidFill>
                <a:latin typeface="Roboto"/>
                <a:ea typeface="Roboto"/>
                <a:cs typeface="Roboto"/>
                <a:sym typeface="Roboto"/>
              </a:rPr>
              <a:t>lấy đơn giá tín chỉ đang có hiệu lực theo học kỳ và ngày tính.</a:t>
            </a:r>
          </a:p>
        </p:txBody>
      </p:sp>
      <p:sp>
        <p:nvSpPr>
          <p:cNvPr name="Freeform 30" id="30"/>
          <p:cNvSpPr/>
          <p:nvPr/>
        </p:nvSpPr>
        <p:spPr>
          <a:xfrm flipH="false" flipV="false" rot="0">
            <a:off x="9144000" y="8143875"/>
            <a:ext cx="8496300" cy="219075"/>
          </a:xfrm>
          <a:custGeom>
            <a:avLst/>
            <a:gdLst/>
            <a:ahLst/>
            <a:cxnLst/>
            <a:rect r="r" b="b" t="t" l="l"/>
            <a:pathLst>
              <a:path h="219075" w="8496300">
                <a:moveTo>
                  <a:pt x="0" y="0"/>
                </a:moveTo>
                <a:lnTo>
                  <a:pt x="8496300" y="0"/>
                </a:lnTo>
                <a:lnTo>
                  <a:pt x="8496300" y="219075"/>
                </a:lnTo>
                <a:lnTo>
                  <a:pt x="0" y="219075"/>
                </a:lnTo>
                <a:lnTo>
                  <a:pt x="0" y="0"/>
                </a:lnTo>
                <a:close/>
              </a:path>
            </a:pathLst>
          </a:custGeom>
          <a:blipFill>
            <a:blip r:embed="rId21"/>
            <a:stretch>
              <a:fillRect l="0" t="0" r="0" b="0"/>
            </a:stretch>
          </a:blipFill>
        </p:spPr>
      </p:sp>
      <p:sp>
        <p:nvSpPr>
          <p:cNvPr name="Freeform 31" id="31"/>
          <p:cNvSpPr/>
          <p:nvPr/>
        </p:nvSpPr>
        <p:spPr>
          <a:xfrm flipH="false" flipV="false" rot="0">
            <a:off x="9144000" y="8353425"/>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22"/>
            <a:stretch>
              <a:fillRect l="0" t="0" r="0" b="0"/>
            </a:stretch>
          </a:blipFill>
        </p:spPr>
      </p:sp>
      <p:sp>
        <p:nvSpPr>
          <p:cNvPr name="TextBox 32" id="32"/>
          <p:cNvSpPr txBox="true"/>
          <p:nvPr/>
        </p:nvSpPr>
        <p:spPr>
          <a:xfrm rot="0">
            <a:off x="10504067" y="8953740"/>
            <a:ext cx="5935769" cy="399014"/>
          </a:xfrm>
          <a:prstGeom prst="rect">
            <a:avLst/>
          </a:prstGeom>
        </p:spPr>
        <p:txBody>
          <a:bodyPr anchor="t" rtlCol="false" tIns="0" lIns="0" bIns="0" rIns="0">
            <a:spAutoFit/>
          </a:bodyPr>
          <a:lstStyle/>
          <a:p>
            <a:pPr algn="l">
              <a:lnSpc>
                <a:spcPts val="3201"/>
              </a:lnSpc>
            </a:pPr>
            <a:r>
              <a:rPr lang="en-US" sz="2286" spc="-45">
                <a:solidFill>
                  <a:srgbClr val="545454"/>
                </a:solidFill>
                <a:latin typeface="Roboto"/>
                <a:ea typeface="Roboto"/>
                <a:cs typeface="Roboto"/>
                <a:sym typeface="Roboto"/>
              </a:rPr>
              <a:t>đếm sinh viên được gán với một lớp sinh hoạt.</a:t>
            </a:r>
          </a:p>
        </p:txBody>
      </p:sp>
      <p:sp>
        <p:nvSpPr>
          <p:cNvPr name="TextBox 33" id="33"/>
          <p:cNvSpPr txBox="true"/>
          <p:nvPr/>
        </p:nvSpPr>
        <p:spPr>
          <a:xfrm rot="0">
            <a:off x="10488819" y="5035840"/>
            <a:ext cx="7515647" cy="399014"/>
          </a:xfrm>
          <a:prstGeom prst="rect">
            <a:avLst/>
          </a:prstGeom>
        </p:spPr>
        <p:txBody>
          <a:bodyPr anchor="t" rtlCol="false" tIns="0" lIns="0" bIns="0" rIns="0">
            <a:spAutoFit/>
          </a:bodyPr>
          <a:lstStyle/>
          <a:p>
            <a:pPr algn="l">
              <a:lnSpc>
                <a:spcPts val="3201"/>
              </a:lnSpc>
            </a:pPr>
            <a:r>
              <a:rPr lang="en-US" sz="2286" spc="-45">
                <a:solidFill>
                  <a:srgbClr val="545454"/>
                </a:solidFill>
                <a:latin typeface="Roboto"/>
                <a:ea typeface="Roboto"/>
                <a:cs typeface="Roboto"/>
                <a:sym typeface="Roboto"/>
              </a:rPr>
              <a:t>cộng tín chỉ của các lượt đăng ký REGISTERED trong học kỳ.</a:t>
            </a:r>
          </a:p>
        </p:txBody>
      </p:sp>
      <p:sp>
        <p:nvSpPr>
          <p:cNvPr name="TextBox 34" id="34"/>
          <p:cNvSpPr txBox="true"/>
          <p:nvPr/>
        </p:nvSpPr>
        <p:spPr>
          <a:xfrm rot="0">
            <a:off x="2137173" y="5035840"/>
            <a:ext cx="5953007" cy="799064"/>
          </a:xfrm>
          <a:prstGeom prst="rect">
            <a:avLst/>
          </a:prstGeom>
        </p:spPr>
        <p:txBody>
          <a:bodyPr anchor="t" rtlCol="false" tIns="0" lIns="0" bIns="0" rIns="0">
            <a:spAutoFit/>
          </a:bodyPr>
          <a:lstStyle/>
          <a:p>
            <a:pPr algn="l">
              <a:lnSpc>
                <a:spcPts val="3201"/>
              </a:lnSpc>
            </a:pPr>
            <a:r>
              <a:rPr lang="en-US" sz="2286" spc="-45">
                <a:solidFill>
                  <a:srgbClr val="545454"/>
                </a:solidFill>
                <a:latin typeface="Roboto"/>
                <a:ea typeface="Roboto"/>
                <a:cs typeface="Roboto"/>
                <a:sym typeface="Roboto"/>
              </a:rPr>
              <a:t>kiểm tra sinh viên đã đạt các môn tiên quyết bắt buộc.</a:t>
            </a:r>
          </a:p>
        </p:txBody>
      </p:sp>
      <p:sp>
        <p:nvSpPr>
          <p:cNvPr name="TextBox 35" id="35"/>
          <p:cNvSpPr txBox="true"/>
          <p:nvPr/>
        </p:nvSpPr>
        <p:spPr>
          <a:xfrm rot="0">
            <a:off x="2196703" y="6284833"/>
            <a:ext cx="650974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FN_KiemTraThoiGianDangKy</a:t>
            </a:r>
          </a:p>
        </p:txBody>
      </p:sp>
      <p:sp>
        <p:nvSpPr>
          <p:cNvPr name="TextBox 36" id="36"/>
          <p:cNvSpPr txBox="true"/>
          <p:nvPr/>
        </p:nvSpPr>
        <p:spPr>
          <a:xfrm rot="0">
            <a:off x="10554891" y="8454747"/>
            <a:ext cx="709910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FN_DemSiSoLopSinhHoat</a:t>
            </a:r>
          </a:p>
        </p:txBody>
      </p:sp>
      <p:sp>
        <p:nvSpPr>
          <p:cNvPr name="TextBox 37" id="37"/>
          <p:cNvSpPr txBox="true"/>
          <p:nvPr/>
        </p:nvSpPr>
        <p:spPr>
          <a:xfrm rot="0">
            <a:off x="10554891" y="4536846"/>
            <a:ext cx="709910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FN_TongTinChiDangKy</a:t>
            </a:r>
          </a:p>
        </p:txBody>
      </p:sp>
      <p:sp>
        <p:nvSpPr>
          <p:cNvPr name="TextBox 38" id="38"/>
          <p:cNvSpPr txBox="true"/>
          <p:nvPr/>
        </p:nvSpPr>
        <p:spPr>
          <a:xfrm rot="0">
            <a:off x="2196703" y="4536846"/>
            <a:ext cx="650974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FN_KiemTraTienQuyet</a:t>
            </a:r>
          </a:p>
        </p:txBody>
      </p:sp>
      <p:sp>
        <p:nvSpPr>
          <p:cNvPr name="TextBox 39" id="39"/>
          <p:cNvSpPr txBox="true"/>
          <p:nvPr/>
        </p:nvSpPr>
        <p:spPr>
          <a:xfrm rot="0">
            <a:off x="10554891" y="7053344"/>
            <a:ext cx="709910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FN_LayDonGiaTinChi</a:t>
            </a:r>
          </a:p>
        </p:txBody>
      </p:sp>
      <p:sp>
        <p:nvSpPr>
          <p:cNvPr name="TextBox 40" id="40"/>
          <p:cNvSpPr txBox="true"/>
          <p:nvPr/>
        </p:nvSpPr>
        <p:spPr>
          <a:xfrm rot="0">
            <a:off x="10554891" y="5772492"/>
            <a:ext cx="7099102" cy="439803"/>
          </a:xfrm>
          <a:prstGeom prst="rect">
            <a:avLst/>
          </a:prstGeom>
        </p:spPr>
        <p:txBody>
          <a:bodyPr anchor="t" rtlCol="false" tIns="0" lIns="0" bIns="0" rIns="0">
            <a:spAutoFit/>
          </a:bodyPr>
          <a:lstStyle/>
          <a:p>
            <a:pPr algn="l">
              <a:lnSpc>
                <a:spcPts val="3577"/>
              </a:lnSpc>
            </a:pPr>
            <a:r>
              <a:rPr lang="en-US" sz="2554" spc="-51" b="true">
                <a:solidFill>
                  <a:srgbClr val="123562"/>
                </a:solidFill>
                <a:latin typeface="Roboto Bold"/>
                <a:ea typeface="Roboto Bold"/>
                <a:cs typeface="Roboto Bold"/>
                <a:sym typeface="Roboto Bold"/>
              </a:rPr>
              <a:t>FN_TinhDiemTongKet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685800" y="133350"/>
            <a:ext cx="13486901" cy="782725"/>
          </a:xfrm>
          <a:prstGeom prst="rect">
            <a:avLst/>
          </a:prstGeom>
        </p:spPr>
        <p:txBody>
          <a:bodyPr anchor="t" rtlCol="false" tIns="0" lIns="0" bIns="0" rIns="0">
            <a:spAutoFit/>
          </a:bodyPr>
          <a:lstStyle/>
          <a:p>
            <a:pPr algn="l">
              <a:lnSpc>
                <a:spcPts val="6466"/>
              </a:lnSpc>
            </a:pPr>
            <a:r>
              <a:rPr lang="en-US" b="true" sz="4400">
                <a:solidFill>
                  <a:srgbClr val="173A78"/>
                </a:solidFill>
                <a:latin typeface="Canva Sans Bold"/>
                <a:ea typeface="Canva Sans Bold"/>
                <a:cs typeface="Canva Sans Bold"/>
                <a:sym typeface="Canva Sans Bold"/>
              </a:rPr>
              <a:t>7. CÁC STORED PROCEDURES VÀ CÔNG DỤNG</a:t>
            </a:r>
          </a:p>
        </p:txBody>
      </p:sp>
      <p:sp>
        <p:nvSpPr>
          <p:cNvPr name="TextBox 4" id="4"/>
          <p:cNvSpPr txBox="true"/>
          <p:nvPr/>
        </p:nvSpPr>
        <p:spPr>
          <a:xfrm rot="0">
            <a:off x="647700" y="817187"/>
            <a:ext cx="13394531" cy="423026"/>
          </a:xfrm>
          <a:prstGeom prst="rect">
            <a:avLst/>
          </a:prstGeom>
        </p:spPr>
        <p:txBody>
          <a:bodyPr anchor="t" rtlCol="false" tIns="0" lIns="0" bIns="0" rIns="0">
            <a:spAutoFit/>
          </a:bodyPr>
          <a:lstStyle/>
          <a:p>
            <a:pPr algn="l">
              <a:lnSpc>
                <a:spcPts val="3509"/>
              </a:lnSpc>
            </a:pPr>
            <a:r>
              <a:rPr lang="en-US" sz="2387">
                <a:solidFill>
                  <a:srgbClr val="707989"/>
                </a:solidFill>
                <a:latin typeface="Canva Sans"/>
                <a:ea typeface="Canva Sans"/>
                <a:cs typeface="Canva Sans"/>
                <a:sym typeface="Canva Sans"/>
              </a:rPr>
              <a:t>9 stored procedure xử lý các nghiệp vụ học vụ, học phí và tài khoản.</a:t>
            </a:r>
          </a:p>
        </p:txBody>
      </p:sp>
      <p:sp>
        <p:nvSpPr>
          <p:cNvPr name="Freeform 5" id="5"/>
          <p:cNvSpPr/>
          <p:nvPr/>
        </p:nvSpPr>
        <p:spPr>
          <a:xfrm flipH="false" flipV="false" rot="0">
            <a:off x="647700" y="1285875"/>
            <a:ext cx="16992600" cy="219075"/>
          </a:xfrm>
          <a:custGeom>
            <a:avLst/>
            <a:gdLst/>
            <a:ahLst/>
            <a:cxnLst/>
            <a:rect r="r" b="b" t="t" l="l"/>
            <a:pathLst>
              <a:path h="219075" w="16992600">
                <a:moveTo>
                  <a:pt x="0" y="0"/>
                </a:moveTo>
                <a:lnTo>
                  <a:pt x="16992600" y="0"/>
                </a:lnTo>
                <a:lnTo>
                  <a:pt x="16992600" y="219075"/>
                </a:lnTo>
                <a:lnTo>
                  <a:pt x="0" y="219075"/>
                </a:lnTo>
                <a:lnTo>
                  <a:pt x="0" y="0"/>
                </a:lnTo>
                <a:close/>
              </a:path>
            </a:pathLst>
          </a:custGeom>
          <a:blipFill>
            <a:blip r:embed="rId3"/>
            <a:stretch>
              <a:fillRect l="0" t="0" r="0" b="0"/>
            </a:stretch>
          </a:blipFill>
        </p:spPr>
      </p:sp>
      <p:sp>
        <p:nvSpPr>
          <p:cNvPr name="Freeform 6" id="6"/>
          <p:cNvSpPr/>
          <p:nvPr/>
        </p:nvSpPr>
        <p:spPr>
          <a:xfrm flipH="false" flipV="false" rot="0">
            <a:off x="647700" y="1714500"/>
            <a:ext cx="8496300" cy="2571750"/>
          </a:xfrm>
          <a:custGeom>
            <a:avLst/>
            <a:gdLst/>
            <a:ahLst/>
            <a:cxnLst/>
            <a:rect r="r" b="b" t="t" l="l"/>
            <a:pathLst>
              <a:path h="2571750" w="8496300">
                <a:moveTo>
                  <a:pt x="0" y="0"/>
                </a:moveTo>
                <a:lnTo>
                  <a:pt x="8496300" y="0"/>
                </a:lnTo>
                <a:lnTo>
                  <a:pt x="8496300" y="2571750"/>
                </a:lnTo>
                <a:lnTo>
                  <a:pt x="0" y="2571750"/>
                </a:lnTo>
                <a:lnTo>
                  <a:pt x="0" y="0"/>
                </a:lnTo>
                <a:close/>
              </a:path>
            </a:pathLst>
          </a:custGeom>
          <a:blipFill>
            <a:blip r:embed="rId4"/>
            <a:stretch>
              <a:fillRect l="0" t="0" r="0" b="0"/>
            </a:stretch>
          </a:blipFill>
        </p:spPr>
      </p:sp>
      <p:sp>
        <p:nvSpPr>
          <p:cNvPr name="Freeform 7" id="7"/>
          <p:cNvSpPr/>
          <p:nvPr/>
        </p:nvSpPr>
        <p:spPr>
          <a:xfrm flipH="false" flipV="false" rot="0">
            <a:off x="866775" y="1924050"/>
            <a:ext cx="228600" cy="647700"/>
          </a:xfrm>
          <a:custGeom>
            <a:avLst/>
            <a:gdLst/>
            <a:ahLst/>
            <a:cxnLst/>
            <a:rect r="r" b="b" t="t" l="l"/>
            <a:pathLst>
              <a:path h="647700" w="228600">
                <a:moveTo>
                  <a:pt x="0" y="0"/>
                </a:moveTo>
                <a:lnTo>
                  <a:pt x="228600" y="0"/>
                </a:lnTo>
                <a:lnTo>
                  <a:pt x="228600" y="647700"/>
                </a:lnTo>
                <a:lnTo>
                  <a:pt x="0" y="647700"/>
                </a:lnTo>
                <a:lnTo>
                  <a:pt x="0" y="0"/>
                </a:lnTo>
                <a:close/>
              </a:path>
            </a:pathLst>
          </a:custGeom>
          <a:blipFill>
            <a:blip r:embed="rId5"/>
            <a:stretch>
              <a:fillRect l="0" t="0" r="0" b="0"/>
            </a:stretch>
          </a:blipFill>
        </p:spPr>
      </p:sp>
      <p:sp>
        <p:nvSpPr>
          <p:cNvPr name="TextBox 8" id="8"/>
          <p:cNvSpPr txBox="true"/>
          <p:nvPr/>
        </p:nvSpPr>
        <p:spPr>
          <a:xfrm rot="0">
            <a:off x="1104488" y="2809334"/>
            <a:ext cx="2065268"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SP_DangKyTinChi</a:t>
            </a:r>
          </a:p>
        </p:txBody>
      </p:sp>
      <p:sp>
        <p:nvSpPr>
          <p:cNvPr name="TextBox 9" id="9"/>
          <p:cNvSpPr txBox="true"/>
          <p:nvPr/>
        </p:nvSpPr>
        <p:spPr>
          <a:xfrm rot="0">
            <a:off x="4464223" y="2809334"/>
            <a:ext cx="3633968" cy="30083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kiểm tra điều kiện và ghi đăng ký.</a:t>
            </a:r>
          </a:p>
        </p:txBody>
      </p:sp>
      <p:sp>
        <p:nvSpPr>
          <p:cNvPr name="Freeform 10" id="10"/>
          <p:cNvSpPr/>
          <p:nvPr/>
        </p:nvSpPr>
        <p:spPr>
          <a:xfrm flipH="false" flipV="false" rot="0">
            <a:off x="866775" y="320992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6"/>
            <a:stretch>
              <a:fillRect l="0" t="0" r="0" b="0"/>
            </a:stretch>
          </a:blipFill>
        </p:spPr>
      </p:sp>
      <p:sp>
        <p:nvSpPr>
          <p:cNvPr name="TextBox 11" id="11"/>
          <p:cNvSpPr txBox="true"/>
          <p:nvPr/>
        </p:nvSpPr>
        <p:spPr>
          <a:xfrm rot="0">
            <a:off x="1107213" y="3592914"/>
            <a:ext cx="1792733"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SP_HuyDangKy</a:t>
            </a:r>
          </a:p>
        </p:txBody>
      </p:sp>
      <p:sp>
        <p:nvSpPr>
          <p:cNvPr name="TextBox 12" id="12"/>
          <p:cNvSpPr txBox="true"/>
          <p:nvPr/>
        </p:nvSpPr>
        <p:spPr>
          <a:xfrm rot="0">
            <a:off x="4469017" y="3592914"/>
            <a:ext cx="3154588" cy="30083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kiểm tra và hủy lượt đăng ký.</a:t>
            </a:r>
          </a:p>
        </p:txBody>
      </p:sp>
      <p:sp>
        <p:nvSpPr>
          <p:cNvPr name="Freeform 13" id="13"/>
          <p:cNvSpPr/>
          <p:nvPr/>
        </p:nvSpPr>
        <p:spPr>
          <a:xfrm flipH="false" flipV="false" rot="0">
            <a:off x="647700" y="4495800"/>
            <a:ext cx="8496300" cy="3009900"/>
          </a:xfrm>
          <a:custGeom>
            <a:avLst/>
            <a:gdLst/>
            <a:ahLst/>
            <a:cxnLst/>
            <a:rect r="r" b="b" t="t" l="l"/>
            <a:pathLst>
              <a:path h="3009900" w="8496300">
                <a:moveTo>
                  <a:pt x="0" y="0"/>
                </a:moveTo>
                <a:lnTo>
                  <a:pt x="8496300" y="0"/>
                </a:lnTo>
                <a:lnTo>
                  <a:pt x="8496300" y="3009900"/>
                </a:lnTo>
                <a:lnTo>
                  <a:pt x="0" y="3009900"/>
                </a:lnTo>
                <a:lnTo>
                  <a:pt x="0" y="0"/>
                </a:lnTo>
                <a:close/>
              </a:path>
            </a:pathLst>
          </a:custGeom>
          <a:blipFill>
            <a:blip r:embed="rId7"/>
            <a:stretch>
              <a:fillRect l="0" t="0" r="0" b="0"/>
            </a:stretch>
          </a:blipFill>
        </p:spPr>
      </p:sp>
      <p:sp>
        <p:nvSpPr>
          <p:cNvPr name="Freeform 14" id="14"/>
          <p:cNvSpPr/>
          <p:nvPr/>
        </p:nvSpPr>
        <p:spPr>
          <a:xfrm flipH="false" flipV="false" rot="0">
            <a:off x="866775" y="4924425"/>
            <a:ext cx="228600" cy="647700"/>
          </a:xfrm>
          <a:custGeom>
            <a:avLst/>
            <a:gdLst/>
            <a:ahLst/>
            <a:cxnLst/>
            <a:rect r="r" b="b" t="t" l="l"/>
            <a:pathLst>
              <a:path h="647700" w="228600">
                <a:moveTo>
                  <a:pt x="0" y="0"/>
                </a:moveTo>
                <a:lnTo>
                  <a:pt x="228600" y="0"/>
                </a:lnTo>
                <a:lnTo>
                  <a:pt x="228600" y="647700"/>
                </a:lnTo>
                <a:lnTo>
                  <a:pt x="0" y="647700"/>
                </a:lnTo>
                <a:lnTo>
                  <a:pt x="0" y="0"/>
                </a:lnTo>
                <a:close/>
              </a:path>
            </a:pathLst>
          </a:custGeom>
          <a:blipFill>
            <a:blip r:embed="rId8"/>
            <a:stretch>
              <a:fillRect l="0" t="0" r="0" b="0"/>
            </a:stretch>
          </a:blipFill>
        </p:spPr>
      </p:sp>
      <p:sp>
        <p:nvSpPr>
          <p:cNvPr name="TextBox 15" id="15"/>
          <p:cNvSpPr txBox="true"/>
          <p:nvPr/>
        </p:nvSpPr>
        <p:spPr>
          <a:xfrm rot="0">
            <a:off x="1105901" y="5913517"/>
            <a:ext cx="1923997"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SP_TaoTaiKhoan</a:t>
            </a:r>
          </a:p>
        </p:txBody>
      </p:sp>
      <p:sp>
        <p:nvSpPr>
          <p:cNvPr name="TextBox 16" id="16"/>
          <p:cNvSpPr txBox="true"/>
          <p:nvPr/>
        </p:nvSpPr>
        <p:spPr>
          <a:xfrm rot="0">
            <a:off x="4464223" y="5913517"/>
            <a:ext cx="4410490" cy="30083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tạo tài khoản, kiểm tra vai trò và liên kết.</a:t>
            </a:r>
          </a:p>
        </p:txBody>
      </p:sp>
      <p:sp>
        <p:nvSpPr>
          <p:cNvPr name="Freeform 17" id="17"/>
          <p:cNvSpPr/>
          <p:nvPr/>
        </p:nvSpPr>
        <p:spPr>
          <a:xfrm flipH="false" flipV="false" rot="0">
            <a:off x="866775" y="642937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9"/>
            <a:stretch>
              <a:fillRect l="0" t="0" r="0" b="0"/>
            </a:stretch>
          </a:blipFill>
        </p:spPr>
      </p:sp>
      <p:sp>
        <p:nvSpPr>
          <p:cNvPr name="TextBox 18" id="18"/>
          <p:cNvSpPr txBox="true"/>
          <p:nvPr/>
        </p:nvSpPr>
        <p:spPr>
          <a:xfrm rot="0">
            <a:off x="1104268" y="6772441"/>
            <a:ext cx="2087283"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SP_KhoaTaiKhoan</a:t>
            </a:r>
          </a:p>
        </p:txBody>
      </p:sp>
      <p:sp>
        <p:nvSpPr>
          <p:cNvPr name="TextBox 19" id="19"/>
          <p:cNvSpPr txBox="true"/>
          <p:nvPr/>
        </p:nvSpPr>
        <p:spPr>
          <a:xfrm rot="0">
            <a:off x="4464223" y="6636147"/>
            <a:ext cx="2927141" cy="62468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khóa tài khoản theo quyền.</a:t>
            </a:r>
          </a:p>
        </p:txBody>
      </p:sp>
      <p:sp>
        <p:nvSpPr>
          <p:cNvPr name="Freeform 20" id="20"/>
          <p:cNvSpPr/>
          <p:nvPr/>
        </p:nvSpPr>
        <p:spPr>
          <a:xfrm flipH="false" flipV="false" rot="0">
            <a:off x="9144000" y="1714500"/>
            <a:ext cx="8496300" cy="5791200"/>
          </a:xfrm>
          <a:custGeom>
            <a:avLst/>
            <a:gdLst/>
            <a:ahLst/>
            <a:cxnLst/>
            <a:rect r="r" b="b" t="t" l="l"/>
            <a:pathLst>
              <a:path h="5791200" w="8496300">
                <a:moveTo>
                  <a:pt x="0" y="0"/>
                </a:moveTo>
                <a:lnTo>
                  <a:pt x="8496300" y="0"/>
                </a:lnTo>
                <a:lnTo>
                  <a:pt x="8496300" y="5791200"/>
                </a:lnTo>
                <a:lnTo>
                  <a:pt x="0" y="5791200"/>
                </a:lnTo>
                <a:lnTo>
                  <a:pt x="0" y="0"/>
                </a:lnTo>
                <a:close/>
              </a:path>
            </a:pathLst>
          </a:custGeom>
          <a:blipFill>
            <a:blip r:embed="rId10"/>
            <a:stretch>
              <a:fillRect l="0" t="0" r="0" b="0"/>
            </a:stretch>
          </a:blipFill>
        </p:spPr>
      </p:sp>
      <p:sp>
        <p:nvSpPr>
          <p:cNvPr name="Freeform 21" id="21"/>
          <p:cNvSpPr/>
          <p:nvPr/>
        </p:nvSpPr>
        <p:spPr>
          <a:xfrm flipH="false" flipV="false" rot="0">
            <a:off x="9353550" y="1924050"/>
            <a:ext cx="447675" cy="647700"/>
          </a:xfrm>
          <a:custGeom>
            <a:avLst/>
            <a:gdLst/>
            <a:ahLst/>
            <a:cxnLst/>
            <a:rect r="r" b="b" t="t" l="l"/>
            <a:pathLst>
              <a:path h="647700" w="447675">
                <a:moveTo>
                  <a:pt x="0" y="0"/>
                </a:moveTo>
                <a:lnTo>
                  <a:pt x="447675" y="0"/>
                </a:lnTo>
                <a:lnTo>
                  <a:pt x="447675" y="647700"/>
                </a:lnTo>
                <a:lnTo>
                  <a:pt x="0" y="647700"/>
                </a:lnTo>
                <a:lnTo>
                  <a:pt x="0" y="0"/>
                </a:lnTo>
                <a:close/>
              </a:path>
            </a:pathLst>
          </a:custGeom>
          <a:blipFill>
            <a:blip r:embed="rId11"/>
            <a:stretch>
              <a:fillRect l="0" t="0" r="0" b="0"/>
            </a:stretch>
          </a:blipFill>
        </p:spPr>
      </p:sp>
      <p:sp>
        <p:nvSpPr>
          <p:cNvPr name="TextBox 22" id="22"/>
          <p:cNvSpPr txBox="true"/>
          <p:nvPr/>
        </p:nvSpPr>
        <p:spPr>
          <a:xfrm rot="0">
            <a:off x="9798436" y="1966641"/>
            <a:ext cx="3315030" cy="377524"/>
          </a:xfrm>
          <a:prstGeom prst="rect">
            <a:avLst/>
          </a:prstGeom>
        </p:spPr>
        <p:txBody>
          <a:bodyPr anchor="t" rtlCol="false" tIns="0" lIns="0" bIns="0" rIns="0">
            <a:spAutoFit/>
          </a:bodyPr>
          <a:lstStyle/>
          <a:p>
            <a:pPr algn="l">
              <a:lnSpc>
                <a:spcPts val="3009"/>
              </a:lnSpc>
            </a:pPr>
            <a:r>
              <a:rPr lang="en-US" b="true" sz="2047">
                <a:solidFill>
                  <a:srgbClr val="1F407A"/>
                </a:solidFill>
                <a:latin typeface="Canva Sans Bold"/>
                <a:ea typeface="Canva Sans Bold"/>
                <a:cs typeface="Canva Sans Bold"/>
                <a:sym typeface="Canva Sans Bold"/>
              </a:rPr>
              <a:t>HỌC PHÍ &amp; THANH TOÁN</a:t>
            </a:r>
          </a:p>
        </p:txBody>
      </p:sp>
      <p:sp>
        <p:nvSpPr>
          <p:cNvPr name="TextBox 23" id="23"/>
          <p:cNvSpPr txBox="true"/>
          <p:nvPr/>
        </p:nvSpPr>
        <p:spPr>
          <a:xfrm rot="0">
            <a:off x="9589265" y="2749059"/>
            <a:ext cx="2800821"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 SP_TinhHocPhiSinhVien</a:t>
            </a:r>
          </a:p>
        </p:txBody>
      </p:sp>
      <p:sp>
        <p:nvSpPr>
          <p:cNvPr name="TextBox 24" id="24"/>
          <p:cNvSpPr txBox="true"/>
          <p:nvPr/>
        </p:nvSpPr>
        <p:spPr>
          <a:xfrm rot="0">
            <a:off x="13437201" y="2718499"/>
            <a:ext cx="3440309" cy="62468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lập học phí từ tin chỉ và đơn giá.</a:t>
            </a:r>
          </a:p>
        </p:txBody>
      </p:sp>
      <p:sp>
        <p:nvSpPr>
          <p:cNvPr name="Freeform 25" id="25"/>
          <p:cNvSpPr/>
          <p:nvPr/>
        </p:nvSpPr>
        <p:spPr>
          <a:xfrm flipH="false" flipV="false" rot="0">
            <a:off x="9353550" y="3429000"/>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12"/>
            <a:stretch>
              <a:fillRect l="0" t="0" r="0" b="0"/>
            </a:stretch>
          </a:blipFill>
        </p:spPr>
      </p:sp>
      <p:sp>
        <p:nvSpPr>
          <p:cNvPr name="TextBox 26" id="26"/>
          <p:cNvSpPr txBox="true"/>
          <p:nvPr/>
        </p:nvSpPr>
        <p:spPr>
          <a:xfrm rot="0">
            <a:off x="9594702" y="3818947"/>
            <a:ext cx="2257162"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SP_ThongKeHocPhi</a:t>
            </a:r>
          </a:p>
        </p:txBody>
      </p:sp>
      <p:sp>
        <p:nvSpPr>
          <p:cNvPr name="TextBox 27" id="27"/>
          <p:cNvSpPr txBox="true"/>
          <p:nvPr/>
        </p:nvSpPr>
        <p:spPr>
          <a:xfrm rot="0">
            <a:off x="13437201" y="3849085"/>
            <a:ext cx="3769706" cy="30083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thống kê theo học kỳ và trạng thái.</a:t>
            </a:r>
          </a:p>
        </p:txBody>
      </p:sp>
      <p:sp>
        <p:nvSpPr>
          <p:cNvPr name="Freeform 28" id="28"/>
          <p:cNvSpPr/>
          <p:nvPr/>
        </p:nvSpPr>
        <p:spPr>
          <a:xfrm flipH="false" flipV="false" rot="0">
            <a:off x="9353550" y="4495800"/>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13"/>
            <a:stretch>
              <a:fillRect l="0" t="0" r="0" b="0"/>
            </a:stretch>
          </a:blipFill>
        </p:spPr>
      </p:sp>
      <p:sp>
        <p:nvSpPr>
          <p:cNvPr name="TextBox 29" id="29"/>
          <p:cNvSpPr txBox="true"/>
          <p:nvPr/>
        </p:nvSpPr>
        <p:spPr>
          <a:xfrm rot="0">
            <a:off x="9585058" y="4888835"/>
            <a:ext cx="3221575"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SP_ThongKeHocPhiTheoLop</a:t>
            </a:r>
          </a:p>
        </p:txBody>
      </p:sp>
      <p:sp>
        <p:nvSpPr>
          <p:cNvPr name="TextBox 30" id="30"/>
          <p:cNvSpPr txBox="true"/>
          <p:nvPr/>
        </p:nvSpPr>
        <p:spPr>
          <a:xfrm rot="0">
            <a:off x="13455168" y="4888835"/>
            <a:ext cx="1973089" cy="30083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thống kê theo lớp.</a:t>
            </a:r>
          </a:p>
        </p:txBody>
      </p:sp>
      <p:sp>
        <p:nvSpPr>
          <p:cNvPr name="Freeform 31" id="31"/>
          <p:cNvSpPr/>
          <p:nvPr/>
        </p:nvSpPr>
        <p:spPr>
          <a:xfrm flipH="false" flipV="false" rot="0">
            <a:off x="9353550" y="557212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14"/>
            <a:stretch>
              <a:fillRect l="0" t="0" r="0" b="0"/>
            </a:stretch>
          </a:blipFill>
        </p:spPr>
      </p:sp>
      <p:sp>
        <p:nvSpPr>
          <p:cNvPr name="TextBox 32" id="32"/>
          <p:cNvSpPr txBox="true"/>
          <p:nvPr/>
        </p:nvSpPr>
        <p:spPr>
          <a:xfrm rot="0">
            <a:off x="9589986" y="5913517"/>
            <a:ext cx="2728773"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SP_XacNhanThanhToan</a:t>
            </a:r>
          </a:p>
        </p:txBody>
      </p:sp>
      <p:sp>
        <p:nvSpPr>
          <p:cNvPr name="Freeform 33" id="33"/>
          <p:cNvSpPr/>
          <p:nvPr/>
        </p:nvSpPr>
        <p:spPr>
          <a:xfrm flipH="false" flipV="false" rot="0">
            <a:off x="9353550" y="6429375"/>
            <a:ext cx="8067675" cy="219075"/>
          </a:xfrm>
          <a:custGeom>
            <a:avLst/>
            <a:gdLst/>
            <a:ahLst/>
            <a:cxnLst/>
            <a:rect r="r" b="b" t="t" l="l"/>
            <a:pathLst>
              <a:path h="219075" w="8067675">
                <a:moveTo>
                  <a:pt x="0" y="0"/>
                </a:moveTo>
                <a:lnTo>
                  <a:pt x="8067675" y="0"/>
                </a:lnTo>
                <a:lnTo>
                  <a:pt x="8067675" y="219075"/>
                </a:lnTo>
                <a:lnTo>
                  <a:pt x="0" y="219075"/>
                </a:lnTo>
                <a:lnTo>
                  <a:pt x="0" y="0"/>
                </a:lnTo>
                <a:close/>
              </a:path>
            </a:pathLst>
          </a:custGeom>
          <a:blipFill>
            <a:blip r:embed="rId15"/>
            <a:stretch>
              <a:fillRect l="0" t="0" r="0" b="0"/>
            </a:stretch>
          </a:blipFill>
        </p:spPr>
      </p:sp>
      <p:sp>
        <p:nvSpPr>
          <p:cNvPr name="TextBox 34" id="34"/>
          <p:cNvSpPr txBox="true"/>
          <p:nvPr/>
        </p:nvSpPr>
        <p:spPr>
          <a:xfrm rot="0">
            <a:off x="9592359" y="6772441"/>
            <a:ext cx="2491437" cy="300832"/>
          </a:xfrm>
          <a:prstGeom prst="rect">
            <a:avLst/>
          </a:prstGeom>
        </p:spPr>
        <p:txBody>
          <a:bodyPr anchor="t" rtlCol="false" tIns="0" lIns="0" bIns="0" rIns="0">
            <a:spAutoFit/>
          </a:bodyPr>
          <a:lstStyle/>
          <a:p>
            <a:pPr algn="l">
              <a:lnSpc>
                <a:spcPts val="2622"/>
              </a:lnSpc>
            </a:pPr>
            <a:r>
              <a:rPr lang="en-US" sz="1784" b="true">
                <a:solidFill>
                  <a:srgbClr val="5381C0"/>
                </a:solidFill>
                <a:latin typeface="Canva Sans Bold"/>
                <a:ea typeface="Canva Sans Bold"/>
                <a:cs typeface="Canva Sans Bold"/>
                <a:sym typeface="Canva Sans Bold"/>
              </a:rPr>
              <a:t>SP_TuChoiThanhToan</a:t>
            </a:r>
          </a:p>
        </p:txBody>
      </p:sp>
      <p:sp>
        <p:nvSpPr>
          <p:cNvPr name="TextBox 35" id="35"/>
          <p:cNvSpPr txBox="true"/>
          <p:nvPr/>
        </p:nvSpPr>
        <p:spPr>
          <a:xfrm rot="0">
            <a:off x="13437201" y="6636147"/>
            <a:ext cx="2775863" cy="62468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từ chối khoản thanh toán.</a:t>
            </a:r>
          </a:p>
        </p:txBody>
      </p:sp>
      <p:sp>
        <p:nvSpPr>
          <p:cNvPr name="Freeform 36" id="36"/>
          <p:cNvSpPr/>
          <p:nvPr/>
        </p:nvSpPr>
        <p:spPr>
          <a:xfrm flipH="false" flipV="false" rot="0">
            <a:off x="647700" y="8143875"/>
            <a:ext cx="16992600" cy="1504950"/>
          </a:xfrm>
          <a:custGeom>
            <a:avLst/>
            <a:gdLst/>
            <a:ahLst/>
            <a:cxnLst/>
            <a:rect r="r" b="b" t="t" l="l"/>
            <a:pathLst>
              <a:path h="1504950" w="16992600">
                <a:moveTo>
                  <a:pt x="0" y="0"/>
                </a:moveTo>
                <a:lnTo>
                  <a:pt x="16992600" y="0"/>
                </a:lnTo>
                <a:lnTo>
                  <a:pt x="16992600" y="1504950"/>
                </a:lnTo>
                <a:lnTo>
                  <a:pt x="0" y="1504950"/>
                </a:lnTo>
                <a:lnTo>
                  <a:pt x="0" y="0"/>
                </a:lnTo>
                <a:close/>
              </a:path>
            </a:pathLst>
          </a:custGeom>
          <a:blipFill>
            <a:blip r:embed="rId16"/>
            <a:stretch>
              <a:fillRect l="0" t="0" r="0" b="0"/>
            </a:stretch>
          </a:blipFill>
        </p:spPr>
      </p:sp>
      <p:sp>
        <p:nvSpPr>
          <p:cNvPr name="Freeform 37" id="37"/>
          <p:cNvSpPr/>
          <p:nvPr/>
        </p:nvSpPr>
        <p:spPr>
          <a:xfrm flipH="false" flipV="false" rot="0">
            <a:off x="866775" y="8353425"/>
            <a:ext cx="228600" cy="1076325"/>
          </a:xfrm>
          <a:custGeom>
            <a:avLst/>
            <a:gdLst/>
            <a:ahLst/>
            <a:cxnLst/>
            <a:rect r="r" b="b" t="t" l="l"/>
            <a:pathLst>
              <a:path h="1076325" w="228600">
                <a:moveTo>
                  <a:pt x="0" y="0"/>
                </a:moveTo>
                <a:lnTo>
                  <a:pt x="228600" y="0"/>
                </a:lnTo>
                <a:lnTo>
                  <a:pt x="228600" y="1076325"/>
                </a:lnTo>
                <a:lnTo>
                  <a:pt x="0" y="1076325"/>
                </a:lnTo>
                <a:lnTo>
                  <a:pt x="0" y="0"/>
                </a:lnTo>
                <a:close/>
              </a:path>
            </a:pathLst>
          </a:custGeom>
          <a:blipFill>
            <a:blip r:embed="rId17"/>
            <a:stretch>
              <a:fillRect l="0" t="0" r="0" b="0"/>
            </a:stretch>
          </a:blipFill>
        </p:spPr>
      </p:sp>
      <p:sp>
        <p:nvSpPr>
          <p:cNvPr name="TextBox 38" id="38"/>
          <p:cNvSpPr txBox="true"/>
          <p:nvPr/>
        </p:nvSpPr>
        <p:spPr>
          <a:xfrm rot="0">
            <a:off x="866775" y="8715375"/>
            <a:ext cx="12014887" cy="377524"/>
          </a:xfrm>
          <a:prstGeom prst="rect">
            <a:avLst/>
          </a:prstGeom>
        </p:spPr>
        <p:txBody>
          <a:bodyPr anchor="t" rtlCol="false" tIns="0" lIns="0" bIns="0" rIns="0">
            <a:spAutoFit/>
          </a:bodyPr>
          <a:lstStyle/>
          <a:p>
            <a:pPr algn="ctr">
              <a:lnSpc>
                <a:spcPts val="3009"/>
              </a:lnSpc>
            </a:pPr>
            <a:r>
              <a:rPr lang="en-US" b="true" sz="2047">
                <a:solidFill>
                  <a:srgbClr val="1F407A"/>
                </a:solidFill>
                <a:latin typeface="Canva Sans Bold"/>
                <a:ea typeface="Canva Sans Bold"/>
                <a:cs typeface="Canva Sans Bold"/>
                <a:sym typeface="Canva Sans Bold"/>
              </a:rPr>
              <a:t>SP_DangKyTinChi: đủ điều kiện → COMMIT → lưu đăng ký; có lỗi → ROLLBACK → không lưu.</a:t>
            </a:r>
          </a:p>
        </p:txBody>
      </p:sp>
      <p:sp>
        <p:nvSpPr>
          <p:cNvPr name="TextBox 39" id="39"/>
          <p:cNvSpPr txBox="true"/>
          <p:nvPr/>
        </p:nvSpPr>
        <p:spPr>
          <a:xfrm rot="0">
            <a:off x="13444863" y="5913517"/>
            <a:ext cx="3003546" cy="300832"/>
          </a:xfrm>
          <a:prstGeom prst="rect">
            <a:avLst/>
          </a:prstGeom>
        </p:spPr>
        <p:txBody>
          <a:bodyPr anchor="t" rtlCol="false" tIns="0" lIns="0" bIns="0" rIns="0">
            <a:spAutoFit/>
          </a:bodyPr>
          <a:lstStyle/>
          <a:p>
            <a:pPr algn="l">
              <a:lnSpc>
                <a:spcPts val="2622"/>
              </a:lnSpc>
            </a:pPr>
            <a:r>
              <a:rPr lang="en-US" sz="1784">
                <a:solidFill>
                  <a:srgbClr val="425162"/>
                </a:solidFill>
                <a:latin typeface="Canva Sans"/>
                <a:ea typeface="Canva Sans"/>
                <a:cs typeface="Canva Sans"/>
                <a:sym typeface="Canva Sans"/>
              </a:rPr>
              <a:t>xác nhận khoản thanh toán.</a:t>
            </a:r>
          </a:p>
        </p:txBody>
      </p:sp>
      <p:sp>
        <p:nvSpPr>
          <p:cNvPr name="TextBox 40" id="40"/>
          <p:cNvSpPr txBox="true"/>
          <p:nvPr/>
        </p:nvSpPr>
        <p:spPr>
          <a:xfrm rot="0">
            <a:off x="1243770" y="5055755"/>
            <a:ext cx="1531629" cy="377524"/>
          </a:xfrm>
          <a:prstGeom prst="rect">
            <a:avLst/>
          </a:prstGeom>
        </p:spPr>
        <p:txBody>
          <a:bodyPr anchor="t" rtlCol="false" tIns="0" lIns="0" bIns="0" rIns="0">
            <a:spAutoFit/>
          </a:bodyPr>
          <a:lstStyle/>
          <a:p>
            <a:pPr algn="l">
              <a:lnSpc>
                <a:spcPts val="3009"/>
              </a:lnSpc>
            </a:pPr>
            <a:r>
              <a:rPr lang="en-US" b="true" sz="2047">
                <a:solidFill>
                  <a:srgbClr val="1F407A"/>
                </a:solidFill>
                <a:latin typeface="Canva Sans Bold"/>
                <a:ea typeface="Canva Sans Bold"/>
                <a:cs typeface="Canva Sans Bold"/>
                <a:sym typeface="Canva Sans Bold"/>
              </a:rPr>
              <a:t>TÀI KHOẢN</a:t>
            </a:r>
          </a:p>
        </p:txBody>
      </p:sp>
      <p:sp>
        <p:nvSpPr>
          <p:cNvPr name="TextBox 41" id="41"/>
          <p:cNvSpPr txBox="true"/>
          <p:nvPr/>
        </p:nvSpPr>
        <p:spPr>
          <a:xfrm rot="0">
            <a:off x="1248494" y="2026916"/>
            <a:ext cx="1059163" cy="377524"/>
          </a:xfrm>
          <a:prstGeom prst="rect">
            <a:avLst/>
          </a:prstGeom>
        </p:spPr>
        <p:txBody>
          <a:bodyPr anchor="t" rtlCol="false" tIns="0" lIns="0" bIns="0" rIns="0">
            <a:spAutoFit/>
          </a:bodyPr>
          <a:lstStyle/>
          <a:p>
            <a:pPr algn="l">
              <a:lnSpc>
                <a:spcPts val="3009"/>
              </a:lnSpc>
            </a:pPr>
            <a:r>
              <a:rPr lang="en-US" b="true" sz="2047">
                <a:solidFill>
                  <a:srgbClr val="1F407A"/>
                </a:solidFill>
                <a:latin typeface="Canva Sans Bold"/>
                <a:ea typeface="Canva Sans Bold"/>
                <a:cs typeface="Canva Sans Bold"/>
                <a:sym typeface="Canva Sans Bold"/>
              </a:rPr>
              <a:t>HỌC VỤ</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47700" y="238125"/>
            <a:ext cx="16992600" cy="755015"/>
          </a:xfrm>
          <a:prstGeom prst="rect">
            <a:avLst/>
          </a:prstGeom>
        </p:spPr>
        <p:txBody>
          <a:bodyPr anchor="t" rtlCol="false" tIns="0" lIns="0" bIns="0" rIns="0">
            <a:spAutoFit/>
          </a:bodyPr>
          <a:lstStyle/>
          <a:p>
            <a:pPr algn="l">
              <a:lnSpc>
                <a:spcPts val="6160"/>
              </a:lnSpc>
            </a:pPr>
            <a:r>
              <a:rPr lang="en-US" sz="4400" b="true">
                <a:solidFill>
                  <a:srgbClr val="173A78"/>
                </a:solidFill>
                <a:latin typeface="Canva Sans Bold"/>
                <a:ea typeface="Canva Sans Bold"/>
                <a:cs typeface="Canva Sans Bold"/>
                <a:sym typeface="Canva Sans Bold"/>
              </a:rPr>
              <a:t>8. CÁC NGHIỆP VỤ SỬ DỤNG TRANSACTION</a:t>
            </a:r>
          </a:p>
        </p:txBody>
      </p:sp>
      <p:sp>
        <p:nvSpPr>
          <p:cNvPr name="TextBox 3" id="3"/>
          <p:cNvSpPr txBox="true"/>
          <p:nvPr/>
        </p:nvSpPr>
        <p:spPr>
          <a:xfrm rot="0">
            <a:off x="647700" y="1019175"/>
            <a:ext cx="16992600" cy="422276"/>
          </a:xfrm>
          <a:prstGeom prst="rect">
            <a:avLst/>
          </a:prstGeom>
        </p:spPr>
        <p:txBody>
          <a:bodyPr anchor="t" rtlCol="false" tIns="0" lIns="0" bIns="0" rIns="0">
            <a:spAutoFit/>
          </a:bodyPr>
          <a:lstStyle/>
          <a:p>
            <a:pPr algn="l">
              <a:lnSpc>
                <a:spcPts val="3499"/>
              </a:lnSpc>
            </a:pPr>
            <a:r>
              <a:rPr lang="en-US" sz="2499">
                <a:solidFill>
                  <a:srgbClr val="545E68"/>
                </a:solidFill>
                <a:latin typeface="Canva Sans"/>
                <a:ea typeface="Canva Sans"/>
                <a:cs typeface="Canva Sans"/>
                <a:sym typeface="Canva Sans"/>
              </a:rPr>
              <a:t>Mỗi nghiệp vụ chạy trong một giao dịch: hoàn tất thì COMMIT, phát sinh lỗi thì ROLLBACK.</a:t>
            </a:r>
          </a:p>
        </p:txBody>
      </p:sp>
      <p:sp>
        <p:nvSpPr>
          <p:cNvPr name="AutoShape 4" id="4"/>
          <p:cNvSpPr/>
          <p:nvPr/>
        </p:nvSpPr>
        <p:spPr>
          <a:xfrm>
            <a:off x="647700" y="1600200"/>
            <a:ext cx="16992600" cy="0"/>
          </a:xfrm>
          <a:prstGeom prst="line">
            <a:avLst/>
          </a:prstGeom>
          <a:ln cap="flat" w="19050">
            <a:solidFill>
              <a:srgbClr val="3469AD"/>
            </a:solidFill>
            <a:prstDash val="solid"/>
            <a:headEnd type="none" len="sm" w="sm"/>
            <a:tailEnd type="none" len="sm" w="sm"/>
          </a:ln>
        </p:spPr>
      </p:sp>
      <p:grpSp>
        <p:nvGrpSpPr>
          <p:cNvPr name="Group 5" id="5"/>
          <p:cNvGrpSpPr/>
          <p:nvPr/>
        </p:nvGrpSpPr>
        <p:grpSpPr>
          <a:xfrm rot="0">
            <a:off x="647700" y="1924050"/>
            <a:ext cx="16992600" cy="1066800"/>
            <a:chOff x="0" y="0"/>
            <a:chExt cx="22656800" cy="1422400"/>
          </a:xfrm>
        </p:grpSpPr>
        <p:sp>
          <p:nvSpPr>
            <p:cNvPr name="Freeform 6" id="6"/>
            <p:cNvSpPr/>
            <p:nvPr/>
          </p:nvSpPr>
          <p:spPr>
            <a:xfrm flipH="false" flipV="false" rot="0">
              <a:off x="0" y="0"/>
              <a:ext cx="22656800" cy="1422400"/>
            </a:xfrm>
            <a:custGeom>
              <a:avLst/>
              <a:gdLst/>
              <a:ahLst/>
              <a:cxnLst/>
              <a:rect r="r" b="b" t="t" l="l"/>
              <a:pathLst>
                <a:path h="1422400" w="22656800">
                  <a:moveTo>
                    <a:pt x="177800" y="0"/>
                  </a:moveTo>
                  <a:lnTo>
                    <a:pt x="22479000" y="0"/>
                  </a:lnTo>
                  <a:cubicBezTo>
                    <a:pt x="22577196" y="0"/>
                    <a:pt x="22656800" y="79604"/>
                    <a:pt x="22656800" y="177800"/>
                  </a:cubicBezTo>
                  <a:lnTo>
                    <a:pt x="22656800" y="1244600"/>
                  </a:lnTo>
                  <a:cubicBezTo>
                    <a:pt x="22656800" y="1342796"/>
                    <a:pt x="22577196" y="1422400"/>
                    <a:pt x="22479000" y="1422400"/>
                  </a:cubicBezTo>
                  <a:lnTo>
                    <a:pt x="177800" y="1422400"/>
                  </a:lnTo>
                  <a:cubicBezTo>
                    <a:pt x="79604" y="1422400"/>
                    <a:pt x="0" y="1342796"/>
                    <a:pt x="0" y="1244600"/>
                  </a:cubicBezTo>
                  <a:lnTo>
                    <a:pt x="0" y="177800"/>
                  </a:lnTo>
                  <a:cubicBezTo>
                    <a:pt x="0" y="79604"/>
                    <a:pt x="79604" y="0"/>
                    <a:pt x="177800" y="0"/>
                  </a:cubicBezTo>
                  <a:close/>
                </a:path>
              </a:pathLst>
            </a:custGeom>
            <a:solidFill>
              <a:srgbClr val="FFFFFF"/>
            </a:solidFill>
            <a:ln w="14288" cap="sq">
              <a:solidFill>
                <a:srgbClr val="C9D8E8"/>
              </a:solidFill>
              <a:prstDash val="solid"/>
              <a:miter/>
            </a:ln>
          </p:spPr>
        </p:sp>
        <p:sp>
          <p:nvSpPr>
            <p:cNvPr name="TextBox 7" id="7"/>
            <p:cNvSpPr txBox="true"/>
            <p:nvPr/>
          </p:nvSpPr>
          <p:spPr>
            <a:xfrm>
              <a:off x="0" y="-38100"/>
              <a:ext cx="22656800" cy="1460500"/>
            </a:xfrm>
            <a:prstGeom prst="rect">
              <a:avLst/>
            </a:prstGeom>
          </p:spPr>
          <p:txBody>
            <a:bodyPr anchor="ctr" rtlCol="false" tIns="50800" lIns="50800" bIns="50800" rIns="50800"/>
            <a:lstStyle/>
            <a:p>
              <a:pPr algn="l">
                <a:lnSpc>
                  <a:spcPts val="2939"/>
                </a:lnSpc>
              </a:pPr>
            </a:p>
          </p:txBody>
        </p:sp>
      </p:grpSp>
      <p:grpSp>
        <p:nvGrpSpPr>
          <p:cNvPr name="Group 8" id="8"/>
          <p:cNvGrpSpPr/>
          <p:nvPr/>
        </p:nvGrpSpPr>
        <p:grpSpPr>
          <a:xfrm rot="0">
            <a:off x="857250" y="2200275"/>
            <a:ext cx="514350" cy="514350"/>
            <a:chOff x="0" y="0"/>
            <a:chExt cx="685800" cy="685800"/>
          </a:xfrm>
        </p:grpSpPr>
        <p:sp>
          <p:nvSpPr>
            <p:cNvPr name="Freeform 9" id="9"/>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3469AD"/>
            </a:solidFill>
          </p:spPr>
        </p:sp>
        <p:sp>
          <p:nvSpPr>
            <p:cNvPr name="TextBox 10" id="10"/>
            <p:cNvSpPr txBox="true"/>
            <p:nvPr/>
          </p:nvSpPr>
          <p:spPr>
            <a:xfrm>
              <a:off x="0" y="-38100"/>
              <a:ext cx="685800" cy="723900"/>
            </a:xfrm>
            <a:prstGeom prst="rect">
              <a:avLst/>
            </a:prstGeom>
          </p:spPr>
          <p:txBody>
            <a:bodyPr anchor="ctr" rtlCol="false" tIns="50800" lIns="50800" bIns="50800" rIns="50800"/>
            <a:lstStyle/>
            <a:p>
              <a:pPr algn="l">
                <a:lnSpc>
                  <a:spcPts val="2939"/>
                </a:lnSpc>
              </a:pPr>
            </a:p>
          </p:txBody>
        </p:sp>
      </p:grpSp>
      <p:sp>
        <p:nvSpPr>
          <p:cNvPr name="TextBox 11" id="11"/>
          <p:cNvSpPr txBox="true"/>
          <p:nvPr/>
        </p:nvSpPr>
        <p:spPr>
          <a:xfrm rot="0">
            <a:off x="857250" y="2219325"/>
            <a:ext cx="514350" cy="464821"/>
          </a:xfrm>
          <a:prstGeom prst="rect">
            <a:avLst/>
          </a:prstGeom>
        </p:spPr>
        <p:txBody>
          <a:bodyPr anchor="t" rtlCol="false" tIns="0" lIns="0" bIns="0" rIns="0">
            <a:spAutoFit/>
          </a:bodyPr>
          <a:lstStyle/>
          <a:p>
            <a:pPr algn="ctr">
              <a:lnSpc>
                <a:spcPts val="3779"/>
              </a:lnSpc>
            </a:pPr>
            <a:r>
              <a:rPr lang="en-US" sz="2699" b="true">
                <a:solidFill>
                  <a:srgbClr val="FFFFFF"/>
                </a:solidFill>
                <a:latin typeface="Canva Sans Bold"/>
                <a:ea typeface="Canva Sans Bold"/>
                <a:cs typeface="Canva Sans Bold"/>
                <a:sym typeface="Canva Sans Bold"/>
              </a:rPr>
              <a:t>1</a:t>
            </a:r>
          </a:p>
        </p:txBody>
      </p:sp>
      <p:sp>
        <p:nvSpPr>
          <p:cNvPr name="TextBox 12" id="12"/>
          <p:cNvSpPr txBox="true"/>
          <p:nvPr/>
        </p:nvSpPr>
        <p:spPr>
          <a:xfrm rot="0">
            <a:off x="1885950" y="2076450"/>
            <a:ext cx="6191250" cy="481331"/>
          </a:xfrm>
          <a:prstGeom prst="rect">
            <a:avLst/>
          </a:prstGeom>
        </p:spPr>
        <p:txBody>
          <a:bodyPr anchor="t" rtlCol="false" tIns="0" lIns="0" bIns="0" rIns="0">
            <a:spAutoFit/>
          </a:bodyPr>
          <a:lstStyle/>
          <a:p>
            <a:pPr algn="l">
              <a:lnSpc>
                <a:spcPts val="3919"/>
              </a:lnSpc>
            </a:pPr>
            <a:r>
              <a:rPr lang="en-US" sz="2799" b="true">
                <a:solidFill>
                  <a:srgbClr val="10397B"/>
                </a:solidFill>
                <a:latin typeface="Canva Sans Bold"/>
                <a:ea typeface="Canva Sans Bold"/>
                <a:cs typeface="Canva Sans Bold"/>
                <a:sym typeface="Canva Sans Bold"/>
              </a:rPr>
              <a:t>Tạo tài khoản</a:t>
            </a:r>
          </a:p>
        </p:txBody>
      </p:sp>
      <p:sp>
        <p:nvSpPr>
          <p:cNvPr name="TextBox 13" id="13"/>
          <p:cNvSpPr txBox="true"/>
          <p:nvPr/>
        </p:nvSpPr>
        <p:spPr>
          <a:xfrm rot="0">
            <a:off x="1885950" y="2457450"/>
            <a:ext cx="6191250" cy="389256"/>
          </a:xfrm>
          <a:prstGeom prst="rect">
            <a:avLst/>
          </a:prstGeom>
        </p:spPr>
        <p:txBody>
          <a:bodyPr anchor="t" rtlCol="false" tIns="0" lIns="0" bIns="0" rIns="0">
            <a:spAutoFit/>
          </a:bodyPr>
          <a:lstStyle/>
          <a:p>
            <a:pPr algn="l">
              <a:lnSpc>
                <a:spcPts val="3219"/>
              </a:lnSpc>
            </a:pPr>
            <a:r>
              <a:rPr lang="en-US" sz="2299">
                <a:solidFill>
                  <a:srgbClr val="3469AD"/>
                </a:solidFill>
                <a:latin typeface="Canva Sans"/>
                <a:ea typeface="Canva Sans"/>
                <a:cs typeface="Canva Sans"/>
                <a:sym typeface="Canva Sans"/>
              </a:rPr>
              <a:t>SP_TaoTaiKhoan</a:t>
            </a:r>
          </a:p>
        </p:txBody>
      </p:sp>
      <p:sp>
        <p:nvSpPr>
          <p:cNvPr name="AutoShape 14" id="14"/>
          <p:cNvSpPr/>
          <p:nvPr/>
        </p:nvSpPr>
        <p:spPr>
          <a:xfrm>
            <a:off x="8077200" y="2095500"/>
            <a:ext cx="0" cy="723900"/>
          </a:xfrm>
          <a:prstGeom prst="line">
            <a:avLst/>
          </a:prstGeom>
          <a:ln cap="flat" w="19050">
            <a:solidFill>
              <a:srgbClr val="C9D8E8"/>
            </a:solidFill>
            <a:prstDash val="solid"/>
            <a:headEnd type="none" len="sm" w="sm"/>
            <a:tailEnd type="none" len="sm" w="sm"/>
          </a:ln>
        </p:spPr>
      </p:sp>
      <p:sp>
        <p:nvSpPr>
          <p:cNvPr name="TextBox 15" id="15"/>
          <p:cNvSpPr txBox="true"/>
          <p:nvPr/>
        </p:nvSpPr>
        <p:spPr>
          <a:xfrm rot="0">
            <a:off x="8439150" y="2127885"/>
            <a:ext cx="8896350" cy="714375"/>
          </a:xfrm>
          <a:prstGeom prst="rect">
            <a:avLst/>
          </a:prstGeom>
        </p:spPr>
        <p:txBody>
          <a:bodyPr anchor="t" rtlCol="false" tIns="0" lIns="0" bIns="0" rIns="0">
            <a:spAutoFit/>
          </a:bodyPr>
          <a:lstStyle/>
          <a:p>
            <a:pPr algn="l">
              <a:lnSpc>
                <a:spcPts val="2879"/>
              </a:lnSpc>
            </a:pPr>
            <a:r>
              <a:rPr lang="en-US" sz="2399">
                <a:solidFill>
                  <a:srgbClr val="27384A"/>
                </a:solidFill>
                <a:latin typeface="Canva Sans"/>
                <a:ea typeface="Canva Sans"/>
                <a:cs typeface="Canva Sans"/>
                <a:sym typeface="Canva Sans"/>
              </a:rPr>
              <a:t>Kiểm tra vai trò, người dùng liên kết và tên đăng nhập trước khi lưu.</a:t>
            </a:r>
          </a:p>
        </p:txBody>
      </p:sp>
      <p:grpSp>
        <p:nvGrpSpPr>
          <p:cNvPr name="Group 16" id="16"/>
          <p:cNvGrpSpPr/>
          <p:nvPr/>
        </p:nvGrpSpPr>
        <p:grpSpPr>
          <a:xfrm rot="0">
            <a:off x="647700" y="3162300"/>
            <a:ext cx="16992600" cy="1066800"/>
            <a:chOff x="0" y="0"/>
            <a:chExt cx="22656800" cy="1422400"/>
          </a:xfrm>
        </p:grpSpPr>
        <p:sp>
          <p:nvSpPr>
            <p:cNvPr name="Freeform 17" id="17"/>
            <p:cNvSpPr/>
            <p:nvPr/>
          </p:nvSpPr>
          <p:spPr>
            <a:xfrm flipH="false" flipV="false" rot="0">
              <a:off x="0" y="0"/>
              <a:ext cx="22656800" cy="1422400"/>
            </a:xfrm>
            <a:custGeom>
              <a:avLst/>
              <a:gdLst/>
              <a:ahLst/>
              <a:cxnLst/>
              <a:rect r="r" b="b" t="t" l="l"/>
              <a:pathLst>
                <a:path h="1422400" w="22656800">
                  <a:moveTo>
                    <a:pt x="177800" y="0"/>
                  </a:moveTo>
                  <a:lnTo>
                    <a:pt x="22479000" y="0"/>
                  </a:lnTo>
                  <a:cubicBezTo>
                    <a:pt x="22577196" y="0"/>
                    <a:pt x="22656800" y="79604"/>
                    <a:pt x="22656800" y="177800"/>
                  </a:cubicBezTo>
                  <a:lnTo>
                    <a:pt x="22656800" y="1244600"/>
                  </a:lnTo>
                  <a:cubicBezTo>
                    <a:pt x="22656800" y="1342796"/>
                    <a:pt x="22577196" y="1422400"/>
                    <a:pt x="22479000" y="1422400"/>
                  </a:cubicBezTo>
                  <a:lnTo>
                    <a:pt x="177800" y="1422400"/>
                  </a:lnTo>
                  <a:cubicBezTo>
                    <a:pt x="79604" y="1422400"/>
                    <a:pt x="0" y="1342796"/>
                    <a:pt x="0" y="1244600"/>
                  </a:cubicBezTo>
                  <a:lnTo>
                    <a:pt x="0" y="177800"/>
                  </a:lnTo>
                  <a:cubicBezTo>
                    <a:pt x="0" y="79604"/>
                    <a:pt x="79604" y="0"/>
                    <a:pt x="177800" y="0"/>
                  </a:cubicBezTo>
                  <a:close/>
                </a:path>
              </a:pathLst>
            </a:custGeom>
            <a:solidFill>
              <a:srgbClr val="F4F8FD"/>
            </a:solidFill>
            <a:ln w="14288" cap="sq">
              <a:solidFill>
                <a:srgbClr val="C9D8E8"/>
              </a:solidFill>
              <a:prstDash val="solid"/>
              <a:miter/>
            </a:ln>
          </p:spPr>
        </p:sp>
        <p:sp>
          <p:nvSpPr>
            <p:cNvPr name="TextBox 18" id="18"/>
            <p:cNvSpPr txBox="true"/>
            <p:nvPr/>
          </p:nvSpPr>
          <p:spPr>
            <a:xfrm>
              <a:off x="0" y="-38100"/>
              <a:ext cx="22656800" cy="1460500"/>
            </a:xfrm>
            <a:prstGeom prst="rect">
              <a:avLst/>
            </a:prstGeom>
          </p:spPr>
          <p:txBody>
            <a:bodyPr anchor="ctr" rtlCol="false" tIns="50800" lIns="50800" bIns="50800" rIns="50800"/>
            <a:lstStyle/>
            <a:p>
              <a:pPr algn="l">
                <a:lnSpc>
                  <a:spcPts val="2939"/>
                </a:lnSpc>
              </a:pPr>
            </a:p>
          </p:txBody>
        </p:sp>
      </p:grpSp>
      <p:grpSp>
        <p:nvGrpSpPr>
          <p:cNvPr name="Group 19" id="19"/>
          <p:cNvGrpSpPr/>
          <p:nvPr/>
        </p:nvGrpSpPr>
        <p:grpSpPr>
          <a:xfrm rot="0">
            <a:off x="857250" y="3438525"/>
            <a:ext cx="514350" cy="514350"/>
            <a:chOff x="0" y="0"/>
            <a:chExt cx="685800" cy="685800"/>
          </a:xfrm>
        </p:grpSpPr>
        <p:sp>
          <p:nvSpPr>
            <p:cNvPr name="Freeform 20" id="20"/>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3469AD"/>
            </a:solidFill>
          </p:spPr>
        </p:sp>
        <p:sp>
          <p:nvSpPr>
            <p:cNvPr name="TextBox 21" id="21"/>
            <p:cNvSpPr txBox="true"/>
            <p:nvPr/>
          </p:nvSpPr>
          <p:spPr>
            <a:xfrm>
              <a:off x="0" y="-38100"/>
              <a:ext cx="685800" cy="723900"/>
            </a:xfrm>
            <a:prstGeom prst="rect">
              <a:avLst/>
            </a:prstGeom>
          </p:spPr>
          <p:txBody>
            <a:bodyPr anchor="ctr" rtlCol="false" tIns="50800" lIns="50800" bIns="50800" rIns="50800"/>
            <a:lstStyle/>
            <a:p>
              <a:pPr algn="l">
                <a:lnSpc>
                  <a:spcPts val="2939"/>
                </a:lnSpc>
              </a:pPr>
            </a:p>
          </p:txBody>
        </p:sp>
      </p:grpSp>
      <p:sp>
        <p:nvSpPr>
          <p:cNvPr name="TextBox 22" id="22"/>
          <p:cNvSpPr txBox="true"/>
          <p:nvPr/>
        </p:nvSpPr>
        <p:spPr>
          <a:xfrm rot="0">
            <a:off x="857250" y="3457575"/>
            <a:ext cx="514350" cy="464821"/>
          </a:xfrm>
          <a:prstGeom prst="rect">
            <a:avLst/>
          </a:prstGeom>
        </p:spPr>
        <p:txBody>
          <a:bodyPr anchor="t" rtlCol="false" tIns="0" lIns="0" bIns="0" rIns="0">
            <a:spAutoFit/>
          </a:bodyPr>
          <a:lstStyle/>
          <a:p>
            <a:pPr algn="ctr">
              <a:lnSpc>
                <a:spcPts val="3779"/>
              </a:lnSpc>
            </a:pPr>
            <a:r>
              <a:rPr lang="en-US" sz="2699" b="true">
                <a:solidFill>
                  <a:srgbClr val="FFFFFF"/>
                </a:solidFill>
                <a:latin typeface="Canva Sans Bold"/>
                <a:ea typeface="Canva Sans Bold"/>
                <a:cs typeface="Canva Sans Bold"/>
                <a:sym typeface="Canva Sans Bold"/>
              </a:rPr>
              <a:t>2</a:t>
            </a:r>
          </a:p>
        </p:txBody>
      </p:sp>
      <p:sp>
        <p:nvSpPr>
          <p:cNvPr name="TextBox 23" id="23"/>
          <p:cNvSpPr txBox="true"/>
          <p:nvPr/>
        </p:nvSpPr>
        <p:spPr>
          <a:xfrm rot="0">
            <a:off x="1885950" y="3314700"/>
            <a:ext cx="6191250" cy="481331"/>
          </a:xfrm>
          <a:prstGeom prst="rect">
            <a:avLst/>
          </a:prstGeom>
        </p:spPr>
        <p:txBody>
          <a:bodyPr anchor="t" rtlCol="false" tIns="0" lIns="0" bIns="0" rIns="0">
            <a:spAutoFit/>
          </a:bodyPr>
          <a:lstStyle/>
          <a:p>
            <a:pPr algn="l">
              <a:lnSpc>
                <a:spcPts val="3919"/>
              </a:lnSpc>
            </a:pPr>
            <a:r>
              <a:rPr lang="en-US" sz="2799" b="true">
                <a:solidFill>
                  <a:srgbClr val="10397B"/>
                </a:solidFill>
                <a:latin typeface="Canva Sans Bold"/>
                <a:ea typeface="Canva Sans Bold"/>
                <a:cs typeface="Canva Sans Bold"/>
                <a:sym typeface="Canva Sans Bold"/>
              </a:rPr>
              <a:t>Đăng ký tín chỉ</a:t>
            </a:r>
          </a:p>
        </p:txBody>
      </p:sp>
      <p:sp>
        <p:nvSpPr>
          <p:cNvPr name="TextBox 24" id="24"/>
          <p:cNvSpPr txBox="true"/>
          <p:nvPr/>
        </p:nvSpPr>
        <p:spPr>
          <a:xfrm rot="0">
            <a:off x="1885950" y="3695700"/>
            <a:ext cx="6191250" cy="389256"/>
          </a:xfrm>
          <a:prstGeom prst="rect">
            <a:avLst/>
          </a:prstGeom>
        </p:spPr>
        <p:txBody>
          <a:bodyPr anchor="t" rtlCol="false" tIns="0" lIns="0" bIns="0" rIns="0">
            <a:spAutoFit/>
          </a:bodyPr>
          <a:lstStyle/>
          <a:p>
            <a:pPr algn="l">
              <a:lnSpc>
                <a:spcPts val="3219"/>
              </a:lnSpc>
            </a:pPr>
            <a:r>
              <a:rPr lang="en-US" sz="2299">
                <a:solidFill>
                  <a:srgbClr val="3469AD"/>
                </a:solidFill>
                <a:latin typeface="Canva Sans"/>
                <a:ea typeface="Canva Sans"/>
                <a:cs typeface="Canva Sans"/>
                <a:sym typeface="Canva Sans"/>
              </a:rPr>
              <a:t>SP_DangKyTinChi</a:t>
            </a:r>
          </a:p>
        </p:txBody>
      </p:sp>
      <p:sp>
        <p:nvSpPr>
          <p:cNvPr name="AutoShape 25" id="25"/>
          <p:cNvSpPr/>
          <p:nvPr/>
        </p:nvSpPr>
        <p:spPr>
          <a:xfrm>
            <a:off x="8077200" y="3333750"/>
            <a:ext cx="0" cy="723900"/>
          </a:xfrm>
          <a:prstGeom prst="line">
            <a:avLst/>
          </a:prstGeom>
          <a:ln cap="flat" w="19050">
            <a:solidFill>
              <a:srgbClr val="C9D8E8"/>
            </a:solidFill>
            <a:prstDash val="solid"/>
            <a:headEnd type="none" len="sm" w="sm"/>
            <a:tailEnd type="none" len="sm" w="sm"/>
          </a:ln>
        </p:spPr>
      </p:sp>
      <p:sp>
        <p:nvSpPr>
          <p:cNvPr name="TextBox 26" id="26"/>
          <p:cNvSpPr txBox="true"/>
          <p:nvPr/>
        </p:nvSpPr>
        <p:spPr>
          <a:xfrm rot="0">
            <a:off x="8362950" y="3324225"/>
            <a:ext cx="8896350" cy="714375"/>
          </a:xfrm>
          <a:prstGeom prst="rect">
            <a:avLst/>
          </a:prstGeom>
        </p:spPr>
        <p:txBody>
          <a:bodyPr anchor="t" rtlCol="false" tIns="0" lIns="0" bIns="0" rIns="0">
            <a:spAutoFit/>
          </a:bodyPr>
          <a:lstStyle/>
          <a:p>
            <a:pPr algn="l">
              <a:lnSpc>
                <a:spcPts val="2879"/>
              </a:lnSpc>
            </a:pPr>
            <a:r>
              <a:rPr lang="en-US" sz="2399">
                <a:solidFill>
                  <a:srgbClr val="27384A"/>
                </a:solidFill>
                <a:latin typeface="Canva Sans"/>
                <a:ea typeface="Canva Sans"/>
                <a:cs typeface="Canva Sans"/>
                <a:sym typeface="Canva Sans"/>
              </a:rPr>
              <a:t>Kiểm tra điều kiện học vụ, lịch, tín chỉ và sĩ số trước khi ghi đăng ký.</a:t>
            </a:r>
          </a:p>
        </p:txBody>
      </p:sp>
      <p:grpSp>
        <p:nvGrpSpPr>
          <p:cNvPr name="Group 27" id="27"/>
          <p:cNvGrpSpPr/>
          <p:nvPr/>
        </p:nvGrpSpPr>
        <p:grpSpPr>
          <a:xfrm rot="0">
            <a:off x="647700" y="4400550"/>
            <a:ext cx="16992600" cy="1066800"/>
            <a:chOff x="0" y="0"/>
            <a:chExt cx="22656800" cy="1422400"/>
          </a:xfrm>
        </p:grpSpPr>
        <p:sp>
          <p:nvSpPr>
            <p:cNvPr name="Freeform 28" id="28"/>
            <p:cNvSpPr/>
            <p:nvPr/>
          </p:nvSpPr>
          <p:spPr>
            <a:xfrm flipH="false" flipV="false" rot="0">
              <a:off x="0" y="0"/>
              <a:ext cx="22656800" cy="1422400"/>
            </a:xfrm>
            <a:custGeom>
              <a:avLst/>
              <a:gdLst/>
              <a:ahLst/>
              <a:cxnLst/>
              <a:rect r="r" b="b" t="t" l="l"/>
              <a:pathLst>
                <a:path h="1422400" w="22656800">
                  <a:moveTo>
                    <a:pt x="177800" y="0"/>
                  </a:moveTo>
                  <a:lnTo>
                    <a:pt x="22479000" y="0"/>
                  </a:lnTo>
                  <a:cubicBezTo>
                    <a:pt x="22577196" y="0"/>
                    <a:pt x="22656800" y="79604"/>
                    <a:pt x="22656800" y="177800"/>
                  </a:cubicBezTo>
                  <a:lnTo>
                    <a:pt x="22656800" y="1244600"/>
                  </a:lnTo>
                  <a:cubicBezTo>
                    <a:pt x="22656800" y="1342796"/>
                    <a:pt x="22577196" y="1422400"/>
                    <a:pt x="22479000" y="1422400"/>
                  </a:cubicBezTo>
                  <a:lnTo>
                    <a:pt x="177800" y="1422400"/>
                  </a:lnTo>
                  <a:cubicBezTo>
                    <a:pt x="79604" y="1422400"/>
                    <a:pt x="0" y="1342796"/>
                    <a:pt x="0" y="1244600"/>
                  </a:cubicBezTo>
                  <a:lnTo>
                    <a:pt x="0" y="177800"/>
                  </a:lnTo>
                  <a:cubicBezTo>
                    <a:pt x="0" y="79604"/>
                    <a:pt x="79604" y="0"/>
                    <a:pt x="177800" y="0"/>
                  </a:cubicBezTo>
                  <a:close/>
                </a:path>
              </a:pathLst>
            </a:custGeom>
            <a:solidFill>
              <a:srgbClr val="FFFFFF"/>
            </a:solidFill>
            <a:ln w="14288" cap="sq">
              <a:solidFill>
                <a:srgbClr val="C9D8E8"/>
              </a:solidFill>
              <a:prstDash val="solid"/>
              <a:miter/>
            </a:ln>
          </p:spPr>
        </p:sp>
        <p:sp>
          <p:nvSpPr>
            <p:cNvPr name="TextBox 29" id="29"/>
            <p:cNvSpPr txBox="true"/>
            <p:nvPr/>
          </p:nvSpPr>
          <p:spPr>
            <a:xfrm>
              <a:off x="0" y="-38100"/>
              <a:ext cx="22656800" cy="1460500"/>
            </a:xfrm>
            <a:prstGeom prst="rect">
              <a:avLst/>
            </a:prstGeom>
          </p:spPr>
          <p:txBody>
            <a:bodyPr anchor="ctr" rtlCol="false" tIns="50800" lIns="50800" bIns="50800" rIns="50800"/>
            <a:lstStyle/>
            <a:p>
              <a:pPr algn="l">
                <a:lnSpc>
                  <a:spcPts val="2939"/>
                </a:lnSpc>
              </a:pPr>
            </a:p>
          </p:txBody>
        </p:sp>
      </p:grpSp>
      <p:grpSp>
        <p:nvGrpSpPr>
          <p:cNvPr name="Group 30" id="30"/>
          <p:cNvGrpSpPr/>
          <p:nvPr/>
        </p:nvGrpSpPr>
        <p:grpSpPr>
          <a:xfrm rot="0">
            <a:off x="857250" y="4676775"/>
            <a:ext cx="514350" cy="514350"/>
            <a:chOff x="0" y="0"/>
            <a:chExt cx="685800" cy="685800"/>
          </a:xfrm>
        </p:grpSpPr>
        <p:sp>
          <p:nvSpPr>
            <p:cNvPr name="Freeform 31" id="31"/>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3469AD"/>
            </a:solidFill>
          </p:spPr>
        </p:sp>
        <p:sp>
          <p:nvSpPr>
            <p:cNvPr name="TextBox 32" id="32"/>
            <p:cNvSpPr txBox="true"/>
            <p:nvPr/>
          </p:nvSpPr>
          <p:spPr>
            <a:xfrm>
              <a:off x="0" y="-38100"/>
              <a:ext cx="685800" cy="723900"/>
            </a:xfrm>
            <a:prstGeom prst="rect">
              <a:avLst/>
            </a:prstGeom>
          </p:spPr>
          <p:txBody>
            <a:bodyPr anchor="ctr" rtlCol="false" tIns="50800" lIns="50800" bIns="50800" rIns="50800"/>
            <a:lstStyle/>
            <a:p>
              <a:pPr algn="l">
                <a:lnSpc>
                  <a:spcPts val="2939"/>
                </a:lnSpc>
              </a:pPr>
            </a:p>
          </p:txBody>
        </p:sp>
      </p:grpSp>
      <p:sp>
        <p:nvSpPr>
          <p:cNvPr name="TextBox 33" id="33"/>
          <p:cNvSpPr txBox="true"/>
          <p:nvPr/>
        </p:nvSpPr>
        <p:spPr>
          <a:xfrm rot="0">
            <a:off x="857250" y="4695825"/>
            <a:ext cx="514350" cy="464821"/>
          </a:xfrm>
          <a:prstGeom prst="rect">
            <a:avLst/>
          </a:prstGeom>
        </p:spPr>
        <p:txBody>
          <a:bodyPr anchor="t" rtlCol="false" tIns="0" lIns="0" bIns="0" rIns="0">
            <a:spAutoFit/>
          </a:bodyPr>
          <a:lstStyle/>
          <a:p>
            <a:pPr algn="ctr">
              <a:lnSpc>
                <a:spcPts val="3779"/>
              </a:lnSpc>
            </a:pPr>
            <a:r>
              <a:rPr lang="en-US" sz="2699" b="true">
                <a:solidFill>
                  <a:srgbClr val="FFFFFF"/>
                </a:solidFill>
                <a:latin typeface="Canva Sans Bold"/>
                <a:ea typeface="Canva Sans Bold"/>
                <a:cs typeface="Canva Sans Bold"/>
                <a:sym typeface="Canva Sans Bold"/>
              </a:rPr>
              <a:t>3</a:t>
            </a:r>
          </a:p>
        </p:txBody>
      </p:sp>
      <p:sp>
        <p:nvSpPr>
          <p:cNvPr name="TextBox 34" id="34"/>
          <p:cNvSpPr txBox="true"/>
          <p:nvPr/>
        </p:nvSpPr>
        <p:spPr>
          <a:xfrm rot="0">
            <a:off x="1885950" y="4552950"/>
            <a:ext cx="6191250" cy="481331"/>
          </a:xfrm>
          <a:prstGeom prst="rect">
            <a:avLst/>
          </a:prstGeom>
        </p:spPr>
        <p:txBody>
          <a:bodyPr anchor="t" rtlCol="false" tIns="0" lIns="0" bIns="0" rIns="0">
            <a:spAutoFit/>
          </a:bodyPr>
          <a:lstStyle/>
          <a:p>
            <a:pPr algn="l">
              <a:lnSpc>
                <a:spcPts val="3919"/>
              </a:lnSpc>
            </a:pPr>
            <a:r>
              <a:rPr lang="en-US" sz="2799" b="true">
                <a:solidFill>
                  <a:srgbClr val="10397B"/>
                </a:solidFill>
                <a:latin typeface="Canva Sans Bold"/>
                <a:ea typeface="Canva Sans Bold"/>
                <a:cs typeface="Canva Sans Bold"/>
                <a:sym typeface="Canva Sans Bold"/>
              </a:rPr>
              <a:t>Hủy đăng ký</a:t>
            </a:r>
          </a:p>
        </p:txBody>
      </p:sp>
      <p:sp>
        <p:nvSpPr>
          <p:cNvPr name="TextBox 35" id="35"/>
          <p:cNvSpPr txBox="true"/>
          <p:nvPr/>
        </p:nvSpPr>
        <p:spPr>
          <a:xfrm rot="0">
            <a:off x="1885950" y="4933950"/>
            <a:ext cx="6191250" cy="389256"/>
          </a:xfrm>
          <a:prstGeom prst="rect">
            <a:avLst/>
          </a:prstGeom>
        </p:spPr>
        <p:txBody>
          <a:bodyPr anchor="t" rtlCol="false" tIns="0" lIns="0" bIns="0" rIns="0">
            <a:spAutoFit/>
          </a:bodyPr>
          <a:lstStyle/>
          <a:p>
            <a:pPr algn="l">
              <a:lnSpc>
                <a:spcPts val="3219"/>
              </a:lnSpc>
            </a:pPr>
            <a:r>
              <a:rPr lang="en-US" sz="2299">
                <a:solidFill>
                  <a:srgbClr val="3469AD"/>
                </a:solidFill>
                <a:latin typeface="Canva Sans"/>
                <a:ea typeface="Canva Sans"/>
                <a:cs typeface="Canva Sans"/>
                <a:sym typeface="Canva Sans"/>
              </a:rPr>
              <a:t>SP_HuyDangKy</a:t>
            </a:r>
          </a:p>
        </p:txBody>
      </p:sp>
      <p:sp>
        <p:nvSpPr>
          <p:cNvPr name="AutoShape 36" id="36"/>
          <p:cNvSpPr/>
          <p:nvPr/>
        </p:nvSpPr>
        <p:spPr>
          <a:xfrm>
            <a:off x="8077200" y="4572000"/>
            <a:ext cx="0" cy="723900"/>
          </a:xfrm>
          <a:prstGeom prst="line">
            <a:avLst/>
          </a:prstGeom>
          <a:ln cap="flat" w="19050">
            <a:solidFill>
              <a:srgbClr val="C9D8E8"/>
            </a:solidFill>
            <a:prstDash val="solid"/>
            <a:headEnd type="none" len="sm" w="sm"/>
            <a:tailEnd type="none" len="sm" w="sm"/>
          </a:ln>
        </p:spPr>
      </p:sp>
      <p:sp>
        <p:nvSpPr>
          <p:cNvPr name="TextBox 37" id="37"/>
          <p:cNvSpPr txBox="true"/>
          <p:nvPr/>
        </p:nvSpPr>
        <p:spPr>
          <a:xfrm rot="0">
            <a:off x="8362950" y="4581525"/>
            <a:ext cx="8896350" cy="714375"/>
          </a:xfrm>
          <a:prstGeom prst="rect">
            <a:avLst/>
          </a:prstGeom>
        </p:spPr>
        <p:txBody>
          <a:bodyPr anchor="t" rtlCol="false" tIns="0" lIns="0" bIns="0" rIns="0">
            <a:spAutoFit/>
          </a:bodyPr>
          <a:lstStyle/>
          <a:p>
            <a:pPr algn="l">
              <a:lnSpc>
                <a:spcPts val="2879"/>
              </a:lnSpc>
            </a:pPr>
            <a:r>
              <a:rPr lang="en-US" sz="2399">
                <a:solidFill>
                  <a:srgbClr val="27384A"/>
                </a:solidFill>
                <a:latin typeface="Canva Sans"/>
                <a:ea typeface="Canva Sans"/>
                <a:cs typeface="Canva Sans"/>
                <a:sym typeface="Canva Sans"/>
              </a:rPr>
              <a:t>Kiểm tra thời hạn và điểm số trước khi chuyển trạng thái sang hủy.</a:t>
            </a:r>
          </a:p>
        </p:txBody>
      </p:sp>
      <p:grpSp>
        <p:nvGrpSpPr>
          <p:cNvPr name="Group 38" id="38"/>
          <p:cNvGrpSpPr/>
          <p:nvPr/>
        </p:nvGrpSpPr>
        <p:grpSpPr>
          <a:xfrm rot="0">
            <a:off x="647700" y="5638800"/>
            <a:ext cx="16992600" cy="1066800"/>
            <a:chOff x="0" y="0"/>
            <a:chExt cx="22656800" cy="1422400"/>
          </a:xfrm>
        </p:grpSpPr>
        <p:sp>
          <p:nvSpPr>
            <p:cNvPr name="Freeform 39" id="39"/>
            <p:cNvSpPr/>
            <p:nvPr/>
          </p:nvSpPr>
          <p:spPr>
            <a:xfrm flipH="false" flipV="false" rot="0">
              <a:off x="0" y="0"/>
              <a:ext cx="22656800" cy="1422400"/>
            </a:xfrm>
            <a:custGeom>
              <a:avLst/>
              <a:gdLst/>
              <a:ahLst/>
              <a:cxnLst/>
              <a:rect r="r" b="b" t="t" l="l"/>
              <a:pathLst>
                <a:path h="1422400" w="22656800">
                  <a:moveTo>
                    <a:pt x="177800" y="0"/>
                  </a:moveTo>
                  <a:lnTo>
                    <a:pt x="22479000" y="0"/>
                  </a:lnTo>
                  <a:cubicBezTo>
                    <a:pt x="22577196" y="0"/>
                    <a:pt x="22656800" y="79604"/>
                    <a:pt x="22656800" y="177800"/>
                  </a:cubicBezTo>
                  <a:lnTo>
                    <a:pt x="22656800" y="1244600"/>
                  </a:lnTo>
                  <a:cubicBezTo>
                    <a:pt x="22656800" y="1342796"/>
                    <a:pt x="22577196" y="1422400"/>
                    <a:pt x="22479000" y="1422400"/>
                  </a:cubicBezTo>
                  <a:lnTo>
                    <a:pt x="177800" y="1422400"/>
                  </a:lnTo>
                  <a:cubicBezTo>
                    <a:pt x="79604" y="1422400"/>
                    <a:pt x="0" y="1342796"/>
                    <a:pt x="0" y="1244600"/>
                  </a:cubicBezTo>
                  <a:lnTo>
                    <a:pt x="0" y="177800"/>
                  </a:lnTo>
                  <a:cubicBezTo>
                    <a:pt x="0" y="79604"/>
                    <a:pt x="79604" y="0"/>
                    <a:pt x="177800" y="0"/>
                  </a:cubicBezTo>
                  <a:close/>
                </a:path>
              </a:pathLst>
            </a:custGeom>
            <a:solidFill>
              <a:srgbClr val="F4F8FD"/>
            </a:solidFill>
            <a:ln w="14288" cap="sq">
              <a:solidFill>
                <a:srgbClr val="C9D8E8"/>
              </a:solidFill>
              <a:prstDash val="solid"/>
              <a:miter/>
            </a:ln>
          </p:spPr>
        </p:sp>
        <p:sp>
          <p:nvSpPr>
            <p:cNvPr name="TextBox 40" id="40"/>
            <p:cNvSpPr txBox="true"/>
            <p:nvPr/>
          </p:nvSpPr>
          <p:spPr>
            <a:xfrm>
              <a:off x="0" y="-38100"/>
              <a:ext cx="22656800" cy="1460500"/>
            </a:xfrm>
            <a:prstGeom prst="rect">
              <a:avLst/>
            </a:prstGeom>
          </p:spPr>
          <p:txBody>
            <a:bodyPr anchor="ctr" rtlCol="false" tIns="50800" lIns="50800" bIns="50800" rIns="50800"/>
            <a:lstStyle/>
            <a:p>
              <a:pPr algn="l">
                <a:lnSpc>
                  <a:spcPts val="2939"/>
                </a:lnSpc>
              </a:pPr>
            </a:p>
          </p:txBody>
        </p:sp>
      </p:grpSp>
      <p:grpSp>
        <p:nvGrpSpPr>
          <p:cNvPr name="Group 41" id="41"/>
          <p:cNvGrpSpPr/>
          <p:nvPr/>
        </p:nvGrpSpPr>
        <p:grpSpPr>
          <a:xfrm rot="0">
            <a:off x="857250" y="5915025"/>
            <a:ext cx="514350" cy="514350"/>
            <a:chOff x="0" y="0"/>
            <a:chExt cx="685800" cy="685800"/>
          </a:xfrm>
        </p:grpSpPr>
        <p:sp>
          <p:nvSpPr>
            <p:cNvPr name="Freeform 42" id="42"/>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3469AD"/>
            </a:solidFill>
          </p:spPr>
        </p:sp>
        <p:sp>
          <p:nvSpPr>
            <p:cNvPr name="TextBox 43" id="43"/>
            <p:cNvSpPr txBox="true"/>
            <p:nvPr/>
          </p:nvSpPr>
          <p:spPr>
            <a:xfrm>
              <a:off x="0" y="-38100"/>
              <a:ext cx="685800" cy="723900"/>
            </a:xfrm>
            <a:prstGeom prst="rect">
              <a:avLst/>
            </a:prstGeom>
          </p:spPr>
          <p:txBody>
            <a:bodyPr anchor="ctr" rtlCol="false" tIns="50800" lIns="50800" bIns="50800" rIns="50800"/>
            <a:lstStyle/>
            <a:p>
              <a:pPr algn="l">
                <a:lnSpc>
                  <a:spcPts val="2939"/>
                </a:lnSpc>
              </a:pPr>
            </a:p>
          </p:txBody>
        </p:sp>
      </p:grpSp>
      <p:sp>
        <p:nvSpPr>
          <p:cNvPr name="TextBox 44" id="44"/>
          <p:cNvSpPr txBox="true"/>
          <p:nvPr/>
        </p:nvSpPr>
        <p:spPr>
          <a:xfrm rot="0">
            <a:off x="857250" y="5934075"/>
            <a:ext cx="514350" cy="464821"/>
          </a:xfrm>
          <a:prstGeom prst="rect">
            <a:avLst/>
          </a:prstGeom>
        </p:spPr>
        <p:txBody>
          <a:bodyPr anchor="t" rtlCol="false" tIns="0" lIns="0" bIns="0" rIns="0">
            <a:spAutoFit/>
          </a:bodyPr>
          <a:lstStyle/>
          <a:p>
            <a:pPr algn="ctr">
              <a:lnSpc>
                <a:spcPts val="3779"/>
              </a:lnSpc>
            </a:pPr>
            <a:r>
              <a:rPr lang="en-US" sz="2699" b="true">
                <a:solidFill>
                  <a:srgbClr val="FFFFFF"/>
                </a:solidFill>
                <a:latin typeface="Canva Sans Bold"/>
                <a:ea typeface="Canva Sans Bold"/>
                <a:cs typeface="Canva Sans Bold"/>
                <a:sym typeface="Canva Sans Bold"/>
              </a:rPr>
              <a:t>4</a:t>
            </a:r>
          </a:p>
        </p:txBody>
      </p:sp>
      <p:sp>
        <p:nvSpPr>
          <p:cNvPr name="TextBox 45" id="45"/>
          <p:cNvSpPr txBox="true"/>
          <p:nvPr/>
        </p:nvSpPr>
        <p:spPr>
          <a:xfrm rot="0">
            <a:off x="1885950" y="5791200"/>
            <a:ext cx="6191250" cy="481331"/>
          </a:xfrm>
          <a:prstGeom prst="rect">
            <a:avLst/>
          </a:prstGeom>
        </p:spPr>
        <p:txBody>
          <a:bodyPr anchor="t" rtlCol="false" tIns="0" lIns="0" bIns="0" rIns="0">
            <a:spAutoFit/>
          </a:bodyPr>
          <a:lstStyle/>
          <a:p>
            <a:pPr algn="l">
              <a:lnSpc>
                <a:spcPts val="3919"/>
              </a:lnSpc>
            </a:pPr>
            <a:r>
              <a:rPr lang="en-US" sz="2799" b="true">
                <a:solidFill>
                  <a:srgbClr val="10397B"/>
                </a:solidFill>
                <a:latin typeface="Canva Sans Bold"/>
                <a:ea typeface="Canva Sans Bold"/>
                <a:cs typeface="Canva Sans Bold"/>
                <a:sym typeface="Canva Sans Bold"/>
              </a:rPr>
              <a:t>Lập học phí</a:t>
            </a:r>
          </a:p>
        </p:txBody>
      </p:sp>
      <p:sp>
        <p:nvSpPr>
          <p:cNvPr name="TextBox 46" id="46"/>
          <p:cNvSpPr txBox="true"/>
          <p:nvPr/>
        </p:nvSpPr>
        <p:spPr>
          <a:xfrm rot="0">
            <a:off x="1885950" y="6172200"/>
            <a:ext cx="6191250" cy="389256"/>
          </a:xfrm>
          <a:prstGeom prst="rect">
            <a:avLst/>
          </a:prstGeom>
        </p:spPr>
        <p:txBody>
          <a:bodyPr anchor="t" rtlCol="false" tIns="0" lIns="0" bIns="0" rIns="0">
            <a:spAutoFit/>
          </a:bodyPr>
          <a:lstStyle/>
          <a:p>
            <a:pPr algn="l">
              <a:lnSpc>
                <a:spcPts val="3219"/>
              </a:lnSpc>
            </a:pPr>
            <a:r>
              <a:rPr lang="en-US" sz="2299">
                <a:solidFill>
                  <a:srgbClr val="3469AD"/>
                </a:solidFill>
                <a:latin typeface="Canva Sans"/>
                <a:ea typeface="Canva Sans"/>
                <a:cs typeface="Canva Sans"/>
                <a:sym typeface="Canva Sans"/>
              </a:rPr>
              <a:t>SP_TinhHocPhiSinhVien</a:t>
            </a:r>
          </a:p>
        </p:txBody>
      </p:sp>
      <p:sp>
        <p:nvSpPr>
          <p:cNvPr name="AutoShape 47" id="47"/>
          <p:cNvSpPr/>
          <p:nvPr/>
        </p:nvSpPr>
        <p:spPr>
          <a:xfrm>
            <a:off x="8077200" y="5810250"/>
            <a:ext cx="0" cy="723900"/>
          </a:xfrm>
          <a:prstGeom prst="line">
            <a:avLst/>
          </a:prstGeom>
          <a:ln cap="flat" w="19050">
            <a:solidFill>
              <a:srgbClr val="C9D8E8"/>
            </a:solidFill>
            <a:prstDash val="solid"/>
            <a:headEnd type="none" len="sm" w="sm"/>
            <a:tailEnd type="none" len="sm" w="sm"/>
          </a:ln>
        </p:spPr>
      </p:sp>
      <p:sp>
        <p:nvSpPr>
          <p:cNvPr name="TextBox 48" id="48"/>
          <p:cNvSpPr txBox="true"/>
          <p:nvPr/>
        </p:nvSpPr>
        <p:spPr>
          <a:xfrm rot="0">
            <a:off x="8362950" y="6010275"/>
            <a:ext cx="8896350" cy="352425"/>
          </a:xfrm>
          <a:prstGeom prst="rect">
            <a:avLst/>
          </a:prstGeom>
        </p:spPr>
        <p:txBody>
          <a:bodyPr anchor="t" rtlCol="false" tIns="0" lIns="0" bIns="0" rIns="0">
            <a:spAutoFit/>
          </a:bodyPr>
          <a:lstStyle/>
          <a:p>
            <a:pPr algn="l">
              <a:lnSpc>
                <a:spcPts val="2879"/>
              </a:lnSpc>
            </a:pPr>
            <a:r>
              <a:rPr lang="en-US" sz="2399">
                <a:solidFill>
                  <a:srgbClr val="27384A"/>
                </a:solidFill>
                <a:latin typeface="Canva Sans"/>
                <a:ea typeface="Canva Sans"/>
                <a:cs typeface="Canva Sans"/>
                <a:sym typeface="Canva Sans"/>
              </a:rPr>
              <a:t>Tính tín chỉ và đơn giá để tạo hồ sơ học phí.</a:t>
            </a:r>
          </a:p>
        </p:txBody>
      </p:sp>
      <p:grpSp>
        <p:nvGrpSpPr>
          <p:cNvPr name="Group 49" id="49"/>
          <p:cNvGrpSpPr/>
          <p:nvPr/>
        </p:nvGrpSpPr>
        <p:grpSpPr>
          <a:xfrm rot="0">
            <a:off x="647700" y="6877050"/>
            <a:ext cx="16992600" cy="1066800"/>
            <a:chOff x="0" y="0"/>
            <a:chExt cx="22656800" cy="1422400"/>
          </a:xfrm>
        </p:grpSpPr>
        <p:sp>
          <p:nvSpPr>
            <p:cNvPr name="Freeform 50" id="50"/>
            <p:cNvSpPr/>
            <p:nvPr/>
          </p:nvSpPr>
          <p:spPr>
            <a:xfrm flipH="false" flipV="false" rot="0">
              <a:off x="0" y="0"/>
              <a:ext cx="22656800" cy="1422400"/>
            </a:xfrm>
            <a:custGeom>
              <a:avLst/>
              <a:gdLst/>
              <a:ahLst/>
              <a:cxnLst/>
              <a:rect r="r" b="b" t="t" l="l"/>
              <a:pathLst>
                <a:path h="1422400" w="22656800">
                  <a:moveTo>
                    <a:pt x="177800" y="0"/>
                  </a:moveTo>
                  <a:lnTo>
                    <a:pt x="22479000" y="0"/>
                  </a:lnTo>
                  <a:cubicBezTo>
                    <a:pt x="22577196" y="0"/>
                    <a:pt x="22656800" y="79604"/>
                    <a:pt x="22656800" y="177800"/>
                  </a:cubicBezTo>
                  <a:lnTo>
                    <a:pt x="22656800" y="1244600"/>
                  </a:lnTo>
                  <a:cubicBezTo>
                    <a:pt x="22656800" y="1342796"/>
                    <a:pt x="22577196" y="1422400"/>
                    <a:pt x="22479000" y="1422400"/>
                  </a:cubicBezTo>
                  <a:lnTo>
                    <a:pt x="177800" y="1422400"/>
                  </a:lnTo>
                  <a:cubicBezTo>
                    <a:pt x="79604" y="1422400"/>
                    <a:pt x="0" y="1342796"/>
                    <a:pt x="0" y="1244600"/>
                  </a:cubicBezTo>
                  <a:lnTo>
                    <a:pt x="0" y="177800"/>
                  </a:lnTo>
                  <a:cubicBezTo>
                    <a:pt x="0" y="79604"/>
                    <a:pt x="79604" y="0"/>
                    <a:pt x="177800" y="0"/>
                  </a:cubicBezTo>
                  <a:close/>
                </a:path>
              </a:pathLst>
            </a:custGeom>
            <a:solidFill>
              <a:srgbClr val="FFFFFF"/>
            </a:solidFill>
            <a:ln w="14288" cap="sq">
              <a:solidFill>
                <a:srgbClr val="C9D8E8"/>
              </a:solidFill>
              <a:prstDash val="solid"/>
              <a:miter/>
            </a:ln>
          </p:spPr>
        </p:sp>
        <p:sp>
          <p:nvSpPr>
            <p:cNvPr name="TextBox 51" id="51"/>
            <p:cNvSpPr txBox="true"/>
            <p:nvPr/>
          </p:nvSpPr>
          <p:spPr>
            <a:xfrm>
              <a:off x="0" y="-38100"/>
              <a:ext cx="22656800" cy="1460500"/>
            </a:xfrm>
            <a:prstGeom prst="rect">
              <a:avLst/>
            </a:prstGeom>
          </p:spPr>
          <p:txBody>
            <a:bodyPr anchor="ctr" rtlCol="false" tIns="50800" lIns="50800" bIns="50800" rIns="50800"/>
            <a:lstStyle/>
            <a:p>
              <a:pPr algn="l">
                <a:lnSpc>
                  <a:spcPts val="2939"/>
                </a:lnSpc>
              </a:pPr>
            </a:p>
          </p:txBody>
        </p:sp>
      </p:grpSp>
      <p:grpSp>
        <p:nvGrpSpPr>
          <p:cNvPr name="Group 52" id="52"/>
          <p:cNvGrpSpPr/>
          <p:nvPr/>
        </p:nvGrpSpPr>
        <p:grpSpPr>
          <a:xfrm rot="0">
            <a:off x="857250" y="7153275"/>
            <a:ext cx="514350" cy="514350"/>
            <a:chOff x="0" y="0"/>
            <a:chExt cx="685800" cy="685800"/>
          </a:xfrm>
        </p:grpSpPr>
        <p:sp>
          <p:nvSpPr>
            <p:cNvPr name="Freeform 53" id="53"/>
            <p:cNvSpPr/>
            <p:nvPr/>
          </p:nvSpPr>
          <p:spPr>
            <a:xfrm flipH="false" flipV="false" rot="0">
              <a:off x="0" y="0"/>
              <a:ext cx="685800" cy="685800"/>
            </a:xfrm>
            <a:custGeom>
              <a:avLst/>
              <a:gdLst/>
              <a:ahLst/>
              <a:cxnLst/>
              <a:rect r="r" b="b" t="t" l="l"/>
              <a:pathLst>
                <a:path h="685800" w="685800">
                  <a:moveTo>
                    <a:pt x="0" y="342900"/>
                  </a:moveTo>
                  <a:cubicBezTo>
                    <a:pt x="0" y="532278"/>
                    <a:pt x="153522" y="685800"/>
                    <a:pt x="342900" y="685800"/>
                  </a:cubicBezTo>
                  <a:cubicBezTo>
                    <a:pt x="532278" y="685800"/>
                    <a:pt x="685800" y="532278"/>
                    <a:pt x="685800" y="342900"/>
                  </a:cubicBezTo>
                  <a:cubicBezTo>
                    <a:pt x="685800" y="153522"/>
                    <a:pt x="532278" y="0"/>
                    <a:pt x="342900" y="0"/>
                  </a:cubicBezTo>
                  <a:cubicBezTo>
                    <a:pt x="153522" y="0"/>
                    <a:pt x="0" y="153522"/>
                    <a:pt x="0" y="342900"/>
                  </a:cubicBezTo>
                  <a:close/>
                </a:path>
              </a:pathLst>
            </a:custGeom>
            <a:solidFill>
              <a:srgbClr val="3469AD"/>
            </a:solidFill>
          </p:spPr>
        </p:sp>
        <p:sp>
          <p:nvSpPr>
            <p:cNvPr name="TextBox 54" id="54"/>
            <p:cNvSpPr txBox="true"/>
            <p:nvPr/>
          </p:nvSpPr>
          <p:spPr>
            <a:xfrm>
              <a:off x="0" y="-38100"/>
              <a:ext cx="685800" cy="723900"/>
            </a:xfrm>
            <a:prstGeom prst="rect">
              <a:avLst/>
            </a:prstGeom>
          </p:spPr>
          <p:txBody>
            <a:bodyPr anchor="ctr" rtlCol="false" tIns="50800" lIns="50800" bIns="50800" rIns="50800"/>
            <a:lstStyle/>
            <a:p>
              <a:pPr algn="l">
                <a:lnSpc>
                  <a:spcPts val="2939"/>
                </a:lnSpc>
              </a:pPr>
            </a:p>
          </p:txBody>
        </p:sp>
      </p:grpSp>
      <p:sp>
        <p:nvSpPr>
          <p:cNvPr name="TextBox 55" id="55"/>
          <p:cNvSpPr txBox="true"/>
          <p:nvPr/>
        </p:nvSpPr>
        <p:spPr>
          <a:xfrm rot="0">
            <a:off x="857250" y="7172325"/>
            <a:ext cx="514350" cy="464821"/>
          </a:xfrm>
          <a:prstGeom prst="rect">
            <a:avLst/>
          </a:prstGeom>
        </p:spPr>
        <p:txBody>
          <a:bodyPr anchor="t" rtlCol="false" tIns="0" lIns="0" bIns="0" rIns="0">
            <a:spAutoFit/>
          </a:bodyPr>
          <a:lstStyle/>
          <a:p>
            <a:pPr algn="ctr">
              <a:lnSpc>
                <a:spcPts val="3779"/>
              </a:lnSpc>
            </a:pPr>
            <a:r>
              <a:rPr lang="en-US" sz="2699" b="true">
                <a:solidFill>
                  <a:srgbClr val="FFFFFF"/>
                </a:solidFill>
                <a:latin typeface="Canva Sans Bold"/>
                <a:ea typeface="Canva Sans Bold"/>
                <a:cs typeface="Canva Sans Bold"/>
                <a:sym typeface="Canva Sans Bold"/>
              </a:rPr>
              <a:t>5</a:t>
            </a:r>
          </a:p>
        </p:txBody>
      </p:sp>
      <p:sp>
        <p:nvSpPr>
          <p:cNvPr name="TextBox 56" id="56"/>
          <p:cNvSpPr txBox="true"/>
          <p:nvPr/>
        </p:nvSpPr>
        <p:spPr>
          <a:xfrm rot="0">
            <a:off x="1885950" y="7029450"/>
            <a:ext cx="6191250" cy="481331"/>
          </a:xfrm>
          <a:prstGeom prst="rect">
            <a:avLst/>
          </a:prstGeom>
        </p:spPr>
        <p:txBody>
          <a:bodyPr anchor="t" rtlCol="false" tIns="0" lIns="0" bIns="0" rIns="0">
            <a:spAutoFit/>
          </a:bodyPr>
          <a:lstStyle/>
          <a:p>
            <a:pPr algn="l">
              <a:lnSpc>
                <a:spcPts val="3919"/>
              </a:lnSpc>
            </a:pPr>
            <a:r>
              <a:rPr lang="en-US" sz="2799" b="true">
                <a:solidFill>
                  <a:srgbClr val="10397B"/>
                </a:solidFill>
                <a:latin typeface="Canva Sans Bold"/>
                <a:ea typeface="Canva Sans Bold"/>
                <a:cs typeface="Canva Sans Bold"/>
                <a:sym typeface="Canva Sans Bold"/>
              </a:rPr>
              <a:t>Xác nhận thanh toán</a:t>
            </a:r>
          </a:p>
        </p:txBody>
      </p:sp>
      <p:sp>
        <p:nvSpPr>
          <p:cNvPr name="TextBox 57" id="57"/>
          <p:cNvSpPr txBox="true"/>
          <p:nvPr/>
        </p:nvSpPr>
        <p:spPr>
          <a:xfrm rot="0">
            <a:off x="1885950" y="7410450"/>
            <a:ext cx="6191250" cy="389256"/>
          </a:xfrm>
          <a:prstGeom prst="rect">
            <a:avLst/>
          </a:prstGeom>
        </p:spPr>
        <p:txBody>
          <a:bodyPr anchor="t" rtlCol="false" tIns="0" lIns="0" bIns="0" rIns="0">
            <a:spAutoFit/>
          </a:bodyPr>
          <a:lstStyle/>
          <a:p>
            <a:pPr algn="l">
              <a:lnSpc>
                <a:spcPts val="3219"/>
              </a:lnSpc>
            </a:pPr>
            <a:r>
              <a:rPr lang="en-US" sz="2299">
                <a:solidFill>
                  <a:srgbClr val="3469AD"/>
                </a:solidFill>
                <a:latin typeface="Canva Sans"/>
                <a:ea typeface="Canva Sans"/>
                <a:cs typeface="Canva Sans"/>
                <a:sym typeface="Canva Sans"/>
              </a:rPr>
              <a:t>SP_XacNhanThanhToan</a:t>
            </a:r>
          </a:p>
        </p:txBody>
      </p:sp>
      <p:sp>
        <p:nvSpPr>
          <p:cNvPr name="AutoShape 58" id="58"/>
          <p:cNvSpPr/>
          <p:nvPr/>
        </p:nvSpPr>
        <p:spPr>
          <a:xfrm>
            <a:off x="8077200" y="7048500"/>
            <a:ext cx="0" cy="723900"/>
          </a:xfrm>
          <a:prstGeom prst="line">
            <a:avLst/>
          </a:prstGeom>
          <a:ln cap="flat" w="19050">
            <a:solidFill>
              <a:srgbClr val="C9D8E8"/>
            </a:solidFill>
            <a:prstDash val="solid"/>
            <a:headEnd type="none" len="sm" w="sm"/>
            <a:tailEnd type="none" len="sm" w="sm"/>
          </a:ln>
        </p:spPr>
      </p:sp>
      <p:sp>
        <p:nvSpPr>
          <p:cNvPr name="TextBox 59" id="59"/>
          <p:cNvSpPr txBox="true"/>
          <p:nvPr/>
        </p:nvSpPr>
        <p:spPr>
          <a:xfrm rot="0">
            <a:off x="8362950" y="7080885"/>
            <a:ext cx="8896350" cy="714375"/>
          </a:xfrm>
          <a:prstGeom prst="rect">
            <a:avLst/>
          </a:prstGeom>
        </p:spPr>
        <p:txBody>
          <a:bodyPr anchor="t" rtlCol="false" tIns="0" lIns="0" bIns="0" rIns="0">
            <a:spAutoFit/>
          </a:bodyPr>
          <a:lstStyle/>
          <a:p>
            <a:pPr algn="l">
              <a:lnSpc>
                <a:spcPts val="2879"/>
              </a:lnSpc>
            </a:pPr>
            <a:r>
              <a:rPr lang="en-US" sz="2399">
                <a:solidFill>
                  <a:srgbClr val="27384A"/>
                </a:solidFill>
                <a:latin typeface="Canva Sans"/>
                <a:ea typeface="Canva Sans"/>
                <a:cs typeface="Canva Sans"/>
                <a:sym typeface="Canva Sans"/>
              </a:rPr>
              <a:t>Xác nhận giao dịch; trigger cập nhật tiền đã nộp và trạng thái học phí.</a:t>
            </a:r>
          </a:p>
        </p:txBody>
      </p:sp>
      <p:grpSp>
        <p:nvGrpSpPr>
          <p:cNvPr name="Group 60" id="60"/>
          <p:cNvGrpSpPr/>
          <p:nvPr/>
        </p:nvGrpSpPr>
        <p:grpSpPr>
          <a:xfrm rot="0">
            <a:off x="647700" y="8763000"/>
            <a:ext cx="8382000" cy="876300"/>
            <a:chOff x="0" y="0"/>
            <a:chExt cx="11176000" cy="1168400"/>
          </a:xfrm>
        </p:grpSpPr>
        <p:sp>
          <p:nvSpPr>
            <p:cNvPr name="Freeform 61" id="61"/>
            <p:cNvSpPr/>
            <p:nvPr/>
          </p:nvSpPr>
          <p:spPr>
            <a:xfrm flipH="false" flipV="false" rot="0">
              <a:off x="0" y="0"/>
              <a:ext cx="11176000" cy="1168400"/>
            </a:xfrm>
            <a:custGeom>
              <a:avLst/>
              <a:gdLst/>
              <a:ahLst/>
              <a:cxnLst/>
              <a:rect r="r" b="b" t="t" l="l"/>
              <a:pathLst>
                <a:path h="1168400" w="11176000">
                  <a:moveTo>
                    <a:pt x="177800" y="0"/>
                  </a:moveTo>
                  <a:lnTo>
                    <a:pt x="10998200" y="0"/>
                  </a:lnTo>
                  <a:cubicBezTo>
                    <a:pt x="11096396" y="0"/>
                    <a:pt x="11176000" y="79604"/>
                    <a:pt x="11176000" y="177800"/>
                  </a:cubicBezTo>
                  <a:lnTo>
                    <a:pt x="11176000" y="990600"/>
                  </a:lnTo>
                  <a:cubicBezTo>
                    <a:pt x="11176000" y="1088796"/>
                    <a:pt x="11096396" y="1168400"/>
                    <a:pt x="10998200" y="1168400"/>
                  </a:cubicBezTo>
                  <a:lnTo>
                    <a:pt x="177800" y="1168400"/>
                  </a:lnTo>
                  <a:cubicBezTo>
                    <a:pt x="79604" y="1168400"/>
                    <a:pt x="0" y="1088796"/>
                    <a:pt x="0" y="990600"/>
                  </a:cubicBezTo>
                  <a:lnTo>
                    <a:pt x="0" y="177800"/>
                  </a:lnTo>
                  <a:cubicBezTo>
                    <a:pt x="0" y="79604"/>
                    <a:pt x="79604" y="0"/>
                    <a:pt x="177800" y="0"/>
                  </a:cubicBezTo>
                  <a:close/>
                </a:path>
              </a:pathLst>
            </a:custGeom>
            <a:solidFill>
              <a:srgbClr val="F4F8FD"/>
            </a:solidFill>
            <a:ln w="14288" cap="sq">
              <a:solidFill>
                <a:srgbClr val="3469AD"/>
              </a:solidFill>
              <a:prstDash val="solid"/>
              <a:miter/>
            </a:ln>
          </p:spPr>
        </p:sp>
        <p:sp>
          <p:nvSpPr>
            <p:cNvPr name="TextBox 62" id="62"/>
            <p:cNvSpPr txBox="true"/>
            <p:nvPr/>
          </p:nvSpPr>
          <p:spPr>
            <a:xfrm>
              <a:off x="0" y="-38100"/>
              <a:ext cx="11176000" cy="1206500"/>
            </a:xfrm>
            <a:prstGeom prst="rect">
              <a:avLst/>
            </a:prstGeom>
          </p:spPr>
          <p:txBody>
            <a:bodyPr anchor="ctr" rtlCol="false" tIns="50800" lIns="50800" bIns="50800" rIns="50800"/>
            <a:lstStyle/>
            <a:p>
              <a:pPr algn="l">
                <a:lnSpc>
                  <a:spcPts val="2939"/>
                </a:lnSpc>
              </a:pPr>
            </a:p>
          </p:txBody>
        </p:sp>
      </p:grpSp>
      <p:sp>
        <p:nvSpPr>
          <p:cNvPr name="TextBox 63" id="63"/>
          <p:cNvSpPr txBox="true"/>
          <p:nvPr/>
        </p:nvSpPr>
        <p:spPr>
          <a:xfrm rot="0">
            <a:off x="769489" y="8931910"/>
            <a:ext cx="8001000" cy="481331"/>
          </a:xfrm>
          <a:prstGeom prst="rect">
            <a:avLst/>
          </a:prstGeom>
        </p:spPr>
        <p:txBody>
          <a:bodyPr anchor="t" rtlCol="false" tIns="0" lIns="0" bIns="0" rIns="0">
            <a:spAutoFit/>
          </a:bodyPr>
          <a:lstStyle/>
          <a:p>
            <a:pPr algn="ctr">
              <a:lnSpc>
                <a:spcPts val="3919"/>
              </a:lnSpc>
            </a:pPr>
            <a:r>
              <a:rPr lang="en-US" sz="2799" b="true">
                <a:solidFill>
                  <a:srgbClr val="3469AD"/>
                </a:solidFill>
                <a:latin typeface="Canva Sans Bold"/>
                <a:ea typeface="Canva Sans Bold"/>
                <a:cs typeface="Canva Sans Bold"/>
                <a:sym typeface="Canva Sans Bold"/>
              </a:rPr>
              <a:t>Thành công → COMMIT</a:t>
            </a:r>
          </a:p>
        </p:txBody>
      </p:sp>
      <p:grpSp>
        <p:nvGrpSpPr>
          <p:cNvPr name="Group 64" id="64"/>
          <p:cNvGrpSpPr/>
          <p:nvPr/>
        </p:nvGrpSpPr>
        <p:grpSpPr>
          <a:xfrm rot="0">
            <a:off x="9258300" y="8763000"/>
            <a:ext cx="8382000" cy="876300"/>
            <a:chOff x="0" y="0"/>
            <a:chExt cx="11176000" cy="1168400"/>
          </a:xfrm>
        </p:grpSpPr>
        <p:sp>
          <p:nvSpPr>
            <p:cNvPr name="Freeform 65" id="65"/>
            <p:cNvSpPr/>
            <p:nvPr/>
          </p:nvSpPr>
          <p:spPr>
            <a:xfrm flipH="false" flipV="false" rot="0">
              <a:off x="0" y="0"/>
              <a:ext cx="11176000" cy="1168400"/>
            </a:xfrm>
            <a:custGeom>
              <a:avLst/>
              <a:gdLst/>
              <a:ahLst/>
              <a:cxnLst/>
              <a:rect r="r" b="b" t="t" l="l"/>
              <a:pathLst>
                <a:path h="1168400" w="11176000">
                  <a:moveTo>
                    <a:pt x="177800" y="0"/>
                  </a:moveTo>
                  <a:lnTo>
                    <a:pt x="10998200" y="0"/>
                  </a:lnTo>
                  <a:cubicBezTo>
                    <a:pt x="11096396" y="0"/>
                    <a:pt x="11176000" y="79604"/>
                    <a:pt x="11176000" y="177800"/>
                  </a:cubicBezTo>
                  <a:lnTo>
                    <a:pt x="11176000" y="990600"/>
                  </a:lnTo>
                  <a:cubicBezTo>
                    <a:pt x="11176000" y="1088796"/>
                    <a:pt x="11096396" y="1168400"/>
                    <a:pt x="10998200" y="1168400"/>
                  </a:cubicBezTo>
                  <a:lnTo>
                    <a:pt x="177800" y="1168400"/>
                  </a:lnTo>
                  <a:cubicBezTo>
                    <a:pt x="79604" y="1168400"/>
                    <a:pt x="0" y="1088796"/>
                    <a:pt x="0" y="990600"/>
                  </a:cubicBezTo>
                  <a:lnTo>
                    <a:pt x="0" y="177800"/>
                  </a:lnTo>
                  <a:cubicBezTo>
                    <a:pt x="0" y="79604"/>
                    <a:pt x="79604" y="0"/>
                    <a:pt x="177800" y="0"/>
                  </a:cubicBezTo>
                  <a:close/>
                </a:path>
              </a:pathLst>
            </a:custGeom>
            <a:solidFill>
              <a:srgbClr val="FFF3E8"/>
            </a:solidFill>
            <a:ln w="14288" cap="sq">
              <a:solidFill>
                <a:srgbClr val="CF6B2E"/>
              </a:solidFill>
              <a:prstDash val="solid"/>
              <a:miter/>
            </a:ln>
          </p:spPr>
        </p:sp>
        <p:sp>
          <p:nvSpPr>
            <p:cNvPr name="TextBox 66" id="66"/>
            <p:cNvSpPr txBox="true"/>
            <p:nvPr/>
          </p:nvSpPr>
          <p:spPr>
            <a:xfrm>
              <a:off x="0" y="-38100"/>
              <a:ext cx="11176000" cy="1206500"/>
            </a:xfrm>
            <a:prstGeom prst="rect">
              <a:avLst/>
            </a:prstGeom>
          </p:spPr>
          <p:txBody>
            <a:bodyPr anchor="ctr" rtlCol="false" tIns="50800" lIns="50800" bIns="50800" rIns="50800"/>
            <a:lstStyle/>
            <a:p>
              <a:pPr algn="l">
                <a:lnSpc>
                  <a:spcPts val="2939"/>
                </a:lnSpc>
              </a:pPr>
            </a:p>
          </p:txBody>
        </p:sp>
      </p:grpSp>
      <p:sp>
        <p:nvSpPr>
          <p:cNvPr name="TextBox 67" id="67"/>
          <p:cNvSpPr txBox="true"/>
          <p:nvPr/>
        </p:nvSpPr>
        <p:spPr>
          <a:xfrm rot="0">
            <a:off x="9334500" y="8931910"/>
            <a:ext cx="8001000" cy="481331"/>
          </a:xfrm>
          <a:prstGeom prst="rect">
            <a:avLst/>
          </a:prstGeom>
        </p:spPr>
        <p:txBody>
          <a:bodyPr anchor="t" rtlCol="false" tIns="0" lIns="0" bIns="0" rIns="0">
            <a:spAutoFit/>
          </a:bodyPr>
          <a:lstStyle/>
          <a:p>
            <a:pPr algn="ctr">
              <a:lnSpc>
                <a:spcPts val="3919"/>
              </a:lnSpc>
            </a:pPr>
            <a:r>
              <a:rPr lang="en-US" sz="2799" b="true">
                <a:solidFill>
                  <a:srgbClr val="CF6B2E"/>
                </a:solidFill>
                <a:latin typeface="Canva Sans Bold"/>
                <a:ea typeface="Canva Sans Bold"/>
                <a:cs typeface="Canva Sans Bold"/>
                <a:sym typeface="Canva Sans Bold"/>
              </a:rPr>
              <a:t>Có lỗi → ROLLBACK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sp>
          <p:nvSpPr>
            <p:cNvPr name="TextBox 5" id="5"/>
            <p:cNvSpPr txBox="true"/>
            <p:nvPr/>
          </p:nvSpPr>
          <p:spPr>
            <a:xfrm>
              <a:off x="0" y="-38100"/>
              <a:ext cx="24384000" cy="13754100"/>
            </a:xfrm>
            <a:prstGeom prst="rect">
              <a:avLst/>
            </a:prstGeom>
          </p:spPr>
          <p:txBody>
            <a:bodyPr anchor="ctr" rtlCol="false" tIns="50800" lIns="50800" bIns="50800" rIns="50800"/>
            <a:lstStyle/>
            <a:p>
              <a:pPr algn="l">
                <a:lnSpc>
                  <a:spcPts val="3079"/>
                </a:lnSpc>
              </a:pPr>
            </a:p>
          </p:txBody>
        </p:sp>
      </p:grpSp>
      <p:sp>
        <p:nvSpPr>
          <p:cNvPr name="TextBox 6" id="6"/>
          <p:cNvSpPr txBox="true"/>
          <p:nvPr/>
        </p:nvSpPr>
        <p:spPr>
          <a:xfrm rot="0">
            <a:off x="685800" y="142875"/>
            <a:ext cx="16916400" cy="755015"/>
          </a:xfrm>
          <a:prstGeom prst="rect">
            <a:avLst/>
          </a:prstGeom>
        </p:spPr>
        <p:txBody>
          <a:bodyPr anchor="t" rtlCol="false" tIns="0" lIns="0" bIns="0" rIns="0">
            <a:spAutoFit/>
          </a:bodyPr>
          <a:lstStyle/>
          <a:p>
            <a:pPr algn="l">
              <a:lnSpc>
                <a:spcPts val="6160"/>
              </a:lnSpc>
            </a:pPr>
            <a:r>
              <a:rPr lang="en-US" sz="4400" b="true">
                <a:solidFill>
                  <a:srgbClr val="173A78"/>
                </a:solidFill>
                <a:latin typeface="Canva Sans Bold"/>
                <a:ea typeface="Canva Sans Bold"/>
                <a:cs typeface="Canva Sans Bold"/>
                <a:sym typeface="Canva Sans Bold"/>
              </a:rPr>
              <a:t>9. XỬ LÝ TRUY CẬP ĐỒNG THỜI</a:t>
            </a:r>
          </a:p>
        </p:txBody>
      </p:sp>
      <p:sp>
        <p:nvSpPr>
          <p:cNvPr name="TextBox 7" id="7"/>
          <p:cNvSpPr txBox="true"/>
          <p:nvPr/>
        </p:nvSpPr>
        <p:spPr>
          <a:xfrm rot="0">
            <a:off x="685800" y="887729"/>
            <a:ext cx="16916400" cy="464821"/>
          </a:xfrm>
          <a:prstGeom prst="rect">
            <a:avLst/>
          </a:prstGeom>
        </p:spPr>
        <p:txBody>
          <a:bodyPr anchor="t" rtlCol="false" tIns="0" lIns="0" bIns="0" rIns="0">
            <a:spAutoFit/>
          </a:bodyPr>
          <a:lstStyle/>
          <a:p>
            <a:pPr algn="l">
              <a:lnSpc>
                <a:spcPts val="3779"/>
              </a:lnSpc>
            </a:pPr>
            <a:r>
              <a:rPr lang="en-US" sz="2699">
                <a:solidFill>
                  <a:srgbClr val="5A6878"/>
                </a:solidFill>
                <a:latin typeface="Canva Sans"/>
                <a:ea typeface="Canva Sans"/>
                <a:cs typeface="Canva Sans"/>
                <a:sym typeface="Canva Sans"/>
              </a:rPr>
              <a:t>Nhóm xử lý tình huống hai sinh viên cùng đăng ký khi lớp học phần chỉ còn một chỗ trống.</a:t>
            </a:r>
          </a:p>
        </p:txBody>
      </p:sp>
      <p:sp>
        <p:nvSpPr>
          <p:cNvPr name="AutoShape 8" id="8"/>
          <p:cNvSpPr/>
          <p:nvPr/>
        </p:nvSpPr>
        <p:spPr>
          <a:xfrm>
            <a:off x="685800" y="1390650"/>
            <a:ext cx="16916400" cy="0"/>
          </a:xfrm>
          <a:prstGeom prst="line">
            <a:avLst/>
          </a:prstGeom>
          <a:ln cap="flat" w="19050">
            <a:solidFill>
              <a:srgbClr val="3E78C5"/>
            </a:solidFill>
            <a:prstDash val="solid"/>
            <a:headEnd type="none" len="sm" w="sm"/>
            <a:tailEnd type="none" len="sm" w="sm"/>
          </a:ln>
        </p:spPr>
      </p:sp>
      <p:grpSp>
        <p:nvGrpSpPr>
          <p:cNvPr name="Group 9" id="9"/>
          <p:cNvGrpSpPr/>
          <p:nvPr/>
        </p:nvGrpSpPr>
        <p:grpSpPr>
          <a:xfrm rot="0">
            <a:off x="685800" y="1562100"/>
            <a:ext cx="8324850" cy="2133600"/>
            <a:chOff x="0" y="0"/>
            <a:chExt cx="11099800" cy="2844800"/>
          </a:xfrm>
        </p:grpSpPr>
        <p:sp>
          <p:nvSpPr>
            <p:cNvPr name="Freeform 10" id="10"/>
            <p:cNvSpPr/>
            <p:nvPr/>
          </p:nvSpPr>
          <p:spPr>
            <a:xfrm flipH="false" flipV="false" rot="0">
              <a:off x="0" y="0"/>
              <a:ext cx="11099800" cy="2844800"/>
            </a:xfrm>
            <a:custGeom>
              <a:avLst/>
              <a:gdLst/>
              <a:ahLst/>
              <a:cxnLst/>
              <a:rect r="r" b="b" t="t" l="l"/>
              <a:pathLst>
                <a:path h="2844800" w="11099800">
                  <a:moveTo>
                    <a:pt x="203200" y="0"/>
                  </a:moveTo>
                  <a:lnTo>
                    <a:pt x="10896600" y="0"/>
                  </a:lnTo>
                  <a:cubicBezTo>
                    <a:pt x="11008824" y="0"/>
                    <a:pt x="11099800" y="90976"/>
                    <a:pt x="11099800" y="203200"/>
                  </a:cubicBezTo>
                  <a:lnTo>
                    <a:pt x="11099800" y="2641600"/>
                  </a:lnTo>
                  <a:cubicBezTo>
                    <a:pt x="11099800" y="2753824"/>
                    <a:pt x="11008824" y="2844800"/>
                    <a:pt x="10896600" y="2844800"/>
                  </a:cubicBezTo>
                  <a:lnTo>
                    <a:pt x="203200" y="2844800"/>
                  </a:lnTo>
                  <a:cubicBezTo>
                    <a:pt x="90976" y="2844800"/>
                    <a:pt x="0" y="2753824"/>
                    <a:pt x="0" y="2641600"/>
                  </a:cubicBezTo>
                  <a:lnTo>
                    <a:pt x="0" y="203200"/>
                  </a:lnTo>
                  <a:cubicBezTo>
                    <a:pt x="0" y="90976"/>
                    <a:pt x="90976" y="0"/>
                    <a:pt x="203200" y="0"/>
                  </a:cubicBezTo>
                  <a:close/>
                </a:path>
              </a:pathLst>
            </a:custGeom>
            <a:solidFill>
              <a:srgbClr val="F5F9FE"/>
            </a:solidFill>
            <a:ln w="14288" cap="sq">
              <a:solidFill>
                <a:srgbClr val="C9D8EA"/>
              </a:solidFill>
              <a:prstDash val="solid"/>
              <a:miter/>
            </a:ln>
          </p:spPr>
        </p:sp>
        <p:sp>
          <p:nvSpPr>
            <p:cNvPr name="TextBox 11" id="11"/>
            <p:cNvSpPr txBox="true"/>
            <p:nvPr/>
          </p:nvSpPr>
          <p:spPr>
            <a:xfrm>
              <a:off x="0" y="-38100"/>
              <a:ext cx="11099800" cy="2882900"/>
            </a:xfrm>
            <a:prstGeom prst="rect">
              <a:avLst/>
            </a:prstGeom>
          </p:spPr>
          <p:txBody>
            <a:bodyPr anchor="ctr" rtlCol="false" tIns="50800" lIns="50800" bIns="50800" rIns="50800"/>
            <a:lstStyle/>
            <a:p>
              <a:pPr algn="l">
                <a:lnSpc>
                  <a:spcPts val="3079"/>
                </a:lnSpc>
              </a:pPr>
            </a:p>
          </p:txBody>
        </p:sp>
      </p:grpSp>
      <p:grpSp>
        <p:nvGrpSpPr>
          <p:cNvPr name="Group 12" id="12"/>
          <p:cNvGrpSpPr/>
          <p:nvPr/>
        </p:nvGrpSpPr>
        <p:grpSpPr>
          <a:xfrm rot="0">
            <a:off x="895350" y="1771650"/>
            <a:ext cx="85725" cy="419100"/>
            <a:chOff x="0" y="0"/>
            <a:chExt cx="114300" cy="558800"/>
          </a:xfrm>
        </p:grpSpPr>
        <p:sp>
          <p:nvSpPr>
            <p:cNvPr name="Freeform 13" id="13"/>
            <p:cNvSpPr/>
            <p:nvPr/>
          </p:nvSpPr>
          <p:spPr>
            <a:xfrm flipH="false" flipV="false" rot="0">
              <a:off x="0" y="0"/>
              <a:ext cx="114300" cy="558800"/>
            </a:xfrm>
            <a:custGeom>
              <a:avLst/>
              <a:gdLst/>
              <a:ahLst/>
              <a:cxnLst/>
              <a:rect r="r" b="b" t="t" l="l"/>
              <a:pathLst>
                <a:path h="558800" w="114300">
                  <a:moveTo>
                    <a:pt x="50800" y="0"/>
                  </a:moveTo>
                  <a:lnTo>
                    <a:pt x="63500" y="0"/>
                  </a:lnTo>
                  <a:cubicBezTo>
                    <a:pt x="91556" y="0"/>
                    <a:pt x="114300" y="22744"/>
                    <a:pt x="114300" y="50800"/>
                  </a:cubicBezTo>
                  <a:lnTo>
                    <a:pt x="114300" y="508000"/>
                  </a:lnTo>
                  <a:cubicBezTo>
                    <a:pt x="114300" y="536056"/>
                    <a:pt x="91556" y="558800"/>
                    <a:pt x="63500" y="558800"/>
                  </a:cubicBezTo>
                  <a:lnTo>
                    <a:pt x="50800" y="558800"/>
                  </a:lnTo>
                  <a:cubicBezTo>
                    <a:pt x="22744" y="558800"/>
                    <a:pt x="0" y="536056"/>
                    <a:pt x="0" y="508000"/>
                  </a:cubicBezTo>
                  <a:lnTo>
                    <a:pt x="0" y="50800"/>
                  </a:lnTo>
                  <a:cubicBezTo>
                    <a:pt x="0" y="22744"/>
                    <a:pt x="22744" y="0"/>
                    <a:pt x="50800" y="0"/>
                  </a:cubicBezTo>
                  <a:close/>
                </a:path>
              </a:pathLst>
            </a:custGeom>
            <a:solidFill>
              <a:srgbClr val="3E78C5"/>
            </a:solidFill>
          </p:spPr>
        </p:sp>
        <p:sp>
          <p:nvSpPr>
            <p:cNvPr name="TextBox 14" id="14"/>
            <p:cNvSpPr txBox="true"/>
            <p:nvPr/>
          </p:nvSpPr>
          <p:spPr>
            <a:xfrm>
              <a:off x="0" y="-38100"/>
              <a:ext cx="114300" cy="596900"/>
            </a:xfrm>
            <a:prstGeom prst="rect">
              <a:avLst/>
            </a:prstGeom>
          </p:spPr>
          <p:txBody>
            <a:bodyPr anchor="ctr" rtlCol="false" tIns="50800" lIns="50800" bIns="50800" rIns="50800"/>
            <a:lstStyle/>
            <a:p>
              <a:pPr algn="l">
                <a:lnSpc>
                  <a:spcPts val="3079"/>
                </a:lnSpc>
              </a:pPr>
            </a:p>
          </p:txBody>
        </p:sp>
      </p:grpSp>
      <p:sp>
        <p:nvSpPr>
          <p:cNvPr name="TextBox 15" id="15"/>
          <p:cNvSpPr txBox="true"/>
          <p:nvPr/>
        </p:nvSpPr>
        <p:spPr>
          <a:xfrm rot="0">
            <a:off x="1181100" y="1714500"/>
            <a:ext cx="7600950" cy="481331"/>
          </a:xfrm>
          <a:prstGeom prst="rect">
            <a:avLst/>
          </a:prstGeom>
        </p:spPr>
        <p:txBody>
          <a:bodyPr anchor="t" rtlCol="false" tIns="0" lIns="0" bIns="0" rIns="0">
            <a:spAutoFit/>
          </a:bodyPr>
          <a:lstStyle/>
          <a:p>
            <a:pPr algn="l">
              <a:lnSpc>
                <a:spcPts val="3919"/>
              </a:lnSpc>
            </a:pPr>
            <a:r>
              <a:rPr lang="en-US" sz="2799" b="true">
                <a:solidFill>
                  <a:srgbClr val="173A78"/>
                </a:solidFill>
                <a:latin typeface="Canva Sans Bold"/>
                <a:ea typeface="Canva Sans Bold"/>
                <a:cs typeface="Canva Sans Bold"/>
                <a:sym typeface="Canva Sans Bold"/>
              </a:rPr>
              <a:t>TÌNH HUỐNG</a:t>
            </a:r>
          </a:p>
        </p:txBody>
      </p:sp>
      <p:sp>
        <p:nvSpPr>
          <p:cNvPr name="TextBox 16" id="16"/>
          <p:cNvSpPr txBox="true"/>
          <p:nvPr/>
        </p:nvSpPr>
        <p:spPr>
          <a:xfrm rot="0">
            <a:off x="952500" y="2362200"/>
            <a:ext cx="7791450" cy="1149604"/>
          </a:xfrm>
          <a:prstGeom prst="rect">
            <a:avLst/>
          </a:prstGeom>
        </p:spPr>
        <p:txBody>
          <a:bodyPr anchor="t" rtlCol="false" tIns="0" lIns="0" bIns="0" rIns="0">
            <a:spAutoFit/>
          </a:bodyPr>
          <a:lstStyle/>
          <a:p>
            <a:pPr algn="l">
              <a:lnSpc>
                <a:spcPts val="3067"/>
              </a:lnSpc>
            </a:pPr>
            <a:r>
              <a:rPr lang="en-US" sz="2599">
                <a:solidFill>
                  <a:srgbClr val="25384F"/>
                </a:solidFill>
                <a:latin typeface="Canva Sans"/>
                <a:ea typeface="Canva Sans"/>
                <a:cs typeface="Canva Sans"/>
                <a:sym typeface="Canva Sans"/>
              </a:rPr>
              <a:t>Sinh viên A và B gửi yêu cầu đăng ký gần như cùng lúc. Nếu cả hai cùng đọc sĩ số cũ, lớp có nguy cơ vượt giới hạn.</a:t>
            </a:r>
          </a:p>
        </p:txBody>
      </p:sp>
      <p:grpSp>
        <p:nvGrpSpPr>
          <p:cNvPr name="Group 17" id="17"/>
          <p:cNvGrpSpPr/>
          <p:nvPr/>
        </p:nvGrpSpPr>
        <p:grpSpPr>
          <a:xfrm rot="0">
            <a:off x="9277350" y="1562100"/>
            <a:ext cx="8324850" cy="2133600"/>
            <a:chOff x="0" y="0"/>
            <a:chExt cx="11099800" cy="2844800"/>
          </a:xfrm>
        </p:grpSpPr>
        <p:sp>
          <p:nvSpPr>
            <p:cNvPr name="Freeform 18" id="18"/>
            <p:cNvSpPr/>
            <p:nvPr/>
          </p:nvSpPr>
          <p:spPr>
            <a:xfrm flipH="false" flipV="false" rot="0">
              <a:off x="0" y="0"/>
              <a:ext cx="11099800" cy="2844800"/>
            </a:xfrm>
            <a:custGeom>
              <a:avLst/>
              <a:gdLst/>
              <a:ahLst/>
              <a:cxnLst/>
              <a:rect r="r" b="b" t="t" l="l"/>
              <a:pathLst>
                <a:path h="2844800" w="11099800">
                  <a:moveTo>
                    <a:pt x="203200" y="0"/>
                  </a:moveTo>
                  <a:lnTo>
                    <a:pt x="10896600" y="0"/>
                  </a:lnTo>
                  <a:cubicBezTo>
                    <a:pt x="11008824" y="0"/>
                    <a:pt x="11099800" y="90976"/>
                    <a:pt x="11099800" y="203200"/>
                  </a:cubicBezTo>
                  <a:lnTo>
                    <a:pt x="11099800" y="2641600"/>
                  </a:lnTo>
                  <a:cubicBezTo>
                    <a:pt x="11099800" y="2753824"/>
                    <a:pt x="11008824" y="2844800"/>
                    <a:pt x="10896600" y="2844800"/>
                  </a:cubicBezTo>
                  <a:lnTo>
                    <a:pt x="203200" y="2844800"/>
                  </a:lnTo>
                  <a:cubicBezTo>
                    <a:pt x="90976" y="2844800"/>
                    <a:pt x="0" y="2753824"/>
                    <a:pt x="0" y="2641600"/>
                  </a:cubicBezTo>
                  <a:lnTo>
                    <a:pt x="0" y="203200"/>
                  </a:lnTo>
                  <a:cubicBezTo>
                    <a:pt x="0" y="90976"/>
                    <a:pt x="90976" y="0"/>
                    <a:pt x="203200" y="0"/>
                  </a:cubicBezTo>
                  <a:close/>
                </a:path>
              </a:pathLst>
            </a:custGeom>
            <a:solidFill>
              <a:srgbClr val="F5F9FE"/>
            </a:solidFill>
            <a:ln w="14288" cap="sq">
              <a:solidFill>
                <a:srgbClr val="C9D8EA"/>
              </a:solidFill>
              <a:prstDash val="solid"/>
              <a:miter/>
            </a:ln>
          </p:spPr>
        </p:sp>
        <p:sp>
          <p:nvSpPr>
            <p:cNvPr name="TextBox 19" id="19"/>
            <p:cNvSpPr txBox="true"/>
            <p:nvPr/>
          </p:nvSpPr>
          <p:spPr>
            <a:xfrm>
              <a:off x="0" y="-38100"/>
              <a:ext cx="11099800" cy="2882900"/>
            </a:xfrm>
            <a:prstGeom prst="rect">
              <a:avLst/>
            </a:prstGeom>
          </p:spPr>
          <p:txBody>
            <a:bodyPr anchor="ctr" rtlCol="false" tIns="50800" lIns="50800" bIns="50800" rIns="50800"/>
            <a:lstStyle/>
            <a:p>
              <a:pPr algn="l">
                <a:lnSpc>
                  <a:spcPts val="3079"/>
                </a:lnSpc>
              </a:pPr>
            </a:p>
          </p:txBody>
        </p:sp>
      </p:grpSp>
      <p:grpSp>
        <p:nvGrpSpPr>
          <p:cNvPr name="Group 20" id="20"/>
          <p:cNvGrpSpPr/>
          <p:nvPr/>
        </p:nvGrpSpPr>
        <p:grpSpPr>
          <a:xfrm rot="0">
            <a:off x="9486900" y="1771650"/>
            <a:ext cx="85725" cy="419100"/>
            <a:chOff x="0" y="0"/>
            <a:chExt cx="114300" cy="558800"/>
          </a:xfrm>
        </p:grpSpPr>
        <p:sp>
          <p:nvSpPr>
            <p:cNvPr name="Freeform 21" id="21"/>
            <p:cNvSpPr/>
            <p:nvPr/>
          </p:nvSpPr>
          <p:spPr>
            <a:xfrm flipH="false" flipV="false" rot="0">
              <a:off x="0" y="0"/>
              <a:ext cx="114300" cy="558800"/>
            </a:xfrm>
            <a:custGeom>
              <a:avLst/>
              <a:gdLst/>
              <a:ahLst/>
              <a:cxnLst/>
              <a:rect r="r" b="b" t="t" l="l"/>
              <a:pathLst>
                <a:path h="558800" w="114300">
                  <a:moveTo>
                    <a:pt x="50800" y="0"/>
                  </a:moveTo>
                  <a:lnTo>
                    <a:pt x="63500" y="0"/>
                  </a:lnTo>
                  <a:cubicBezTo>
                    <a:pt x="91556" y="0"/>
                    <a:pt x="114300" y="22744"/>
                    <a:pt x="114300" y="50800"/>
                  </a:cubicBezTo>
                  <a:lnTo>
                    <a:pt x="114300" y="508000"/>
                  </a:lnTo>
                  <a:cubicBezTo>
                    <a:pt x="114300" y="536056"/>
                    <a:pt x="91556" y="558800"/>
                    <a:pt x="63500" y="558800"/>
                  </a:cubicBezTo>
                  <a:lnTo>
                    <a:pt x="50800" y="558800"/>
                  </a:lnTo>
                  <a:cubicBezTo>
                    <a:pt x="22744" y="558800"/>
                    <a:pt x="0" y="536056"/>
                    <a:pt x="0" y="508000"/>
                  </a:cubicBezTo>
                  <a:lnTo>
                    <a:pt x="0" y="50800"/>
                  </a:lnTo>
                  <a:cubicBezTo>
                    <a:pt x="0" y="22744"/>
                    <a:pt x="22744" y="0"/>
                    <a:pt x="50800" y="0"/>
                  </a:cubicBezTo>
                  <a:close/>
                </a:path>
              </a:pathLst>
            </a:custGeom>
            <a:solidFill>
              <a:srgbClr val="4E73B8"/>
            </a:solidFill>
          </p:spPr>
        </p:sp>
        <p:sp>
          <p:nvSpPr>
            <p:cNvPr name="TextBox 22" id="22"/>
            <p:cNvSpPr txBox="true"/>
            <p:nvPr/>
          </p:nvSpPr>
          <p:spPr>
            <a:xfrm>
              <a:off x="0" y="-38100"/>
              <a:ext cx="114300" cy="596900"/>
            </a:xfrm>
            <a:prstGeom prst="rect">
              <a:avLst/>
            </a:prstGeom>
          </p:spPr>
          <p:txBody>
            <a:bodyPr anchor="ctr" rtlCol="false" tIns="50800" lIns="50800" bIns="50800" rIns="50800"/>
            <a:lstStyle/>
            <a:p>
              <a:pPr algn="l">
                <a:lnSpc>
                  <a:spcPts val="3079"/>
                </a:lnSpc>
              </a:pPr>
            </a:p>
          </p:txBody>
        </p:sp>
      </p:grpSp>
      <p:sp>
        <p:nvSpPr>
          <p:cNvPr name="TextBox 23" id="23"/>
          <p:cNvSpPr txBox="true"/>
          <p:nvPr/>
        </p:nvSpPr>
        <p:spPr>
          <a:xfrm rot="0">
            <a:off x="9772650" y="1714500"/>
            <a:ext cx="7600950" cy="481331"/>
          </a:xfrm>
          <a:prstGeom prst="rect">
            <a:avLst/>
          </a:prstGeom>
        </p:spPr>
        <p:txBody>
          <a:bodyPr anchor="t" rtlCol="false" tIns="0" lIns="0" bIns="0" rIns="0">
            <a:spAutoFit/>
          </a:bodyPr>
          <a:lstStyle/>
          <a:p>
            <a:pPr algn="l">
              <a:lnSpc>
                <a:spcPts val="3919"/>
              </a:lnSpc>
            </a:pPr>
            <a:r>
              <a:rPr lang="en-US" sz="2799" b="true">
                <a:solidFill>
                  <a:srgbClr val="173A78"/>
                </a:solidFill>
                <a:latin typeface="Canva Sans Bold"/>
                <a:ea typeface="Canva Sans Bold"/>
                <a:cs typeface="Canva Sans Bold"/>
                <a:sym typeface="Canva Sans Bold"/>
              </a:rPr>
              <a:t>CƠ CHẾ TRONG SP_DangKyTinChi</a:t>
            </a:r>
          </a:p>
        </p:txBody>
      </p:sp>
      <p:sp>
        <p:nvSpPr>
          <p:cNvPr name="TextBox 24" id="24"/>
          <p:cNvSpPr txBox="true"/>
          <p:nvPr/>
        </p:nvSpPr>
        <p:spPr>
          <a:xfrm rot="0">
            <a:off x="9544050" y="2362200"/>
            <a:ext cx="7791450" cy="1120775"/>
          </a:xfrm>
          <a:prstGeom prst="rect">
            <a:avLst/>
          </a:prstGeom>
        </p:spPr>
        <p:txBody>
          <a:bodyPr anchor="t" rtlCol="false" tIns="0" lIns="0" bIns="0" rIns="0">
            <a:spAutoFit/>
          </a:bodyPr>
          <a:lstStyle/>
          <a:p>
            <a:pPr algn="l">
              <a:lnSpc>
                <a:spcPts val="2949"/>
              </a:lnSpc>
            </a:pPr>
            <a:r>
              <a:rPr lang="en-US" sz="2499">
                <a:solidFill>
                  <a:srgbClr val="25384F"/>
                </a:solidFill>
                <a:latin typeface="Canva Sans"/>
                <a:ea typeface="Canva Sans"/>
                <a:cs typeface="Canva Sans"/>
                <a:sym typeface="Canva Sans"/>
              </a:rPr>
              <a:t>Trong transaction, procedure dùng UPDLOCK, HOLDLOCK khi đọc lớp và đếm lượt đăng ký. Phiên đến sau phải chờ, rồi kiểm tra lại sĩ số trước khi ghi.</a:t>
            </a:r>
          </a:p>
        </p:txBody>
      </p:sp>
      <p:grpSp>
        <p:nvGrpSpPr>
          <p:cNvPr name="Group 25" id="25"/>
          <p:cNvGrpSpPr/>
          <p:nvPr/>
        </p:nvGrpSpPr>
        <p:grpSpPr>
          <a:xfrm rot="0">
            <a:off x="685800" y="3943350"/>
            <a:ext cx="16916400" cy="1466850"/>
            <a:chOff x="0" y="0"/>
            <a:chExt cx="22555200" cy="1955800"/>
          </a:xfrm>
        </p:grpSpPr>
        <p:sp>
          <p:nvSpPr>
            <p:cNvPr name="Freeform 26" id="26"/>
            <p:cNvSpPr/>
            <p:nvPr/>
          </p:nvSpPr>
          <p:spPr>
            <a:xfrm flipH="false" flipV="false" rot="0">
              <a:off x="0" y="0"/>
              <a:ext cx="22555200" cy="1955800"/>
            </a:xfrm>
            <a:custGeom>
              <a:avLst/>
              <a:gdLst/>
              <a:ahLst/>
              <a:cxnLst/>
              <a:rect r="r" b="b" t="t" l="l"/>
              <a:pathLst>
                <a:path h="1955800" w="22555200">
                  <a:moveTo>
                    <a:pt x="203200" y="0"/>
                  </a:moveTo>
                  <a:lnTo>
                    <a:pt x="22352000" y="0"/>
                  </a:lnTo>
                  <a:cubicBezTo>
                    <a:pt x="22464224" y="0"/>
                    <a:pt x="22555200" y="90976"/>
                    <a:pt x="22555200" y="203200"/>
                  </a:cubicBezTo>
                  <a:lnTo>
                    <a:pt x="22555200" y="1752600"/>
                  </a:lnTo>
                  <a:cubicBezTo>
                    <a:pt x="22555200" y="1864824"/>
                    <a:pt x="22464224" y="1955800"/>
                    <a:pt x="22352000" y="1955800"/>
                  </a:cubicBezTo>
                  <a:lnTo>
                    <a:pt x="203200" y="1955800"/>
                  </a:lnTo>
                  <a:cubicBezTo>
                    <a:pt x="90976" y="1955800"/>
                    <a:pt x="0" y="1864824"/>
                    <a:pt x="0" y="1752600"/>
                  </a:cubicBezTo>
                  <a:lnTo>
                    <a:pt x="0" y="203200"/>
                  </a:lnTo>
                  <a:cubicBezTo>
                    <a:pt x="0" y="90976"/>
                    <a:pt x="90976" y="0"/>
                    <a:pt x="203200" y="0"/>
                  </a:cubicBezTo>
                  <a:close/>
                </a:path>
              </a:pathLst>
            </a:custGeom>
            <a:solidFill>
              <a:srgbClr val="F8FBFF"/>
            </a:solidFill>
            <a:ln w="14288" cap="sq">
              <a:solidFill>
                <a:srgbClr val="C9D8EA"/>
              </a:solidFill>
              <a:prstDash val="solid"/>
              <a:miter/>
            </a:ln>
          </p:spPr>
        </p:sp>
        <p:sp>
          <p:nvSpPr>
            <p:cNvPr name="TextBox 27" id="27"/>
            <p:cNvSpPr txBox="true"/>
            <p:nvPr/>
          </p:nvSpPr>
          <p:spPr>
            <a:xfrm>
              <a:off x="0" y="-38100"/>
              <a:ext cx="22555200" cy="1993900"/>
            </a:xfrm>
            <a:prstGeom prst="rect">
              <a:avLst/>
            </a:prstGeom>
          </p:spPr>
          <p:txBody>
            <a:bodyPr anchor="ctr" rtlCol="false" tIns="50800" lIns="50800" bIns="50800" rIns="50800"/>
            <a:lstStyle/>
            <a:p>
              <a:pPr algn="l">
                <a:lnSpc>
                  <a:spcPts val="3079"/>
                </a:lnSpc>
              </a:pPr>
            </a:p>
          </p:txBody>
        </p:sp>
      </p:grpSp>
      <p:grpSp>
        <p:nvGrpSpPr>
          <p:cNvPr name="Group 28" id="28"/>
          <p:cNvGrpSpPr/>
          <p:nvPr/>
        </p:nvGrpSpPr>
        <p:grpSpPr>
          <a:xfrm rot="0">
            <a:off x="895350" y="4152900"/>
            <a:ext cx="85725" cy="400050"/>
            <a:chOff x="0" y="0"/>
            <a:chExt cx="114300" cy="533400"/>
          </a:xfrm>
        </p:grpSpPr>
        <p:sp>
          <p:nvSpPr>
            <p:cNvPr name="Freeform 29" id="29"/>
            <p:cNvSpPr/>
            <p:nvPr/>
          </p:nvSpPr>
          <p:spPr>
            <a:xfrm flipH="false" flipV="false" rot="0">
              <a:off x="0" y="0"/>
              <a:ext cx="114300" cy="533400"/>
            </a:xfrm>
            <a:custGeom>
              <a:avLst/>
              <a:gdLst/>
              <a:ahLst/>
              <a:cxnLst/>
              <a:rect r="r" b="b" t="t" l="l"/>
              <a:pathLst>
                <a:path h="533400" w="114300">
                  <a:moveTo>
                    <a:pt x="50800" y="0"/>
                  </a:moveTo>
                  <a:lnTo>
                    <a:pt x="63500" y="0"/>
                  </a:lnTo>
                  <a:cubicBezTo>
                    <a:pt x="91556" y="0"/>
                    <a:pt x="114300" y="22744"/>
                    <a:pt x="114300" y="50800"/>
                  </a:cubicBezTo>
                  <a:lnTo>
                    <a:pt x="114300" y="482600"/>
                  </a:lnTo>
                  <a:cubicBezTo>
                    <a:pt x="114300" y="510656"/>
                    <a:pt x="91556" y="533400"/>
                    <a:pt x="63500" y="533400"/>
                  </a:cubicBezTo>
                  <a:lnTo>
                    <a:pt x="50800" y="533400"/>
                  </a:lnTo>
                  <a:cubicBezTo>
                    <a:pt x="22744" y="533400"/>
                    <a:pt x="0" y="510656"/>
                    <a:pt x="0" y="482600"/>
                  </a:cubicBezTo>
                  <a:lnTo>
                    <a:pt x="0" y="50800"/>
                  </a:lnTo>
                  <a:cubicBezTo>
                    <a:pt x="0" y="22744"/>
                    <a:pt x="22744" y="0"/>
                    <a:pt x="50800" y="0"/>
                  </a:cubicBezTo>
                  <a:close/>
                </a:path>
              </a:pathLst>
            </a:custGeom>
            <a:solidFill>
              <a:srgbClr val="3E78C5"/>
            </a:solidFill>
          </p:spPr>
        </p:sp>
        <p:sp>
          <p:nvSpPr>
            <p:cNvPr name="TextBox 30" id="30"/>
            <p:cNvSpPr txBox="true"/>
            <p:nvPr/>
          </p:nvSpPr>
          <p:spPr>
            <a:xfrm>
              <a:off x="0" y="-38100"/>
              <a:ext cx="114300" cy="571500"/>
            </a:xfrm>
            <a:prstGeom prst="rect">
              <a:avLst/>
            </a:prstGeom>
          </p:spPr>
          <p:txBody>
            <a:bodyPr anchor="ctr" rtlCol="false" tIns="50800" lIns="50800" bIns="50800" rIns="50800"/>
            <a:lstStyle/>
            <a:p>
              <a:pPr algn="l">
                <a:lnSpc>
                  <a:spcPts val="3079"/>
                </a:lnSpc>
              </a:pPr>
            </a:p>
          </p:txBody>
        </p:sp>
      </p:grpSp>
      <p:sp>
        <p:nvSpPr>
          <p:cNvPr name="TextBox 31" id="31"/>
          <p:cNvSpPr txBox="true"/>
          <p:nvPr/>
        </p:nvSpPr>
        <p:spPr>
          <a:xfrm rot="0">
            <a:off x="1181100" y="4095750"/>
            <a:ext cx="16192500" cy="481331"/>
          </a:xfrm>
          <a:prstGeom prst="rect">
            <a:avLst/>
          </a:prstGeom>
        </p:spPr>
        <p:txBody>
          <a:bodyPr anchor="t" rtlCol="false" tIns="0" lIns="0" bIns="0" rIns="0">
            <a:spAutoFit/>
          </a:bodyPr>
          <a:lstStyle/>
          <a:p>
            <a:pPr algn="l">
              <a:lnSpc>
                <a:spcPts val="3919"/>
              </a:lnSpc>
            </a:pPr>
            <a:r>
              <a:rPr lang="en-US" sz="2799" b="true">
                <a:solidFill>
                  <a:srgbClr val="173A78"/>
                </a:solidFill>
                <a:latin typeface="Canva Sans Bold"/>
                <a:ea typeface="Canva Sans Bold"/>
                <a:cs typeface="Canva Sans Bold"/>
                <a:sym typeface="Canva Sans Bold"/>
              </a:rPr>
              <a:t>KẾT QUẢ MONG ĐỢI KHI DEMO HAI PHIÊN</a:t>
            </a:r>
          </a:p>
        </p:txBody>
      </p:sp>
      <p:sp>
        <p:nvSpPr>
          <p:cNvPr name="TextBox 32" id="32"/>
          <p:cNvSpPr txBox="true"/>
          <p:nvPr/>
        </p:nvSpPr>
        <p:spPr>
          <a:xfrm rot="0">
            <a:off x="744618" y="4758056"/>
            <a:ext cx="17065463" cy="339090"/>
          </a:xfrm>
          <a:prstGeom prst="rect">
            <a:avLst/>
          </a:prstGeom>
        </p:spPr>
        <p:txBody>
          <a:bodyPr anchor="t" rtlCol="false" tIns="0" lIns="0" bIns="0" rIns="0">
            <a:spAutoFit/>
          </a:bodyPr>
          <a:lstStyle/>
          <a:p>
            <a:pPr algn="l">
              <a:lnSpc>
                <a:spcPts val="2759"/>
              </a:lnSpc>
            </a:pPr>
            <a:r>
              <a:rPr lang="en-US" sz="2399">
                <a:solidFill>
                  <a:srgbClr val="25384F"/>
                </a:solidFill>
                <a:latin typeface="Canva Sans"/>
                <a:ea typeface="Canva Sans"/>
                <a:cs typeface="Canva Sans"/>
                <a:sym typeface="Canva Sans"/>
              </a:rPr>
              <a:t>Một lượt đăng ký được lưu; lượt còn lại bị từ chối vì lớp đã đủ sĩ số. Sĩ số cuối không vượt SoLuongToiDa.</a:t>
            </a:r>
          </a:p>
        </p:txBody>
      </p:sp>
      <p:sp>
        <p:nvSpPr>
          <p:cNvPr name="TextBox 33" id="33"/>
          <p:cNvSpPr txBox="true"/>
          <p:nvPr/>
        </p:nvSpPr>
        <p:spPr>
          <a:xfrm rot="0">
            <a:off x="685800" y="5600700"/>
            <a:ext cx="2857500" cy="448311"/>
          </a:xfrm>
          <a:prstGeom prst="rect">
            <a:avLst/>
          </a:prstGeom>
        </p:spPr>
        <p:txBody>
          <a:bodyPr anchor="t" rtlCol="false" tIns="0" lIns="0" bIns="0" rIns="0">
            <a:spAutoFit/>
          </a:bodyPr>
          <a:lstStyle/>
          <a:p>
            <a:pPr algn="l">
              <a:lnSpc>
                <a:spcPts val="3639"/>
              </a:lnSpc>
            </a:pPr>
            <a:r>
              <a:rPr lang="en-US" sz="2599" b="true">
                <a:solidFill>
                  <a:srgbClr val="3E78C5"/>
                </a:solidFill>
                <a:latin typeface="Canva Sans Bold"/>
                <a:ea typeface="Canva Sans Bold"/>
                <a:cs typeface="Canva Sans Bold"/>
                <a:sym typeface="Canva Sans Bold"/>
              </a:rPr>
              <a:t>LUỒNG XỬ LÝ</a:t>
            </a:r>
          </a:p>
        </p:txBody>
      </p:sp>
      <p:grpSp>
        <p:nvGrpSpPr>
          <p:cNvPr name="Group 34" id="34"/>
          <p:cNvGrpSpPr/>
          <p:nvPr/>
        </p:nvGrpSpPr>
        <p:grpSpPr>
          <a:xfrm rot="0">
            <a:off x="685800" y="6076950"/>
            <a:ext cx="2476500" cy="781050"/>
            <a:chOff x="0" y="0"/>
            <a:chExt cx="3302000" cy="1041400"/>
          </a:xfrm>
        </p:grpSpPr>
        <p:sp>
          <p:nvSpPr>
            <p:cNvPr name="Freeform 35" id="35"/>
            <p:cNvSpPr/>
            <p:nvPr/>
          </p:nvSpPr>
          <p:spPr>
            <a:xfrm flipH="false" flipV="false" rot="0">
              <a:off x="0" y="0"/>
              <a:ext cx="3302000" cy="1041400"/>
            </a:xfrm>
            <a:custGeom>
              <a:avLst/>
              <a:gdLst/>
              <a:ahLst/>
              <a:cxnLst/>
              <a:rect r="r" b="b" t="t" l="l"/>
              <a:pathLst>
                <a:path h="1041400" w="3302000">
                  <a:moveTo>
                    <a:pt x="177800" y="0"/>
                  </a:moveTo>
                  <a:lnTo>
                    <a:pt x="3124200" y="0"/>
                  </a:lnTo>
                  <a:cubicBezTo>
                    <a:pt x="3222396" y="0"/>
                    <a:pt x="3302000" y="79604"/>
                    <a:pt x="3302000" y="177800"/>
                  </a:cubicBezTo>
                  <a:lnTo>
                    <a:pt x="3302000" y="863600"/>
                  </a:lnTo>
                  <a:cubicBezTo>
                    <a:pt x="3302000" y="961796"/>
                    <a:pt x="3222396" y="1041400"/>
                    <a:pt x="3124200" y="1041400"/>
                  </a:cubicBezTo>
                  <a:lnTo>
                    <a:pt x="177800" y="1041400"/>
                  </a:lnTo>
                  <a:cubicBezTo>
                    <a:pt x="79604" y="1041400"/>
                    <a:pt x="0" y="961796"/>
                    <a:pt x="0" y="863600"/>
                  </a:cubicBezTo>
                  <a:lnTo>
                    <a:pt x="0" y="177800"/>
                  </a:lnTo>
                  <a:cubicBezTo>
                    <a:pt x="0" y="79604"/>
                    <a:pt x="79604" y="0"/>
                    <a:pt x="177800" y="0"/>
                  </a:cubicBezTo>
                  <a:close/>
                </a:path>
              </a:pathLst>
            </a:custGeom>
            <a:solidFill>
              <a:srgbClr val="EAF4FF"/>
            </a:solidFill>
            <a:ln w="15240" cap="sq">
              <a:solidFill>
                <a:srgbClr val="3E78C5"/>
              </a:solidFill>
              <a:prstDash val="solid"/>
              <a:miter/>
            </a:ln>
          </p:spPr>
        </p:sp>
        <p:sp>
          <p:nvSpPr>
            <p:cNvPr name="TextBox 36" id="36"/>
            <p:cNvSpPr txBox="true"/>
            <p:nvPr/>
          </p:nvSpPr>
          <p:spPr>
            <a:xfrm>
              <a:off x="0" y="-38100"/>
              <a:ext cx="3302000" cy="1079500"/>
            </a:xfrm>
            <a:prstGeom prst="rect">
              <a:avLst/>
            </a:prstGeom>
          </p:spPr>
          <p:txBody>
            <a:bodyPr anchor="ctr" rtlCol="false" tIns="50800" lIns="50800" bIns="50800" rIns="50800"/>
            <a:lstStyle/>
            <a:p>
              <a:pPr algn="l">
                <a:lnSpc>
                  <a:spcPts val="3079"/>
                </a:lnSpc>
              </a:pPr>
            </a:p>
          </p:txBody>
        </p:sp>
      </p:grpSp>
      <p:sp>
        <p:nvSpPr>
          <p:cNvPr name="TextBox 37" id="37"/>
          <p:cNvSpPr txBox="true"/>
          <p:nvPr/>
        </p:nvSpPr>
        <p:spPr>
          <a:xfrm rot="0">
            <a:off x="857250" y="6172836"/>
            <a:ext cx="2133600" cy="464821"/>
          </a:xfrm>
          <a:prstGeom prst="rect">
            <a:avLst/>
          </a:prstGeom>
        </p:spPr>
        <p:txBody>
          <a:bodyPr anchor="t" rtlCol="false" tIns="0" lIns="0" bIns="0" rIns="0">
            <a:spAutoFit/>
          </a:bodyPr>
          <a:lstStyle/>
          <a:p>
            <a:pPr algn="ctr">
              <a:lnSpc>
                <a:spcPts val="3779"/>
              </a:lnSpc>
            </a:pPr>
            <a:r>
              <a:rPr lang="en-US" sz="2699" b="true">
                <a:solidFill>
                  <a:srgbClr val="3E78C5"/>
                </a:solidFill>
                <a:latin typeface="Canva Sans Bold"/>
                <a:ea typeface="Canva Sans Bold"/>
                <a:cs typeface="Canva Sans Bold"/>
                <a:sym typeface="Canva Sans Bold"/>
              </a:rPr>
              <a:t>1 chỗ trống</a:t>
            </a:r>
          </a:p>
        </p:txBody>
      </p:sp>
      <p:grpSp>
        <p:nvGrpSpPr>
          <p:cNvPr name="Group 38" id="38"/>
          <p:cNvGrpSpPr/>
          <p:nvPr/>
        </p:nvGrpSpPr>
        <p:grpSpPr>
          <a:xfrm rot="0">
            <a:off x="3676650" y="6076950"/>
            <a:ext cx="2476500" cy="781050"/>
            <a:chOff x="0" y="0"/>
            <a:chExt cx="3302000" cy="1041400"/>
          </a:xfrm>
        </p:grpSpPr>
        <p:sp>
          <p:nvSpPr>
            <p:cNvPr name="Freeform 39" id="39"/>
            <p:cNvSpPr/>
            <p:nvPr/>
          </p:nvSpPr>
          <p:spPr>
            <a:xfrm flipH="false" flipV="false" rot="0">
              <a:off x="0" y="0"/>
              <a:ext cx="3302000" cy="1041400"/>
            </a:xfrm>
            <a:custGeom>
              <a:avLst/>
              <a:gdLst/>
              <a:ahLst/>
              <a:cxnLst/>
              <a:rect r="r" b="b" t="t" l="l"/>
              <a:pathLst>
                <a:path h="1041400" w="3302000">
                  <a:moveTo>
                    <a:pt x="177800" y="0"/>
                  </a:moveTo>
                  <a:lnTo>
                    <a:pt x="3124200" y="0"/>
                  </a:lnTo>
                  <a:cubicBezTo>
                    <a:pt x="3222396" y="0"/>
                    <a:pt x="3302000" y="79604"/>
                    <a:pt x="3302000" y="177800"/>
                  </a:cubicBezTo>
                  <a:lnTo>
                    <a:pt x="3302000" y="863600"/>
                  </a:lnTo>
                  <a:cubicBezTo>
                    <a:pt x="3302000" y="961796"/>
                    <a:pt x="3222396" y="1041400"/>
                    <a:pt x="3124200" y="1041400"/>
                  </a:cubicBezTo>
                  <a:lnTo>
                    <a:pt x="177800" y="1041400"/>
                  </a:lnTo>
                  <a:cubicBezTo>
                    <a:pt x="79604" y="1041400"/>
                    <a:pt x="0" y="961796"/>
                    <a:pt x="0" y="863600"/>
                  </a:cubicBezTo>
                  <a:lnTo>
                    <a:pt x="0" y="177800"/>
                  </a:lnTo>
                  <a:cubicBezTo>
                    <a:pt x="0" y="79604"/>
                    <a:pt x="79604" y="0"/>
                    <a:pt x="177800" y="0"/>
                  </a:cubicBezTo>
                  <a:close/>
                </a:path>
              </a:pathLst>
            </a:custGeom>
            <a:solidFill>
              <a:srgbClr val="F2F7FD"/>
            </a:solidFill>
            <a:ln w="15240" cap="sq">
              <a:solidFill>
                <a:srgbClr val="3E78C5"/>
              </a:solidFill>
              <a:prstDash val="solid"/>
              <a:miter/>
            </a:ln>
          </p:spPr>
        </p:sp>
        <p:sp>
          <p:nvSpPr>
            <p:cNvPr name="TextBox 40" id="40"/>
            <p:cNvSpPr txBox="true"/>
            <p:nvPr/>
          </p:nvSpPr>
          <p:spPr>
            <a:xfrm>
              <a:off x="0" y="-38100"/>
              <a:ext cx="3302000" cy="1079500"/>
            </a:xfrm>
            <a:prstGeom prst="rect">
              <a:avLst/>
            </a:prstGeom>
          </p:spPr>
          <p:txBody>
            <a:bodyPr anchor="ctr" rtlCol="false" tIns="50800" lIns="50800" bIns="50800" rIns="50800"/>
            <a:lstStyle/>
            <a:p>
              <a:pPr algn="l">
                <a:lnSpc>
                  <a:spcPts val="3079"/>
                </a:lnSpc>
              </a:pPr>
            </a:p>
          </p:txBody>
        </p:sp>
      </p:grpSp>
      <p:sp>
        <p:nvSpPr>
          <p:cNvPr name="TextBox 41" id="41"/>
          <p:cNvSpPr txBox="true"/>
          <p:nvPr/>
        </p:nvSpPr>
        <p:spPr>
          <a:xfrm rot="0">
            <a:off x="3781425" y="6029325"/>
            <a:ext cx="2133600" cy="789305"/>
          </a:xfrm>
          <a:prstGeom prst="rect">
            <a:avLst/>
          </a:prstGeom>
        </p:spPr>
        <p:txBody>
          <a:bodyPr anchor="t" rtlCol="false" tIns="0" lIns="0" bIns="0" rIns="0">
            <a:spAutoFit/>
          </a:bodyPr>
          <a:lstStyle/>
          <a:p>
            <a:pPr algn="ctr">
              <a:lnSpc>
                <a:spcPts val="3219"/>
              </a:lnSpc>
            </a:pPr>
            <a:r>
              <a:rPr lang="en-US" sz="2299" b="true">
                <a:solidFill>
                  <a:srgbClr val="3E78C5"/>
                </a:solidFill>
                <a:latin typeface="Canva Sans Bold"/>
                <a:ea typeface="Canva Sans Bold"/>
                <a:cs typeface="Canva Sans Bold"/>
                <a:sym typeface="Canva Sans Bold"/>
              </a:rPr>
              <a:t>A và B cùng đăng ký</a:t>
            </a:r>
          </a:p>
        </p:txBody>
      </p:sp>
      <p:grpSp>
        <p:nvGrpSpPr>
          <p:cNvPr name="Group 42" id="42"/>
          <p:cNvGrpSpPr/>
          <p:nvPr/>
        </p:nvGrpSpPr>
        <p:grpSpPr>
          <a:xfrm rot="0">
            <a:off x="6667500" y="6076950"/>
            <a:ext cx="2476500" cy="781050"/>
            <a:chOff x="0" y="0"/>
            <a:chExt cx="3302000" cy="1041400"/>
          </a:xfrm>
        </p:grpSpPr>
        <p:sp>
          <p:nvSpPr>
            <p:cNvPr name="Freeform 43" id="43"/>
            <p:cNvSpPr/>
            <p:nvPr/>
          </p:nvSpPr>
          <p:spPr>
            <a:xfrm flipH="false" flipV="false" rot="0">
              <a:off x="0" y="0"/>
              <a:ext cx="3302000" cy="1041400"/>
            </a:xfrm>
            <a:custGeom>
              <a:avLst/>
              <a:gdLst/>
              <a:ahLst/>
              <a:cxnLst/>
              <a:rect r="r" b="b" t="t" l="l"/>
              <a:pathLst>
                <a:path h="1041400" w="3302000">
                  <a:moveTo>
                    <a:pt x="177800" y="0"/>
                  </a:moveTo>
                  <a:lnTo>
                    <a:pt x="3124200" y="0"/>
                  </a:lnTo>
                  <a:cubicBezTo>
                    <a:pt x="3222396" y="0"/>
                    <a:pt x="3302000" y="79604"/>
                    <a:pt x="3302000" y="177800"/>
                  </a:cubicBezTo>
                  <a:lnTo>
                    <a:pt x="3302000" y="863600"/>
                  </a:lnTo>
                  <a:cubicBezTo>
                    <a:pt x="3302000" y="961796"/>
                    <a:pt x="3222396" y="1041400"/>
                    <a:pt x="3124200" y="1041400"/>
                  </a:cubicBezTo>
                  <a:lnTo>
                    <a:pt x="177800" y="1041400"/>
                  </a:lnTo>
                  <a:cubicBezTo>
                    <a:pt x="79604" y="1041400"/>
                    <a:pt x="0" y="961796"/>
                    <a:pt x="0" y="863600"/>
                  </a:cubicBezTo>
                  <a:lnTo>
                    <a:pt x="0" y="177800"/>
                  </a:lnTo>
                  <a:cubicBezTo>
                    <a:pt x="0" y="79604"/>
                    <a:pt x="79604" y="0"/>
                    <a:pt x="177800" y="0"/>
                  </a:cubicBezTo>
                  <a:close/>
                </a:path>
              </a:pathLst>
            </a:custGeom>
            <a:solidFill>
              <a:srgbClr val="EEF4FC"/>
            </a:solidFill>
            <a:ln w="15240" cap="sq">
              <a:solidFill>
                <a:srgbClr val="173A78"/>
              </a:solidFill>
              <a:prstDash val="solid"/>
              <a:miter/>
            </a:ln>
          </p:spPr>
        </p:sp>
        <p:sp>
          <p:nvSpPr>
            <p:cNvPr name="TextBox 44" id="44"/>
            <p:cNvSpPr txBox="true"/>
            <p:nvPr/>
          </p:nvSpPr>
          <p:spPr>
            <a:xfrm>
              <a:off x="0" y="-38100"/>
              <a:ext cx="3302000" cy="1079500"/>
            </a:xfrm>
            <a:prstGeom prst="rect">
              <a:avLst/>
            </a:prstGeom>
          </p:spPr>
          <p:txBody>
            <a:bodyPr anchor="ctr" rtlCol="false" tIns="50800" lIns="50800" bIns="50800" rIns="50800"/>
            <a:lstStyle/>
            <a:p>
              <a:pPr algn="l">
                <a:lnSpc>
                  <a:spcPts val="3079"/>
                </a:lnSpc>
              </a:pPr>
            </a:p>
          </p:txBody>
        </p:sp>
      </p:grpSp>
      <p:sp>
        <p:nvSpPr>
          <p:cNvPr name="TextBox 45" id="45"/>
          <p:cNvSpPr txBox="true"/>
          <p:nvPr/>
        </p:nvSpPr>
        <p:spPr>
          <a:xfrm rot="0">
            <a:off x="6838950" y="6038850"/>
            <a:ext cx="2133600" cy="763270"/>
          </a:xfrm>
          <a:prstGeom prst="rect">
            <a:avLst/>
          </a:prstGeom>
        </p:spPr>
        <p:txBody>
          <a:bodyPr anchor="t" rtlCol="false" tIns="0" lIns="0" bIns="0" rIns="0">
            <a:spAutoFit/>
          </a:bodyPr>
          <a:lstStyle/>
          <a:p>
            <a:pPr algn="ctr">
              <a:lnSpc>
                <a:spcPts val="3079"/>
              </a:lnSpc>
            </a:pPr>
            <a:r>
              <a:rPr lang="en-US" sz="2199" b="true">
                <a:solidFill>
                  <a:srgbClr val="173A78"/>
                </a:solidFill>
                <a:latin typeface="Canva Sans Bold"/>
                <a:ea typeface="Canva Sans Bold"/>
                <a:cs typeface="Canva Sans Bold"/>
                <a:sym typeface="Canva Sans Bold"/>
              </a:rPr>
              <a:t>khóa &amp; kiểm tra lại</a:t>
            </a:r>
          </a:p>
        </p:txBody>
      </p:sp>
      <p:sp>
        <p:nvSpPr>
          <p:cNvPr name="AutoShape 46" id="46"/>
          <p:cNvSpPr/>
          <p:nvPr/>
        </p:nvSpPr>
        <p:spPr>
          <a:xfrm>
            <a:off x="3238500" y="6467475"/>
            <a:ext cx="361950" cy="0"/>
          </a:xfrm>
          <a:prstGeom prst="line">
            <a:avLst/>
          </a:prstGeom>
          <a:ln cap="flat" w="28575">
            <a:solidFill>
              <a:srgbClr val="3E78C5"/>
            </a:solidFill>
            <a:prstDash val="solid"/>
            <a:headEnd type="none" len="sm" w="sm"/>
            <a:tailEnd type="arrow" len="sm" w="med"/>
          </a:ln>
        </p:spPr>
      </p:sp>
      <p:sp>
        <p:nvSpPr>
          <p:cNvPr name="AutoShape 47" id="47"/>
          <p:cNvSpPr/>
          <p:nvPr/>
        </p:nvSpPr>
        <p:spPr>
          <a:xfrm>
            <a:off x="6229350" y="6467475"/>
            <a:ext cx="361950" cy="0"/>
          </a:xfrm>
          <a:prstGeom prst="line">
            <a:avLst/>
          </a:prstGeom>
          <a:ln cap="flat" w="28575">
            <a:solidFill>
              <a:srgbClr val="3E78C5"/>
            </a:solidFill>
            <a:prstDash val="solid"/>
            <a:headEnd type="none" len="sm" w="sm"/>
            <a:tailEnd type="arrow" len="sm" w="med"/>
          </a:ln>
        </p:spPr>
      </p:sp>
      <p:grpSp>
        <p:nvGrpSpPr>
          <p:cNvPr name="Group 48" id="48"/>
          <p:cNvGrpSpPr/>
          <p:nvPr/>
        </p:nvGrpSpPr>
        <p:grpSpPr>
          <a:xfrm rot="0">
            <a:off x="1352550" y="7848600"/>
            <a:ext cx="3143250" cy="990600"/>
            <a:chOff x="0" y="0"/>
            <a:chExt cx="4191000" cy="1320800"/>
          </a:xfrm>
        </p:grpSpPr>
        <p:sp>
          <p:nvSpPr>
            <p:cNvPr name="Freeform 49" id="49"/>
            <p:cNvSpPr/>
            <p:nvPr/>
          </p:nvSpPr>
          <p:spPr>
            <a:xfrm flipH="false" flipV="false" rot="0">
              <a:off x="0" y="0"/>
              <a:ext cx="4191000" cy="1320800"/>
            </a:xfrm>
            <a:custGeom>
              <a:avLst/>
              <a:gdLst/>
              <a:ahLst/>
              <a:cxnLst/>
              <a:rect r="r" b="b" t="t" l="l"/>
              <a:pathLst>
                <a:path h="1320800" w="4191000">
                  <a:moveTo>
                    <a:pt x="177800" y="0"/>
                  </a:moveTo>
                  <a:lnTo>
                    <a:pt x="4013200" y="0"/>
                  </a:lnTo>
                  <a:cubicBezTo>
                    <a:pt x="4111396" y="0"/>
                    <a:pt x="4191000" y="79604"/>
                    <a:pt x="4191000" y="177800"/>
                  </a:cubicBezTo>
                  <a:lnTo>
                    <a:pt x="4191000" y="1143000"/>
                  </a:lnTo>
                  <a:cubicBezTo>
                    <a:pt x="4191000" y="1241196"/>
                    <a:pt x="4111396" y="1320800"/>
                    <a:pt x="40132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EAF4FF"/>
            </a:solidFill>
            <a:ln w="17145" cap="sq">
              <a:solidFill>
                <a:srgbClr val="3E78C5"/>
              </a:solidFill>
              <a:prstDash val="solid"/>
              <a:miter/>
            </a:ln>
          </p:spPr>
        </p:sp>
        <p:sp>
          <p:nvSpPr>
            <p:cNvPr name="TextBox 50" id="50"/>
            <p:cNvSpPr txBox="true"/>
            <p:nvPr/>
          </p:nvSpPr>
          <p:spPr>
            <a:xfrm>
              <a:off x="0" y="-38100"/>
              <a:ext cx="4191000" cy="1358900"/>
            </a:xfrm>
            <a:prstGeom prst="rect">
              <a:avLst/>
            </a:prstGeom>
          </p:spPr>
          <p:txBody>
            <a:bodyPr anchor="ctr" rtlCol="false" tIns="50800" lIns="50800" bIns="50800" rIns="50800"/>
            <a:lstStyle/>
            <a:p>
              <a:pPr algn="l">
                <a:lnSpc>
                  <a:spcPts val="3079"/>
                </a:lnSpc>
              </a:pPr>
            </a:p>
          </p:txBody>
        </p:sp>
      </p:grpSp>
      <p:sp>
        <p:nvSpPr>
          <p:cNvPr name="TextBox 51" id="51"/>
          <p:cNvSpPr txBox="true"/>
          <p:nvPr/>
        </p:nvSpPr>
        <p:spPr>
          <a:xfrm rot="0">
            <a:off x="1524000" y="8134350"/>
            <a:ext cx="2800350" cy="497841"/>
          </a:xfrm>
          <a:prstGeom prst="rect">
            <a:avLst/>
          </a:prstGeom>
        </p:spPr>
        <p:txBody>
          <a:bodyPr anchor="t" rtlCol="false" tIns="0" lIns="0" bIns="0" rIns="0">
            <a:spAutoFit/>
          </a:bodyPr>
          <a:lstStyle/>
          <a:p>
            <a:pPr algn="ctr">
              <a:lnSpc>
                <a:spcPts val="4059"/>
              </a:lnSpc>
            </a:pPr>
            <a:r>
              <a:rPr lang="en-US" sz="2899" b="true">
                <a:solidFill>
                  <a:srgbClr val="3E78C5"/>
                </a:solidFill>
                <a:latin typeface="Canva Sans Bold"/>
                <a:ea typeface="Canva Sans Bold"/>
                <a:cs typeface="Canva Sans Bold"/>
                <a:sym typeface="Canva Sans Bold"/>
              </a:rPr>
              <a:t>1 thành công</a:t>
            </a:r>
          </a:p>
        </p:txBody>
      </p:sp>
      <p:grpSp>
        <p:nvGrpSpPr>
          <p:cNvPr name="Group 52" id="52"/>
          <p:cNvGrpSpPr/>
          <p:nvPr/>
        </p:nvGrpSpPr>
        <p:grpSpPr>
          <a:xfrm rot="0">
            <a:off x="13792200" y="7848600"/>
            <a:ext cx="3143250" cy="990600"/>
            <a:chOff x="0" y="0"/>
            <a:chExt cx="4191000" cy="1320800"/>
          </a:xfrm>
        </p:grpSpPr>
        <p:sp>
          <p:nvSpPr>
            <p:cNvPr name="Freeform 53" id="53"/>
            <p:cNvSpPr/>
            <p:nvPr/>
          </p:nvSpPr>
          <p:spPr>
            <a:xfrm flipH="false" flipV="false" rot="0">
              <a:off x="0" y="0"/>
              <a:ext cx="4191000" cy="1320800"/>
            </a:xfrm>
            <a:custGeom>
              <a:avLst/>
              <a:gdLst/>
              <a:ahLst/>
              <a:cxnLst/>
              <a:rect r="r" b="b" t="t" l="l"/>
              <a:pathLst>
                <a:path h="1320800" w="4191000">
                  <a:moveTo>
                    <a:pt x="177800" y="0"/>
                  </a:moveTo>
                  <a:lnTo>
                    <a:pt x="4013200" y="0"/>
                  </a:lnTo>
                  <a:cubicBezTo>
                    <a:pt x="4111396" y="0"/>
                    <a:pt x="4191000" y="79604"/>
                    <a:pt x="4191000" y="177800"/>
                  </a:cubicBezTo>
                  <a:lnTo>
                    <a:pt x="4191000" y="1143000"/>
                  </a:lnTo>
                  <a:cubicBezTo>
                    <a:pt x="4191000" y="1241196"/>
                    <a:pt x="4111396" y="1320800"/>
                    <a:pt x="4013200" y="1320800"/>
                  </a:cubicBezTo>
                  <a:lnTo>
                    <a:pt x="177800" y="1320800"/>
                  </a:lnTo>
                  <a:cubicBezTo>
                    <a:pt x="79604" y="1320800"/>
                    <a:pt x="0" y="1241196"/>
                    <a:pt x="0" y="1143000"/>
                  </a:cubicBezTo>
                  <a:lnTo>
                    <a:pt x="0" y="177800"/>
                  </a:lnTo>
                  <a:cubicBezTo>
                    <a:pt x="0" y="79604"/>
                    <a:pt x="79604" y="0"/>
                    <a:pt x="177800" y="0"/>
                  </a:cubicBezTo>
                  <a:close/>
                </a:path>
              </a:pathLst>
            </a:custGeom>
            <a:solidFill>
              <a:srgbClr val="FFF1E6"/>
            </a:solidFill>
            <a:ln w="17145" cap="sq">
              <a:solidFill>
                <a:srgbClr val="D97832"/>
              </a:solidFill>
              <a:prstDash val="solid"/>
              <a:miter/>
            </a:ln>
          </p:spPr>
        </p:sp>
        <p:sp>
          <p:nvSpPr>
            <p:cNvPr name="TextBox 54" id="54"/>
            <p:cNvSpPr txBox="true"/>
            <p:nvPr/>
          </p:nvSpPr>
          <p:spPr>
            <a:xfrm>
              <a:off x="0" y="-38100"/>
              <a:ext cx="4191000" cy="1358900"/>
            </a:xfrm>
            <a:prstGeom prst="rect">
              <a:avLst/>
            </a:prstGeom>
          </p:spPr>
          <p:txBody>
            <a:bodyPr anchor="ctr" rtlCol="false" tIns="50800" lIns="50800" bIns="50800" rIns="50800"/>
            <a:lstStyle/>
            <a:p>
              <a:pPr algn="l">
                <a:lnSpc>
                  <a:spcPts val="3079"/>
                </a:lnSpc>
              </a:pPr>
            </a:p>
          </p:txBody>
        </p:sp>
      </p:grpSp>
      <p:sp>
        <p:nvSpPr>
          <p:cNvPr name="TextBox 55" id="55"/>
          <p:cNvSpPr txBox="true"/>
          <p:nvPr/>
        </p:nvSpPr>
        <p:spPr>
          <a:xfrm rot="0">
            <a:off x="13963650" y="8134350"/>
            <a:ext cx="2800350" cy="497841"/>
          </a:xfrm>
          <a:prstGeom prst="rect">
            <a:avLst/>
          </a:prstGeom>
        </p:spPr>
        <p:txBody>
          <a:bodyPr anchor="t" rtlCol="false" tIns="0" lIns="0" bIns="0" rIns="0">
            <a:spAutoFit/>
          </a:bodyPr>
          <a:lstStyle/>
          <a:p>
            <a:pPr algn="ctr">
              <a:lnSpc>
                <a:spcPts val="4059"/>
              </a:lnSpc>
            </a:pPr>
            <a:r>
              <a:rPr lang="en-US" sz="2899" b="true">
                <a:solidFill>
                  <a:srgbClr val="D97832"/>
                </a:solidFill>
                <a:latin typeface="Canva Sans Bold"/>
                <a:ea typeface="Canva Sans Bold"/>
                <a:cs typeface="Canva Sans Bold"/>
                <a:sym typeface="Canva Sans Bold"/>
              </a:rPr>
              <a:t>1 bị từ chối</a:t>
            </a:r>
          </a:p>
        </p:txBody>
      </p:sp>
      <p:sp>
        <p:nvSpPr>
          <p:cNvPr name="AutoShape 56" id="56"/>
          <p:cNvSpPr/>
          <p:nvPr/>
        </p:nvSpPr>
        <p:spPr>
          <a:xfrm flipH="true">
            <a:off x="2924175" y="6858000"/>
            <a:ext cx="4981575" cy="914400"/>
          </a:xfrm>
          <a:prstGeom prst="line">
            <a:avLst/>
          </a:prstGeom>
          <a:ln cap="flat" w="28575">
            <a:solidFill>
              <a:srgbClr val="3E78C5"/>
            </a:solidFill>
            <a:prstDash val="solid"/>
            <a:headEnd type="none" len="sm" w="sm"/>
            <a:tailEnd type="arrow" len="sm" w="med"/>
          </a:ln>
        </p:spPr>
      </p:sp>
      <p:sp>
        <p:nvSpPr>
          <p:cNvPr name="AutoShape 57" id="57"/>
          <p:cNvSpPr/>
          <p:nvPr/>
        </p:nvSpPr>
        <p:spPr>
          <a:xfrm>
            <a:off x="7905750" y="6858000"/>
            <a:ext cx="7458075" cy="914400"/>
          </a:xfrm>
          <a:prstGeom prst="line">
            <a:avLst/>
          </a:prstGeom>
          <a:ln cap="flat" w="28575">
            <a:solidFill>
              <a:srgbClr val="D97832"/>
            </a:solidFill>
            <a:prstDash val="solid"/>
            <a:headEnd type="none" len="sm" w="sm"/>
            <a:tailEnd type="arrow" len="sm" w="med"/>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9525"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sp>
          <p:nvSpPr>
            <p:cNvPr name="TextBox 5" id="5"/>
            <p:cNvSpPr txBox="true"/>
            <p:nvPr/>
          </p:nvSpPr>
          <p:spPr>
            <a:xfrm>
              <a:off x="0" y="-38100"/>
              <a:ext cx="24384000" cy="13754100"/>
            </a:xfrm>
            <a:prstGeom prst="rect">
              <a:avLst/>
            </a:prstGeom>
          </p:spPr>
          <p:txBody>
            <a:bodyPr anchor="ctr" rtlCol="false" tIns="50800" lIns="50800" bIns="50800" rIns="50800"/>
            <a:lstStyle/>
            <a:p>
              <a:pPr algn="l">
                <a:lnSpc>
                  <a:spcPts val="2659"/>
                </a:lnSpc>
              </a:pPr>
            </a:p>
          </p:txBody>
        </p:sp>
      </p:grpSp>
      <p:sp>
        <p:nvSpPr>
          <p:cNvPr name="TextBox 6" id="6"/>
          <p:cNvSpPr txBox="true"/>
          <p:nvPr/>
        </p:nvSpPr>
        <p:spPr>
          <a:xfrm rot="0">
            <a:off x="819150" y="273685"/>
            <a:ext cx="16649700" cy="755015"/>
          </a:xfrm>
          <a:prstGeom prst="rect">
            <a:avLst/>
          </a:prstGeom>
        </p:spPr>
        <p:txBody>
          <a:bodyPr anchor="t" rtlCol="false" tIns="0" lIns="0" bIns="0" rIns="0">
            <a:spAutoFit/>
          </a:bodyPr>
          <a:lstStyle/>
          <a:p>
            <a:pPr algn="l">
              <a:lnSpc>
                <a:spcPts val="6160"/>
              </a:lnSpc>
            </a:pPr>
            <a:r>
              <a:rPr lang="en-US" sz="4400" b="true">
                <a:solidFill>
                  <a:srgbClr val="173A78"/>
                </a:solidFill>
                <a:latin typeface="Canva Sans Bold"/>
                <a:ea typeface="Canva Sans Bold"/>
                <a:cs typeface="Canva Sans Bold"/>
                <a:sym typeface="Canva Sans Bold"/>
              </a:rPr>
              <a:t>10. BẢO MẬT &amp; PHÂN QUYỀN</a:t>
            </a:r>
          </a:p>
        </p:txBody>
      </p:sp>
      <p:sp>
        <p:nvSpPr>
          <p:cNvPr name="TextBox 7" id="7"/>
          <p:cNvSpPr txBox="true"/>
          <p:nvPr/>
        </p:nvSpPr>
        <p:spPr>
          <a:xfrm rot="0">
            <a:off x="819150" y="1036003"/>
            <a:ext cx="16649700" cy="448311"/>
          </a:xfrm>
          <a:prstGeom prst="rect">
            <a:avLst/>
          </a:prstGeom>
        </p:spPr>
        <p:txBody>
          <a:bodyPr anchor="t" rtlCol="false" tIns="0" lIns="0" bIns="0" rIns="0">
            <a:spAutoFit/>
          </a:bodyPr>
          <a:lstStyle/>
          <a:p>
            <a:pPr algn="l">
              <a:lnSpc>
                <a:spcPts val="3639"/>
              </a:lnSpc>
            </a:pPr>
            <a:r>
              <a:rPr lang="en-US" sz="2599">
                <a:solidFill>
                  <a:srgbClr val="59697A"/>
                </a:solidFill>
                <a:latin typeface="Canva Sans"/>
                <a:ea typeface="Canva Sans"/>
                <a:cs typeface="Canva Sans"/>
                <a:sym typeface="Canva Sans"/>
              </a:rPr>
              <a:t>Nhóm tạo 4 role trong SQL Server và cấp quyền theo công việc của từng nhóm người dùng.</a:t>
            </a:r>
          </a:p>
        </p:txBody>
      </p:sp>
      <p:sp>
        <p:nvSpPr>
          <p:cNvPr name="AutoShape 8" id="8"/>
          <p:cNvSpPr/>
          <p:nvPr/>
        </p:nvSpPr>
        <p:spPr>
          <a:xfrm>
            <a:off x="819150" y="1592897"/>
            <a:ext cx="16649700" cy="0"/>
          </a:xfrm>
          <a:prstGeom prst="line">
            <a:avLst/>
          </a:prstGeom>
          <a:ln cap="flat" w="19050">
            <a:solidFill>
              <a:srgbClr val="2D91B8"/>
            </a:solidFill>
            <a:prstDash val="solid"/>
            <a:headEnd type="none" len="sm" w="sm"/>
            <a:tailEnd type="none" len="sm" w="sm"/>
          </a:ln>
        </p:spPr>
      </p:sp>
      <p:grpSp>
        <p:nvGrpSpPr>
          <p:cNvPr name="Group 9" id="9"/>
          <p:cNvGrpSpPr/>
          <p:nvPr/>
        </p:nvGrpSpPr>
        <p:grpSpPr>
          <a:xfrm rot="0">
            <a:off x="819150" y="1952625"/>
            <a:ext cx="8162925" cy="2524125"/>
            <a:chOff x="0" y="0"/>
            <a:chExt cx="10883900" cy="3365500"/>
          </a:xfrm>
        </p:grpSpPr>
        <p:sp>
          <p:nvSpPr>
            <p:cNvPr name="Freeform 10" id="10"/>
            <p:cNvSpPr/>
            <p:nvPr/>
          </p:nvSpPr>
          <p:spPr>
            <a:xfrm flipH="false" flipV="false" rot="0">
              <a:off x="0" y="0"/>
              <a:ext cx="10883900" cy="3365500"/>
            </a:xfrm>
            <a:custGeom>
              <a:avLst/>
              <a:gdLst/>
              <a:ahLst/>
              <a:cxnLst/>
              <a:rect r="r" b="b" t="t" l="l"/>
              <a:pathLst>
                <a:path h="3365500" w="10883900">
                  <a:moveTo>
                    <a:pt x="203200" y="0"/>
                  </a:moveTo>
                  <a:lnTo>
                    <a:pt x="10680700" y="0"/>
                  </a:lnTo>
                  <a:cubicBezTo>
                    <a:pt x="10792924" y="0"/>
                    <a:pt x="10883900" y="90976"/>
                    <a:pt x="10883900" y="203200"/>
                  </a:cubicBezTo>
                  <a:lnTo>
                    <a:pt x="10883900" y="3162300"/>
                  </a:lnTo>
                  <a:cubicBezTo>
                    <a:pt x="10883900" y="3274524"/>
                    <a:pt x="10792924" y="3365500"/>
                    <a:pt x="10680700" y="3365500"/>
                  </a:cubicBezTo>
                  <a:lnTo>
                    <a:pt x="203200" y="3365500"/>
                  </a:lnTo>
                  <a:cubicBezTo>
                    <a:pt x="90976" y="3365500"/>
                    <a:pt x="0" y="3274524"/>
                    <a:pt x="0" y="3162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11" id="11"/>
            <p:cNvSpPr txBox="true"/>
            <p:nvPr/>
          </p:nvSpPr>
          <p:spPr>
            <a:xfrm>
              <a:off x="0" y="-38100"/>
              <a:ext cx="10883900" cy="3403600"/>
            </a:xfrm>
            <a:prstGeom prst="rect">
              <a:avLst/>
            </a:prstGeom>
          </p:spPr>
          <p:txBody>
            <a:bodyPr anchor="ctr" rtlCol="false" tIns="50800" lIns="50800" bIns="50800" rIns="50800"/>
            <a:lstStyle/>
            <a:p>
              <a:pPr algn="l">
                <a:lnSpc>
                  <a:spcPts val="2659"/>
                </a:lnSpc>
              </a:pPr>
            </a:p>
          </p:txBody>
        </p:sp>
      </p:grpSp>
      <p:sp>
        <p:nvSpPr>
          <p:cNvPr name="Freeform 12" id="12"/>
          <p:cNvSpPr/>
          <p:nvPr/>
        </p:nvSpPr>
        <p:spPr>
          <a:xfrm flipH="false" flipV="false" rot="0">
            <a:off x="1104900" y="2219325"/>
            <a:ext cx="647700" cy="647700"/>
          </a:xfrm>
          <a:custGeom>
            <a:avLst/>
            <a:gdLst/>
            <a:ahLst/>
            <a:cxnLst/>
            <a:rect r="r" b="b" t="t" l="l"/>
            <a:pathLst>
              <a:path h="647700" w="647700">
                <a:moveTo>
                  <a:pt x="0" y="0"/>
                </a:moveTo>
                <a:lnTo>
                  <a:pt x="647700" y="0"/>
                </a:lnTo>
                <a:lnTo>
                  <a:pt x="647700" y="647700"/>
                </a:lnTo>
                <a:lnTo>
                  <a:pt x="0" y="647700"/>
                </a:lnTo>
                <a:lnTo>
                  <a:pt x="0" y="0"/>
                </a:lnTo>
                <a:close/>
              </a:path>
            </a:pathLst>
          </a:custGeom>
          <a:blipFill>
            <a:blip r:embed="rId3">
              <a:extLst>
                <a:ext uri="{96DAC541-7B7A-43D3-8B79-37D633B846F1}">
                  <asvg:svgBlip xmlns:asvg="http://schemas.microsoft.com/office/drawing/2016/SVG/main" r:embed="rId4"/>
                </a:ext>
              </a:extLst>
            </a:blip>
            <a:stretch>
              <a:fillRect l="0" t="-4869" r="0" b="-4869"/>
            </a:stretch>
          </a:blipFill>
        </p:spPr>
      </p:sp>
      <p:sp>
        <p:nvSpPr>
          <p:cNvPr name="TextBox 13" id="13"/>
          <p:cNvSpPr txBox="true"/>
          <p:nvPr/>
        </p:nvSpPr>
        <p:spPr>
          <a:xfrm rot="0">
            <a:off x="1981200" y="2257425"/>
            <a:ext cx="6696075" cy="481330"/>
          </a:xfrm>
          <a:prstGeom prst="rect">
            <a:avLst/>
          </a:prstGeom>
        </p:spPr>
        <p:txBody>
          <a:bodyPr anchor="t" rtlCol="false" tIns="0" lIns="0" bIns="0" rIns="0">
            <a:spAutoFit/>
          </a:bodyPr>
          <a:lstStyle/>
          <a:p>
            <a:pPr algn="l">
              <a:lnSpc>
                <a:spcPts val="3919"/>
              </a:lnSpc>
            </a:pPr>
            <a:r>
              <a:rPr lang="en-US" sz="2799" b="true">
                <a:solidFill>
                  <a:srgbClr val="3978C8"/>
                </a:solidFill>
                <a:latin typeface="Canva Sans Bold"/>
                <a:ea typeface="Canva Sans Bold"/>
                <a:cs typeface="Canva Sans Bold"/>
                <a:sym typeface="Canva Sans Bold"/>
              </a:rPr>
              <a:t>SINH_VIEN</a:t>
            </a:r>
          </a:p>
        </p:txBody>
      </p:sp>
      <p:sp>
        <p:nvSpPr>
          <p:cNvPr name="AutoShape 14" id="14"/>
          <p:cNvSpPr/>
          <p:nvPr/>
        </p:nvSpPr>
        <p:spPr>
          <a:xfrm>
            <a:off x="1104900" y="3019425"/>
            <a:ext cx="7591425" cy="0"/>
          </a:xfrm>
          <a:prstGeom prst="line">
            <a:avLst/>
          </a:prstGeom>
          <a:ln cap="flat" w="9525">
            <a:solidFill>
              <a:srgbClr val="C8D9EA"/>
            </a:solidFill>
            <a:prstDash val="solid"/>
            <a:headEnd type="none" len="sm" w="sm"/>
            <a:tailEnd type="none" len="sm" w="sm"/>
          </a:ln>
        </p:spPr>
      </p:sp>
      <p:sp>
        <p:nvSpPr>
          <p:cNvPr name="TextBox 15" id="15"/>
          <p:cNvSpPr txBox="true"/>
          <p:nvPr/>
        </p:nvSpPr>
        <p:spPr>
          <a:xfrm rot="0">
            <a:off x="1123950" y="3267075"/>
            <a:ext cx="7553325" cy="1076325"/>
          </a:xfrm>
          <a:prstGeom prst="rect">
            <a:avLst/>
          </a:prstGeom>
        </p:spPr>
        <p:txBody>
          <a:bodyPr anchor="t" rtlCol="false" tIns="0" lIns="0" bIns="0" rIns="0">
            <a:spAutoFit/>
          </a:bodyPr>
          <a:lstStyle/>
          <a:p>
            <a:pPr algn="l">
              <a:lnSpc>
                <a:spcPts val="2879"/>
              </a:lnSpc>
            </a:pPr>
            <a:r>
              <a:rPr lang="en-US" sz="2399">
                <a:solidFill>
                  <a:srgbClr val="26384F"/>
                </a:solidFill>
                <a:latin typeface="Canva Sans"/>
                <a:ea typeface="Canva Sans"/>
                <a:cs typeface="Canva Sans"/>
                <a:sym typeface="Canva Sans"/>
              </a:rPr>
              <a:t>Xem thời khóa biểu, bảng điểm và chương trình đào tạo; thực thi thủ tục đăng ký hoặc hủy đăng ký tín chỉ.</a:t>
            </a:r>
          </a:p>
        </p:txBody>
      </p:sp>
      <p:grpSp>
        <p:nvGrpSpPr>
          <p:cNvPr name="Group 16" id="16"/>
          <p:cNvGrpSpPr/>
          <p:nvPr/>
        </p:nvGrpSpPr>
        <p:grpSpPr>
          <a:xfrm rot="0">
            <a:off x="9305925" y="1952625"/>
            <a:ext cx="8162925" cy="2524125"/>
            <a:chOff x="0" y="0"/>
            <a:chExt cx="10883900" cy="3365500"/>
          </a:xfrm>
        </p:grpSpPr>
        <p:sp>
          <p:nvSpPr>
            <p:cNvPr name="Freeform 17" id="17"/>
            <p:cNvSpPr/>
            <p:nvPr/>
          </p:nvSpPr>
          <p:spPr>
            <a:xfrm flipH="false" flipV="false" rot="0">
              <a:off x="0" y="0"/>
              <a:ext cx="10883900" cy="3365500"/>
            </a:xfrm>
            <a:custGeom>
              <a:avLst/>
              <a:gdLst/>
              <a:ahLst/>
              <a:cxnLst/>
              <a:rect r="r" b="b" t="t" l="l"/>
              <a:pathLst>
                <a:path h="3365500" w="10883900">
                  <a:moveTo>
                    <a:pt x="203200" y="0"/>
                  </a:moveTo>
                  <a:lnTo>
                    <a:pt x="10680700" y="0"/>
                  </a:lnTo>
                  <a:cubicBezTo>
                    <a:pt x="10792924" y="0"/>
                    <a:pt x="10883900" y="90976"/>
                    <a:pt x="10883900" y="203200"/>
                  </a:cubicBezTo>
                  <a:lnTo>
                    <a:pt x="10883900" y="3162300"/>
                  </a:lnTo>
                  <a:cubicBezTo>
                    <a:pt x="10883900" y="3274524"/>
                    <a:pt x="10792924" y="3365500"/>
                    <a:pt x="10680700" y="3365500"/>
                  </a:cubicBezTo>
                  <a:lnTo>
                    <a:pt x="203200" y="3365500"/>
                  </a:lnTo>
                  <a:cubicBezTo>
                    <a:pt x="90976" y="3365500"/>
                    <a:pt x="0" y="3274524"/>
                    <a:pt x="0" y="3162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18" id="18"/>
            <p:cNvSpPr txBox="true"/>
            <p:nvPr/>
          </p:nvSpPr>
          <p:spPr>
            <a:xfrm>
              <a:off x="0" y="-38100"/>
              <a:ext cx="10883900" cy="3403600"/>
            </a:xfrm>
            <a:prstGeom prst="rect">
              <a:avLst/>
            </a:prstGeom>
          </p:spPr>
          <p:txBody>
            <a:bodyPr anchor="ctr" rtlCol="false" tIns="50800" lIns="50800" bIns="50800" rIns="50800"/>
            <a:lstStyle/>
            <a:p>
              <a:pPr algn="l">
                <a:lnSpc>
                  <a:spcPts val="2659"/>
                </a:lnSpc>
              </a:pPr>
            </a:p>
          </p:txBody>
        </p:sp>
      </p:grpSp>
      <p:sp>
        <p:nvSpPr>
          <p:cNvPr name="Freeform 19" id="19"/>
          <p:cNvSpPr/>
          <p:nvPr/>
        </p:nvSpPr>
        <p:spPr>
          <a:xfrm flipH="false" flipV="false" rot="0">
            <a:off x="9591675" y="2219325"/>
            <a:ext cx="647700" cy="647700"/>
          </a:xfrm>
          <a:custGeom>
            <a:avLst/>
            <a:gdLst/>
            <a:ahLst/>
            <a:cxnLst/>
            <a:rect r="r" b="b" t="t" l="l"/>
            <a:pathLst>
              <a:path h="647700" w="647700">
                <a:moveTo>
                  <a:pt x="0" y="0"/>
                </a:moveTo>
                <a:lnTo>
                  <a:pt x="647700" y="0"/>
                </a:lnTo>
                <a:lnTo>
                  <a:pt x="647700" y="647700"/>
                </a:lnTo>
                <a:lnTo>
                  <a:pt x="0" y="647700"/>
                </a:lnTo>
                <a:lnTo>
                  <a:pt x="0" y="0"/>
                </a:lnTo>
                <a:close/>
              </a:path>
            </a:pathLst>
          </a:custGeom>
          <a:blipFill>
            <a:blip r:embed="rId5">
              <a:extLst>
                <a:ext uri="{96DAC541-7B7A-43D3-8B79-37D633B846F1}">
                  <asvg:svgBlip xmlns:asvg="http://schemas.microsoft.com/office/drawing/2016/SVG/main" r:embed="rId6"/>
                </a:ext>
              </a:extLst>
            </a:blip>
            <a:stretch>
              <a:fillRect l="-825" t="0" r="-825" b="0"/>
            </a:stretch>
          </a:blipFill>
        </p:spPr>
      </p:sp>
      <p:sp>
        <p:nvSpPr>
          <p:cNvPr name="TextBox 20" id="20"/>
          <p:cNvSpPr txBox="true"/>
          <p:nvPr/>
        </p:nvSpPr>
        <p:spPr>
          <a:xfrm rot="0">
            <a:off x="10467975" y="2257425"/>
            <a:ext cx="6696075" cy="481330"/>
          </a:xfrm>
          <a:prstGeom prst="rect">
            <a:avLst/>
          </a:prstGeom>
        </p:spPr>
        <p:txBody>
          <a:bodyPr anchor="t" rtlCol="false" tIns="0" lIns="0" bIns="0" rIns="0">
            <a:spAutoFit/>
          </a:bodyPr>
          <a:lstStyle/>
          <a:p>
            <a:pPr algn="l">
              <a:lnSpc>
                <a:spcPts val="3919"/>
              </a:lnSpc>
            </a:pPr>
            <a:r>
              <a:rPr lang="en-US" sz="2799" b="true">
                <a:solidFill>
                  <a:srgbClr val="2D91B8"/>
                </a:solidFill>
                <a:latin typeface="Canva Sans Bold"/>
                <a:ea typeface="Canva Sans Bold"/>
                <a:cs typeface="Canva Sans Bold"/>
                <a:sym typeface="Canva Sans Bold"/>
              </a:rPr>
              <a:t>GIANG_VIEN</a:t>
            </a:r>
          </a:p>
        </p:txBody>
      </p:sp>
      <p:sp>
        <p:nvSpPr>
          <p:cNvPr name="AutoShape 21" id="21"/>
          <p:cNvSpPr/>
          <p:nvPr/>
        </p:nvSpPr>
        <p:spPr>
          <a:xfrm>
            <a:off x="9591675" y="3019425"/>
            <a:ext cx="7591425" cy="0"/>
          </a:xfrm>
          <a:prstGeom prst="line">
            <a:avLst/>
          </a:prstGeom>
          <a:ln cap="flat" w="9525">
            <a:solidFill>
              <a:srgbClr val="C8D9EA"/>
            </a:solidFill>
            <a:prstDash val="solid"/>
            <a:headEnd type="none" len="sm" w="sm"/>
            <a:tailEnd type="none" len="sm" w="sm"/>
          </a:ln>
        </p:spPr>
      </p:sp>
      <p:sp>
        <p:nvSpPr>
          <p:cNvPr name="TextBox 22" id="22"/>
          <p:cNvSpPr txBox="true"/>
          <p:nvPr/>
        </p:nvSpPr>
        <p:spPr>
          <a:xfrm rot="0">
            <a:off x="9610725" y="3267075"/>
            <a:ext cx="7553325" cy="714375"/>
          </a:xfrm>
          <a:prstGeom prst="rect">
            <a:avLst/>
          </a:prstGeom>
        </p:spPr>
        <p:txBody>
          <a:bodyPr anchor="t" rtlCol="false" tIns="0" lIns="0" bIns="0" rIns="0">
            <a:spAutoFit/>
          </a:bodyPr>
          <a:lstStyle/>
          <a:p>
            <a:pPr algn="l">
              <a:lnSpc>
                <a:spcPts val="2879"/>
              </a:lnSpc>
            </a:pPr>
            <a:r>
              <a:rPr lang="en-US" sz="2399">
                <a:solidFill>
                  <a:srgbClr val="26384F"/>
                </a:solidFill>
                <a:latin typeface="Canva Sans"/>
                <a:ea typeface="Canva Sans"/>
                <a:cs typeface="Canva Sans"/>
                <a:sym typeface="Canva Sans"/>
              </a:rPr>
              <a:t>Xem bảng điểm, chương trình đào tạo; sử dụng hàm tính điểm tổng kết.</a:t>
            </a:r>
          </a:p>
        </p:txBody>
      </p:sp>
      <p:grpSp>
        <p:nvGrpSpPr>
          <p:cNvPr name="Group 23" id="23"/>
          <p:cNvGrpSpPr/>
          <p:nvPr/>
        </p:nvGrpSpPr>
        <p:grpSpPr>
          <a:xfrm rot="0">
            <a:off x="819150" y="4810125"/>
            <a:ext cx="8162925" cy="2524125"/>
            <a:chOff x="0" y="0"/>
            <a:chExt cx="10883900" cy="3365500"/>
          </a:xfrm>
        </p:grpSpPr>
        <p:sp>
          <p:nvSpPr>
            <p:cNvPr name="Freeform 24" id="24"/>
            <p:cNvSpPr/>
            <p:nvPr/>
          </p:nvSpPr>
          <p:spPr>
            <a:xfrm flipH="false" flipV="false" rot="0">
              <a:off x="0" y="0"/>
              <a:ext cx="10883900" cy="3365500"/>
            </a:xfrm>
            <a:custGeom>
              <a:avLst/>
              <a:gdLst/>
              <a:ahLst/>
              <a:cxnLst/>
              <a:rect r="r" b="b" t="t" l="l"/>
              <a:pathLst>
                <a:path h="3365500" w="10883900">
                  <a:moveTo>
                    <a:pt x="203200" y="0"/>
                  </a:moveTo>
                  <a:lnTo>
                    <a:pt x="10680700" y="0"/>
                  </a:lnTo>
                  <a:cubicBezTo>
                    <a:pt x="10792924" y="0"/>
                    <a:pt x="10883900" y="90976"/>
                    <a:pt x="10883900" y="203200"/>
                  </a:cubicBezTo>
                  <a:lnTo>
                    <a:pt x="10883900" y="3162300"/>
                  </a:lnTo>
                  <a:cubicBezTo>
                    <a:pt x="10883900" y="3274524"/>
                    <a:pt x="10792924" y="3365500"/>
                    <a:pt x="10680700" y="3365500"/>
                  </a:cubicBezTo>
                  <a:lnTo>
                    <a:pt x="203200" y="3365500"/>
                  </a:lnTo>
                  <a:cubicBezTo>
                    <a:pt x="90976" y="3365500"/>
                    <a:pt x="0" y="3274524"/>
                    <a:pt x="0" y="3162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25" id="25"/>
            <p:cNvSpPr txBox="true"/>
            <p:nvPr/>
          </p:nvSpPr>
          <p:spPr>
            <a:xfrm>
              <a:off x="0" y="-38100"/>
              <a:ext cx="10883900" cy="3403600"/>
            </a:xfrm>
            <a:prstGeom prst="rect">
              <a:avLst/>
            </a:prstGeom>
          </p:spPr>
          <p:txBody>
            <a:bodyPr anchor="ctr" rtlCol="false" tIns="50800" lIns="50800" bIns="50800" rIns="50800"/>
            <a:lstStyle/>
            <a:p>
              <a:pPr algn="l">
                <a:lnSpc>
                  <a:spcPts val="2659"/>
                </a:lnSpc>
              </a:pPr>
            </a:p>
          </p:txBody>
        </p:sp>
      </p:grpSp>
      <p:sp>
        <p:nvSpPr>
          <p:cNvPr name="Freeform 26" id="26"/>
          <p:cNvSpPr/>
          <p:nvPr/>
        </p:nvSpPr>
        <p:spPr>
          <a:xfrm flipH="false" flipV="false" rot="0">
            <a:off x="1104900" y="5076825"/>
            <a:ext cx="647700" cy="647700"/>
          </a:xfrm>
          <a:custGeom>
            <a:avLst/>
            <a:gdLst/>
            <a:ahLst/>
            <a:cxnLst/>
            <a:rect r="r" b="b" t="t" l="l"/>
            <a:pathLst>
              <a:path h="647700" w="647700">
                <a:moveTo>
                  <a:pt x="0" y="0"/>
                </a:moveTo>
                <a:lnTo>
                  <a:pt x="647700" y="0"/>
                </a:lnTo>
                <a:lnTo>
                  <a:pt x="647700" y="647700"/>
                </a:lnTo>
                <a:lnTo>
                  <a:pt x="0" y="647700"/>
                </a:lnTo>
                <a:lnTo>
                  <a:pt x="0" y="0"/>
                </a:lnTo>
                <a:close/>
              </a:path>
            </a:pathLst>
          </a:custGeom>
          <a:blipFill>
            <a:blip r:embed="rId7">
              <a:extLst>
                <a:ext uri="{96DAC541-7B7A-43D3-8B79-37D633B846F1}">
                  <asvg:svgBlip xmlns:asvg="http://schemas.microsoft.com/office/drawing/2016/SVG/main" r:embed="rId8"/>
                </a:ext>
              </a:extLst>
            </a:blip>
            <a:stretch>
              <a:fillRect l="0" t="-9970" r="0" b="-9970"/>
            </a:stretch>
          </a:blipFill>
        </p:spPr>
      </p:sp>
      <p:sp>
        <p:nvSpPr>
          <p:cNvPr name="TextBox 27" id="27"/>
          <p:cNvSpPr txBox="true"/>
          <p:nvPr/>
        </p:nvSpPr>
        <p:spPr>
          <a:xfrm rot="0">
            <a:off x="1981200" y="5114925"/>
            <a:ext cx="6696075" cy="481330"/>
          </a:xfrm>
          <a:prstGeom prst="rect">
            <a:avLst/>
          </a:prstGeom>
        </p:spPr>
        <p:txBody>
          <a:bodyPr anchor="t" rtlCol="false" tIns="0" lIns="0" bIns="0" rIns="0">
            <a:spAutoFit/>
          </a:bodyPr>
          <a:lstStyle/>
          <a:p>
            <a:pPr algn="l">
              <a:lnSpc>
                <a:spcPts val="3919"/>
              </a:lnSpc>
            </a:pPr>
            <a:r>
              <a:rPr lang="en-US" sz="2799" b="true">
                <a:solidFill>
                  <a:srgbClr val="3978C8"/>
                </a:solidFill>
                <a:latin typeface="Canva Sans Bold"/>
                <a:ea typeface="Canva Sans Bold"/>
                <a:cs typeface="Canva Sans Bold"/>
                <a:sym typeface="Canva Sans Bold"/>
              </a:rPr>
              <a:t>DAO_TAO</a:t>
            </a:r>
          </a:p>
        </p:txBody>
      </p:sp>
      <p:sp>
        <p:nvSpPr>
          <p:cNvPr name="AutoShape 28" id="28"/>
          <p:cNvSpPr/>
          <p:nvPr/>
        </p:nvSpPr>
        <p:spPr>
          <a:xfrm>
            <a:off x="1104900" y="5876925"/>
            <a:ext cx="7591425" cy="0"/>
          </a:xfrm>
          <a:prstGeom prst="line">
            <a:avLst/>
          </a:prstGeom>
          <a:ln cap="flat" w="9525">
            <a:solidFill>
              <a:srgbClr val="C8D9EA"/>
            </a:solidFill>
            <a:prstDash val="solid"/>
            <a:headEnd type="none" len="sm" w="sm"/>
            <a:tailEnd type="none" len="sm" w="sm"/>
          </a:ln>
        </p:spPr>
      </p:sp>
      <p:sp>
        <p:nvSpPr>
          <p:cNvPr name="TextBox 29" id="29"/>
          <p:cNvSpPr txBox="true"/>
          <p:nvPr/>
        </p:nvSpPr>
        <p:spPr>
          <a:xfrm rot="0">
            <a:off x="1123950" y="6124575"/>
            <a:ext cx="7553325" cy="714375"/>
          </a:xfrm>
          <a:prstGeom prst="rect">
            <a:avLst/>
          </a:prstGeom>
        </p:spPr>
        <p:txBody>
          <a:bodyPr anchor="t" rtlCol="false" tIns="0" lIns="0" bIns="0" rIns="0">
            <a:spAutoFit/>
          </a:bodyPr>
          <a:lstStyle/>
          <a:p>
            <a:pPr algn="l">
              <a:lnSpc>
                <a:spcPts val="2879"/>
              </a:lnSpc>
            </a:pPr>
            <a:r>
              <a:rPr lang="en-US" sz="2399">
                <a:solidFill>
                  <a:srgbClr val="26384F"/>
                </a:solidFill>
                <a:latin typeface="Canva Sans"/>
                <a:ea typeface="Canva Sans"/>
                <a:cs typeface="Canva Sans"/>
                <a:sym typeface="Canva Sans"/>
              </a:rPr>
              <a:t>Xem dữ liệu học vụ, học phí và nhật ký; thực thi thủ tục tạo/khóa tài khoản và lập học phí.</a:t>
            </a:r>
          </a:p>
        </p:txBody>
      </p:sp>
      <p:grpSp>
        <p:nvGrpSpPr>
          <p:cNvPr name="Group 30" id="30"/>
          <p:cNvGrpSpPr/>
          <p:nvPr/>
        </p:nvGrpSpPr>
        <p:grpSpPr>
          <a:xfrm rot="0">
            <a:off x="9305925" y="4810125"/>
            <a:ext cx="8162925" cy="2524125"/>
            <a:chOff x="0" y="0"/>
            <a:chExt cx="10883900" cy="3365500"/>
          </a:xfrm>
        </p:grpSpPr>
        <p:sp>
          <p:nvSpPr>
            <p:cNvPr name="Freeform 31" id="31"/>
            <p:cNvSpPr/>
            <p:nvPr/>
          </p:nvSpPr>
          <p:spPr>
            <a:xfrm flipH="false" flipV="false" rot="0">
              <a:off x="0" y="0"/>
              <a:ext cx="10883900" cy="3365500"/>
            </a:xfrm>
            <a:custGeom>
              <a:avLst/>
              <a:gdLst/>
              <a:ahLst/>
              <a:cxnLst/>
              <a:rect r="r" b="b" t="t" l="l"/>
              <a:pathLst>
                <a:path h="3365500" w="10883900">
                  <a:moveTo>
                    <a:pt x="203200" y="0"/>
                  </a:moveTo>
                  <a:lnTo>
                    <a:pt x="10680700" y="0"/>
                  </a:lnTo>
                  <a:cubicBezTo>
                    <a:pt x="10792924" y="0"/>
                    <a:pt x="10883900" y="90976"/>
                    <a:pt x="10883900" y="203200"/>
                  </a:cubicBezTo>
                  <a:lnTo>
                    <a:pt x="10883900" y="3162300"/>
                  </a:lnTo>
                  <a:cubicBezTo>
                    <a:pt x="10883900" y="3274524"/>
                    <a:pt x="10792924" y="3365500"/>
                    <a:pt x="10680700" y="3365500"/>
                  </a:cubicBezTo>
                  <a:lnTo>
                    <a:pt x="203200" y="3365500"/>
                  </a:lnTo>
                  <a:cubicBezTo>
                    <a:pt x="90976" y="3365500"/>
                    <a:pt x="0" y="3274524"/>
                    <a:pt x="0" y="3162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32" id="32"/>
            <p:cNvSpPr txBox="true"/>
            <p:nvPr/>
          </p:nvSpPr>
          <p:spPr>
            <a:xfrm>
              <a:off x="0" y="-38100"/>
              <a:ext cx="10883900" cy="3403600"/>
            </a:xfrm>
            <a:prstGeom prst="rect">
              <a:avLst/>
            </a:prstGeom>
          </p:spPr>
          <p:txBody>
            <a:bodyPr anchor="ctr" rtlCol="false" tIns="50800" lIns="50800" bIns="50800" rIns="50800"/>
            <a:lstStyle/>
            <a:p>
              <a:pPr algn="l">
                <a:lnSpc>
                  <a:spcPts val="2659"/>
                </a:lnSpc>
              </a:pPr>
            </a:p>
          </p:txBody>
        </p:sp>
      </p:grpSp>
      <p:sp>
        <p:nvSpPr>
          <p:cNvPr name="Freeform 33" id="33"/>
          <p:cNvSpPr/>
          <p:nvPr/>
        </p:nvSpPr>
        <p:spPr>
          <a:xfrm flipH="false" flipV="false" rot="0">
            <a:off x="9591675" y="5076825"/>
            <a:ext cx="647700" cy="647700"/>
          </a:xfrm>
          <a:custGeom>
            <a:avLst/>
            <a:gdLst/>
            <a:ahLst/>
            <a:cxnLst/>
            <a:rect r="r" b="b" t="t" l="l"/>
            <a:pathLst>
              <a:path h="647700" w="647700">
                <a:moveTo>
                  <a:pt x="0" y="0"/>
                </a:moveTo>
                <a:lnTo>
                  <a:pt x="647700" y="0"/>
                </a:lnTo>
                <a:lnTo>
                  <a:pt x="647700" y="647700"/>
                </a:lnTo>
                <a:lnTo>
                  <a:pt x="0" y="647700"/>
                </a:lnTo>
                <a:lnTo>
                  <a:pt x="0" y="0"/>
                </a:lnTo>
                <a:close/>
              </a:path>
            </a:pathLst>
          </a:custGeom>
          <a:blipFill>
            <a:blip r:embed="rId9">
              <a:extLst>
                <a:ext uri="{96DAC541-7B7A-43D3-8B79-37D633B846F1}">
                  <asvg:svgBlip xmlns:asvg="http://schemas.microsoft.com/office/drawing/2016/SVG/main" r:embed="rId10"/>
                </a:ext>
              </a:extLst>
            </a:blip>
            <a:stretch>
              <a:fillRect l="-632" t="0" r="-632" b="0"/>
            </a:stretch>
          </a:blipFill>
        </p:spPr>
      </p:sp>
      <p:sp>
        <p:nvSpPr>
          <p:cNvPr name="TextBox 34" id="34"/>
          <p:cNvSpPr txBox="true"/>
          <p:nvPr/>
        </p:nvSpPr>
        <p:spPr>
          <a:xfrm rot="0">
            <a:off x="10467975" y="5114925"/>
            <a:ext cx="6696075" cy="481330"/>
          </a:xfrm>
          <a:prstGeom prst="rect">
            <a:avLst/>
          </a:prstGeom>
        </p:spPr>
        <p:txBody>
          <a:bodyPr anchor="t" rtlCol="false" tIns="0" lIns="0" bIns="0" rIns="0">
            <a:spAutoFit/>
          </a:bodyPr>
          <a:lstStyle/>
          <a:p>
            <a:pPr algn="l">
              <a:lnSpc>
                <a:spcPts val="3919"/>
              </a:lnSpc>
            </a:pPr>
            <a:r>
              <a:rPr lang="en-US" sz="2799" b="true">
                <a:solidFill>
                  <a:srgbClr val="2D91B8"/>
                </a:solidFill>
                <a:latin typeface="Canva Sans Bold"/>
                <a:ea typeface="Canva Sans Bold"/>
                <a:cs typeface="Canva Sans Bold"/>
                <a:sym typeface="Canva Sans Bold"/>
              </a:rPr>
              <a:t>QUAN_TRI</a:t>
            </a:r>
          </a:p>
        </p:txBody>
      </p:sp>
      <p:sp>
        <p:nvSpPr>
          <p:cNvPr name="AutoShape 35" id="35"/>
          <p:cNvSpPr/>
          <p:nvPr/>
        </p:nvSpPr>
        <p:spPr>
          <a:xfrm>
            <a:off x="9591675" y="5876925"/>
            <a:ext cx="7591425" cy="0"/>
          </a:xfrm>
          <a:prstGeom prst="line">
            <a:avLst/>
          </a:prstGeom>
          <a:ln cap="flat" w="9525">
            <a:solidFill>
              <a:srgbClr val="C8D9EA"/>
            </a:solidFill>
            <a:prstDash val="solid"/>
            <a:headEnd type="none" len="sm" w="sm"/>
            <a:tailEnd type="none" len="sm" w="sm"/>
          </a:ln>
        </p:spPr>
      </p:sp>
      <p:sp>
        <p:nvSpPr>
          <p:cNvPr name="TextBox 36" id="36"/>
          <p:cNvSpPr txBox="true"/>
          <p:nvPr/>
        </p:nvSpPr>
        <p:spPr>
          <a:xfrm rot="0">
            <a:off x="9610725" y="6124575"/>
            <a:ext cx="7553325" cy="714375"/>
          </a:xfrm>
          <a:prstGeom prst="rect">
            <a:avLst/>
          </a:prstGeom>
        </p:spPr>
        <p:txBody>
          <a:bodyPr anchor="t" rtlCol="false" tIns="0" lIns="0" bIns="0" rIns="0">
            <a:spAutoFit/>
          </a:bodyPr>
          <a:lstStyle/>
          <a:p>
            <a:pPr algn="l">
              <a:lnSpc>
                <a:spcPts val="2879"/>
              </a:lnSpc>
            </a:pPr>
            <a:r>
              <a:rPr lang="en-US" sz="2399">
                <a:solidFill>
                  <a:srgbClr val="26384F"/>
                </a:solidFill>
                <a:latin typeface="Canva Sans"/>
                <a:ea typeface="Canva Sans"/>
                <a:cs typeface="Canva Sans"/>
                <a:sym typeface="Canva Sans"/>
              </a:rPr>
              <a:t>Quản lý dữ liệu hệ thống, xem các view và thực thi các thủ tục trong schema dbo.</a:t>
            </a:r>
          </a:p>
        </p:txBody>
      </p:sp>
      <p:grpSp>
        <p:nvGrpSpPr>
          <p:cNvPr name="Group 37" id="37"/>
          <p:cNvGrpSpPr/>
          <p:nvPr/>
        </p:nvGrpSpPr>
        <p:grpSpPr>
          <a:xfrm rot="0">
            <a:off x="819150" y="7800975"/>
            <a:ext cx="16649700" cy="1329039"/>
            <a:chOff x="0" y="0"/>
            <a:chExt cx="23865117" cy="1905000"/>
          </a:xfrm>
        </p:grpSpPr>
        <p:sp>
          <p:nvSpPr>
            <p:cNvPr name="Freeform 38" id="38"/>
            <p:cNvSpPr/>
            <p:nvPr/>
          </p:nvSpPr>
          <p:spPr>
            <a:xfrm flipH="false" flipV="false" rot="0">
              <a:off x="0" y="0"/>
              <a:ext cx="23865117" cy="1905000"/>
            </a:xfrm>
            <a:custGeom>
              <a:avLst/>
              <a:gdLst/>
              <a:ahLst/>
              <a:cxnLst/>
              <a:rect r="r" b="b" t="t" l="l"/>
              <a:pathLst>
                <a:path h="1905000" w="23865117">
                  <a:moveTo>
                    <a:pt x="203200" y="0"/>
                  </a:moveTo>
                  <a:lnTo>
                    <a:pt x="23661917" y="0"/>
                  </a:lnTo>
                  <a:cubicBezTo>
                    <a:pt x="23715810" y="0"/>
                    <a:pt x="23767493" y="21409"/>
                    <a:pt x="23805601" y="59516"/>
                  </a:cubicBezTo>
                  <a:cubicBezTo>
                    <a:pt x="23843709" y="97623"/>
                    <a:pt x="23865117" y="149308"/>
                    <a:pt x="23865117" y="203200"/>
                  </a:cubicBezTo>
                  <a:lnTo>
                    <a:pt x="23865117" y="1701800"/>
                  </a:lnTo>
                  <a:cubicBezTo>
                    <a:pt x="23865117" y="1814024"/>
                    <a:pt x="23774141" y="1905000"/>
                    <a:pt x="23661917" y="1905000"/>
                  </a:cubicBezTo>
                  <a:lnTo>
                    <a:pt x="203200" y="1905000"/>
                  </a:lnTo>
                  <a:cubicBezTo>
                    <a:pt x="90976" y="1905000"/>
                    <a:pt x="0" y="1814024"/>
                    <a:pt x="0" y="1701800"/>
                  </a:cubicBezTo>
                  <a:lnTo>
                    <a:pt x="0" y="203200"/>
                  </a:lnTo>
                  <a:cubicBezTo>
                    <a:pt x="0" y="90976"/>
                    <a:pt x="90976" y="0"/>
                    <a:pt x="203200" y="0"/>
                  </a:cubicBezTo>
                  <a:close/>
                </a:path>
              </a:pathLst>
            </a:custGeom>
            <a:solidFill>
              <a:srgbClr val="EAF4FF"/>
            </a:solidFill>
            <a:ln w="17145" cap="sq">
              <a:solidFill>
                <a:srgbClr val="3978C8"/>
              </a:solidFill>
              <a:prstDash val="solid"/>
              <a:miter/>
            </a:ln>
          </p:spPr>
        </p:sp>
        <p:sp>
          <p:nvSpPr>
            <p:cNvPr name="TextBox 39" id="39"/>
            <p:cNvSpPr txBox="true"/>
            <p:nvPr/>
          </p:nvSpPr>
          <p:spPr>
            <a:xfrm>
              <a:off x="0" y="-38100"/>
              <a:ext cx="23865117" cy="1943100"/>
            </a:xfrm>
            <a:prstGeom prst="rect">
              <a:avLst/>
            </a:prstGeom>
          </p:spPr>
          <p:txBody>
            <a:bodyPr anchor="ctr" rtlCol="false" tIns="50800" lIns="50800" bIns="50800" rIns="50800"/>
            <a:lstStyle/>
            <a:p>
              <a:pPr algn="l">
                <a:lnSpc>
                  <a:spcPts val="2659"/>
                </a:lnSpc>
              </a:pPr>
            </a:p>
          </p:txBody>
        </p:sp>
      </p:grpSp>
      <p:grpSp>
        <p:nvGrpSpPr>
          <p:cNvPr name="Group 40" id="40"/>
          <p:cNvGrpSpPr/>
          <p:nvPr/>
        </p:nvGrpSpPr>
        <p:grpSpPr>
          <a:xfrm rot="0">
            <a:off x="1081088" y="7998770"/>
            <a:ext cx="85725" cy="933450"/>
            <a:chOff x="0" y="0"/>
            <a:chExt cx="114300" cy="1244600"/>
          </a:xfrm>
        </p:grpSpPr>
        <p:sp>
          <p:nvSpPr>
            <p:cNvPr name="Freeform 41" id="41"/>
            <p:cNvSpPr/>
            <p:nvPr/>
          </p:nvSpPr>
          <p:spPr>
            <a:xfrm flipH="false" flipV="false" rot="0">
              <a:off x="0" y="0"/>
              <a:ext cx="114300" cy="1244600"/>
            </a:xfrm>
            <a:custGeom>
              <a:avLst/>
              <a:gdLst/>
              <a:ahLst/>
              <a:cxnLst/>
              <a:rect r="r" b="b" t="t" l="l"/>
              <a:pathLst>
                <a:path h="1244600" w="114300">
                  <a:moveTo>
                    <a:pt x="50800" y="0"/>
                  </a:moveTo>
                  <a:lnTo>
                    <a:pt x="63500" y="0"/>
                  </a:lnTo>
                  <a:cubicBezTo>
                    <a:pt x="91556" y="0"/>
                    <a:pt x="114300" y="22744"/>
                    <a:pt x="114300" y="50800"/>
                  </a:cubicBezTo>
                  <a:lnTo>
                    <a:pt x="114300" y="1193800"/>
                  </a:lnTo>
                  <a:cubicBezTo>
                    <a:pt x="114300" y="1221856"/>
                    <a:pt x="91556" y="1244600"/>
                    <a:pt x="63500" y="1244600"/>
                  </a:cubicBezTo>
                  <a:lnTo>
                    <a:pt x="50800" y="1244600"/>
                  </a:lnTo>
                  <a:cubicBezTo>
                    <a:pt x="22744" y="1244600"/>
                    <a:pt x="0" y="1221856"/>
                    <a:pt x="0" y="1193800"/>
                  </a:cubicBezTo>
                  <a:lnTo>
                    <a:pt x="0" y="50800"/>
                  </a:lnTo>
                  <a:cubicBezTo>
                    <a:pt x="0" y="22744"/>
                    <a:pt x="22744" y="0"/>
                    <a:pt x="50800" y="0"/>
                  </a:cubicBezTo>
                  <a:close/>
                </a:path>
              </a:pathLst>
            </a:custGeom>
            <a:solidFill>
              <a:srgbClr val="3978C8"/>
            </a:solidFill>
          </p:spPr>
        </p:sp>
        <p:sp>
          <p:nvSpPr>
            <p:cNvPr name="TextBox 42" id="42"/>
            <p:cNvSpPr txBox="true"/>
            <p:nvPr/>
          </p:nvSpPr>
          <p:spPr>
            <a:xfrm>
              <a:off x="0" y="-38100"/>
              <a:ext cx="114300" cy="1282700"/>
            </a:xfrm>
            <a:prstGeom prst="rect">
              <a:avLst/>
            </a:prstGeom>
          </p:spPr>
          <p:txBody>
            <a:bodyPr anchor="ctr" rtlCol="false" tIns="50800" lIns="50800" bIns="50800" rIns="50800"/>
            <a:lstStyle/>
            <a:p>
              <a:pPr algn="l">
                <a:lnSpc>
                  <a:spcPts val="2659"/>
                </a:lnSpc>
              </a:pPr>
            </a:p>
          </p:txBody>
        </p:sp>
      </p:grpSp>
      <p:sp>
        <p:nvSpPr>
          <p:cNvPr name="TextBox 43" id="43"/>
          <p:cNvSpPr txBox="true"/>
          <p:nvPr/>
        </p:nvSpPr>
        <p:spPr>
          <a:xfrm rot="0">
            <a:off x="1295400" y="8020050"/>
            <a:ext cx="15697200" cy="790575"/>
          </a:xfrm>
          <a:prstGeom prst="rect">
            <a:avLst/>
          </a:prstGeom>
        </p:spPr>
        <p:txBody>
          <a:bodyPr anchor="t" rtlCol="false" tIns="0" lIns="0" bIns="0" rIns="0">
            <a:spAutoFit/>
          </a:bodyPr>
          <a:lstStyle/>
          <a:p>
            <a:pPr algn="l">
              <a:lnSpc>
                <a:spcPts val="3119"/>
              </a:lnSpc>
            </a:pPr>
            <a:r>
              <a:rPr lang="en-US" sz="2599" b="true">
                <a:solidFill>
                  <a:srgbClr val="173A78"/>
                </a:solidFill>
                <a:latin typeface="Canva Sans Bold"/>
                <a:ea typeface="Canva Sans Bold"/>
                <a:cs typeface="Canva Sans Bold"/>
                <a:sym typeface="Canva Sans Bold"/>
              </a:rPr>
              <a:t>Quyền được cấp bằng GRANT; quyền truy cập dữ liệu nhạy cảm và sửa nhật ký được giới hạn bằng DENY/REVOKE.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28575"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sp>
          <p:nvSpPr>
            <p:cNvPr name="TextBox 5" id="5"/>
            <p:cNvSpPr txBox="true"/>
            <p:nvPr/>
          </p:nvSpPr>
          <p:spPr>
            <a:xfrm>
              <a:off x="0" y="-28575"/>
              <a:ext cx="24384000" cy="13744575"/>
            </a:xfrm>
            <a:prstGeom prst="rect">
              <a:avLst/>
            </a:prstGeom>
          </p:spPr>
          <p:txBody>
            <a:bodyPr anchor="ctr" rtlCol="false" tIns="50800" lIns="50800" bIns="50800" rIns="50800"/>
            <a:lstStyle/>
            <a:p>
              <a:pPr algn="l">
                <a:lnSpc>
                  <a:spcPts val="2239"/>
                </a:lnSpc>
              </a:pPr>
            </a:p>
          </p:txBody>
        </p:sp>
      </p:grpSp>
      <p:sp>
        <p:nvSpPr>
          <p:cNvPr name="TextBox 6" id="6"/>
          <p:cNvSpPr txBox="true"/>
          <p:nvPr/>
        </p:nvSpPr>
        <p:spPr>
          <a:xfrm rot="0">
            <a:off x="685800" y="238125"/>
            <a:ext cx="16802100" cy="811530"/>
          </a:xfrm>
          <a:prstGeom prst="rect">
            <a:avLst/>
          </a:prstGeom>
        </p:spPr>
        <p:txBody>
          <a:bodyPr anchor="t" rtlCol="false" tIns="0" lIns="0" bIns="0" rIns="0">
            <a:spAutoFit/>
          </a:bodyPr>
          <a:lstStyle/>
          <a:p>
            <a:pPr algn="l">
              <a:lnSpc>
                <a:spcPts val="6719"/>
              </a:lnSpc>
            </a:pPr>
            <a:r>
              <a:rPr lang="en-US" sz="4799" b="true">
                <a:solidFill>
                  <a:srgbClr val="173A78"/>
                </a:solidFill>
                <a:latin typeface="Canva Sans Bold"/>
                <a:ea typeface="Canva Sans Bold"/>
                <a:cs typeface="Canva Sans Bold"/>
                <a:sym typeface="Canva Sans Bold"/>
              </a:rPr>
              <a:t>11. GRANT · DENY · REVOKE</a:t>
            </a:r>
          </a:p>
        </p:txBody>
      </p:sp>
      <p:sp>
        <p:nvSpPr>
          <p:cNvPr name="TextBox 7" id="7"/>
          <p:cNvSpPr txBox="true"/>
          <p:nvPr/>
        </p:nvSpPr>
        <p:spPr>
          <a:xfrm rot="0">
            <a:off x="742950" y="923925"/>
            <a:ext cx="16802100" cy="396240"/>
          </a:xfrm>
          <a:prstGeom prst="rect">
            <a:avLst/>
          </a:prstGeom>
        </p:spPr>
        <p:txBody>
          <a:bodyPr anchor="t" rtlCol="false" tIns="0" lIns="0" bIns="0" rIns="0">
            <a:spAutoFit/>
          </a:bodyPr>
          <a:lstStyle/>
          <a:p>
            <a:pPr algn="l">
              <a:lnSpc>
                <a:spcPts val="3359"/>
              </a:lnSpc>
            </a:pPr>
            <a:r>
              <a:rPr lang="en-US" sz="2399">
                <a:solidFill>
                  <a:srgbClr val="59697A"/>
                </a:solidFill>
                <a:latin typeface="Canva Sans"/>
                <a:ea typeface="Canva Sans"/>
                <a:cs typeface="Canva Sans"/>
                <a:sym typeface="Canva Sans"/>
              </a:rPr>
              <a:t>Sau khi tạo 4 role, nhóm dùng các lệnh phân quyền của SQL Server để kiểm soát dữ liệu mỗi vai trò được truy cập.</a:t>
            </a:r>
          </a:p>
        </p:txBody>
      </p:sp>
      <p:sp>
        <p:nvSpPr>
          <p:cNvPr name="AutoShape 8" id="8"/>
          <p:cNvSpPr/>
          <p:nvPr/>
        </p:nvSpPr>
        <p:spPr>
          <a:xfrm>
            <a:off x="742950" y="1495425"/>
            <a:ext cx="16802100" cy="0"/>
          </a:xfrm>
          <a:prstGeom prst="line">
            <a:avLst/>
          </a:prstGeom>
          <a:ln cap="flat" w="19050">
            <a:solidFill>
              <a:srgbClr val="2D91B8"/>
            </a:solidFill>
            <a:prstDash val="solid"/>
            <a:headEnd type="none" len="sm" w="sm"/>
            <a:tailEnd type="none" len="sm" w="sm"/>
          </a:ln>
        </p:spPr>
      </p:sp>
      <p:grpSp>
        <p:nvGrpSpPr>
          <p:cNvPr name="Group 9" id="9"/>
          <p:cNvGrpSpPr/>
          <p:nvPr/>
        </p:nvGrpSpPr>
        <p:grpSpPr>
          <a:xfrm rot="0">
            <a:off x="742950" y="2238375"/>
            <a:ext cx="5410200" cy="4810125"/>
            <a:chOff x="0" y="0"/>
            <a:chExt cx="7213600" cy="6413500"/>
          </a:xfrm>
        </p:grpSpPr>
        <p:sp>
          <p:nvSpPr>
            <p:cNvPr name="Freeform 10" id="10"/>
            <p:cNvSpPr/>
            <p:nvPr/>
          </p:nvSpPr>
          <p:spPr>
            <a:xfrm flipH="false" flipV="false" rot="0">
              <a:off x="0" y="0"/>
              <a:ext cx="7213600" cy="6413500"/>
            </a:xfrm>
            <a:custGeom>
              <a:avLst/>
              <a:gdLst/>
              <a:ahLst/>
              <a:cxnLst/>
              <a:rect r="r" b="b" t="t" l="l"/>
              <a:pathLst>
                <a:path h="6413500" w="7213600">
                  <a:moveTo>
                    <a:pt x="203200" y="0"/>
                  </a:moveTo>
                  <a:lnTo>
                    <a:pt x="7010400" y="0"/>
                  </a:lnTo>
                  <a:cubicBezTo>
                    <a:pt x="7122624" y="0"/>
                    <a:pt x="7213600" y="90976"/>
                    <a:pt x="7213600" y="203200"/>
                  </a:cubicBezTo>
                  <a:lnTo>
                    <a:pt x="7213600" y="6210300"/>
                  </a:lnTo>
                  <a:cubicBezTo>
                    <a:pt x="7213600" y="6322524"/>
                    <a:pt x="7122624" y="6413500"/>
                    <a:pt x="7010400" y="6413500"/>
                  </a:cubicBezTo>
                  <a:lnTo>
                    <a:pt x="203200" y="6413500"/>
                  </a:lnTo>
                  <a:cubicBezTo>
                    <a:pt x="90976" y="6413500"/>
                    <a:pt x="0" y="6322524"/>
                    <a:pt x="0" y="6210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11" id="11"/>
            <p:cNvSpPr txBox="true"/>
            <p:nvPr/>
          </p:nvSpPr>
          <p:spPr>
            <a:xfrm>
              <a:off x="0" y="-28575"/>
              <a:ext cx="7213600" cy="6442075"/>
            </a:xfrm>
            <a:prstGeom prst="rect">
              <a:avLst/>
            </a:prstGeom>
          </p:spPr>
          <p:txBody>
            <a:bodyPr anchor="ctr" rtlCol="false" tIns="50800" lIns="50800" bIns="50800" rIns="50800"/>
            <a:lstStyle/>
            <a:p>
              <a:pPr algn="l">
                <a:lnSpc>
                  <a:spcPts val="2239"/>
                </a:lnSpc>
              </a:pPr>
            </a:p>
          </p:txBody>
        </p:sp>
      </p:grpSp>
      <p:grpSp>
        <p:nvGrpSpPr>
          <p:cNvPr name="Group 12" id="12"/>
          <p:cNvGrpSpPr/>
          <p:nvPr/>
        </p:nvGrpSpPr>
        <p:grpSpPr>
          <a:xfrm rot="0">
            <a:off x="742950" y="2238375"/>
            <a:ext cx="5410200" cy="85725"/>
            <a:chOff x="0" y="0"/>
            <a:chExt cx="7213600" cy="114300"/>
          </a:xfrm>
        </p:grpSpPr>
        <p:sp>
          <p:nvSpPr>
            <p:cNvPr name="Freeform 13" id="13"/>
            <p:cNvSpPr/>
            <p:nvPr/>
          </p:nvSpPr>
          <p:spPr>
            <a:xfrm flipH="false" flipV="false" rot="0">
              <a:off x="0" y="0"/>
              <a:ext cx="7213600" cy="114300"/>
            </a:xfrm>
            <a:custGeom>
              <a:avLst/>
              <a:gdLst/>
              <a:ahLst/>
              <a:cxnLst/>
              <a:rect r="r" b="b" t="t" l="l"/>
              <a:pathLst>
                <a:path h="114300" w="7213600">
                  <a:moveTo>
                    <a:pt x="50800" y="0"/>
                  </a:moveTo>
                  <a:lnTo>
                    <a:pt x="7162800" y="0"/>
                  </a:lnTo>
                  <a:cubicBezTo>
                    <a:pt x="7190856" y="0"/>
                    <a:pt x="7213600" y="22744"/>
                    <a:pt x="7213600" y="50800"/>
                  </a:cubicBezTo>
                  <a:lnTo>
                    <a:pt x="7213600" y="63500"/>
                  </a:lnTo>
                  <a:cubicBezTo>
                    <a:pt x="7213600" y="91556"/>
                    <a:pt x="7190856" y="114300"/>
                    <a:pt x="7162800" y="114300"/>
                  </a:cubicBezTo>
                  <a:lnTo>
                    <a:pt x="50800" y="114300"/>
                  </a:lnTo>
                  <a:cubicBezTo>
                    <a:pt x="22744" y="114300"/>
                    <a:pt x="0" y="91556"/>
                    <a:pt x="0" y="63500"/>
                  </a:cubicBezTo>
                  <a:lnTo>
                    <a:pt x="0" y="50800"/>
                  </a:lnTo>
                  <a:cubicBezTo>
                    <a:pt x="0" y="22744"/>
                    <a:pt x="22744" y="0"/>
                    <a:pt x="50800" y="0"/>
                  </a:cubicBezTo>
                  <a:close/>
                </a:path>
              </a:pathLst>
            </a:custGeom>
            <a:solidFill>
              <a:srgbClr val="3978C8"/>
            </a:solidFill>
          </p:spPr>
        </p:sp>
        <p:sp>
          <p:nvSpPr>
            <p:cNvPr name="TextBox 14" id="14"/>
            <p:cNvSpPr txBox="true"/>
            <p:nvPr/>
          </p:nvSpPr>
          <p:spPr>
            <a:xfrm>
              <a:off x="0" y="-28575"/>
              <a:ext cx="7213600" cy="142875"/>
            </a:xfrm>
            <a:prstGeom prst="rect">
              <a:avLst/>
            </a:prstGeom>
          </p:spPr>
          <p:txBody>
            <a:bodyPr anchor="ctr" rtlCol="false" tIns="50800" lIns="50800" bIns="50800" rIns="50800"/>
            <a:lstStyle/>
            <a:p>
              <a:pPr algn="l">
                <a:lnSpc>
                  <a:spcPts val="2239"/>
                </a:lnSpc>
              </a:pPr>
            </a:p>
          </p:txBody>
        </p:sp>
      </p:grpSp>
      <p:sp>
        <p:nvSpPr>
          <p:cNvPr name="TextBox 15" id="15"/>
          <p:cNvSpPr txBox="true"/>
          <p:nvPr/>
        </p:nvSpPr>
        <p:spPr>
          <a:xfrm rot="0">
            <a:off x="990600" y="2562225"/>
            <a:ext cx="4914900" cy="339090"/>
          </a:xfrm>
          <a:prstGeom prst="rect">
            <a:avLst/>
          </a:prstGeom>
        </p:spPr>
        <p:txBody>
          <a:bodyPr anchor="t" rtlCol="false" tIns="0" lIns="0" bIns="0" rIns="0">
            <a:spAutoFit/>
          </a:bodyPr>
          <a:lstStyle/>
          <a:p>
            <a:pPr algn="l">
              <a:lnSpc>
                <a:spcPts val="2759"/>
              </a:lnSpc>
            </a:pPr>
            <a:r>
              <a:rPr lang="en-US" sz="2399" b="true">
                <a:solidFill>
                  <a:srgbClr val="3978C8"/>
                </a:solidFill>
                <a:latin typeface="Canva Sans Bold"/>
                <a:ea typeface="Canva Sans Bold"/>
                <a:cs typeface="Canva Sans Bold"/>
                <a:sym typeface="Canva Sans Bold"/>
              </a:rPr>
              <a:t>GRANT — Cấp quyền cần thiết</a:t>
            </a:r>
          </a:p>
        </p:txBody>
      </p:sp>
      <p:sp>
        <p:nvSpPr>
          <p:cNvPr name="AutoShape 16" id="16"/>
          <p:cNvSpPr/>
          <p:nvPr/>
        </p:nvSpPr>
        <p:spPr>
          <a:xfrm>
            <a:off x="990600" y="3238500"/>
            <a:ext cx="4914900" cy="0"/>
          </a:xfrm>
          <a:prstGeom prst="line">
            <a:avLst/>
          </a:prstGeom>
          <a:ln cap="flat" w="9525">
            <a:solidFill>
              <a:srgbClr val="C8D9EA"/>
            </a:solidFill>
            <a:prstDash val="solid"/>
            <a:headEnd type="none" len="sm" w="sm"/>
            <a:tailEnd type="none" len="sm" w="sm"/>
          </a:ln>
        </p:spPr>
      </p:sp>
      <p:grpSp>
        <p:nvGrpSpPr>
          <p:cNvPr name="Group 17" id="17"/>
          <p:cNvGrpSpPr/>
          <p:nvPr/>
        </p:nvGrpSpPr>
        <p:grpSpPr>
          <a:xfrm rot="0">
            <a:off x="990600" y="3495675"/>
            <a:ext cx="4914900" cy="1466850"/>
            <a:chOff x="0" y="0"/>
            <a:chExt cx="6553200" cy="1955800"/>
          </a:xfrm>
        </p:grpSpPr>
        <p:sp>
          <p:nvSpPr>
            <p:cNvPr name="Freeform 18" id="18"/>
            <p:cNvSpPr/>
            <p:nvPr/>
          </p:nvSpPr>
          <p:spPr>
            <a:xfrm flipH="false" flipV="false" rot="0">
              <a:off x="0" y="0"/>
              <a:ext cx="6553200" cy="1955800"/>
            </a:xfrm>
            <a:custGeom>
              <a:avLst/>
              <a:gdLst/>
              <a:ahLst/>
              <a:cxnLst/>
              <a:rect r="r" b="b" t="t" l="l"/>
              <a:pathLst>
                <a:path h="1955800" w="6553200">
                  <a:moveTo>
                    <a:pt x="127000" y="0"/>
                  </a:moveTo>
                  <a:lnTo>
                    <a:pt x="6426200" y="0"/>
                  </a:lnTo>
                  <a:cubicBezTo>
                    <a:pt x="6496340" y="0"/>
                    <a:pt x="6553200" y="56860"/>
                    <a:pt x="6553200" y="127000"/>
                  </a:cubicBezTo>
                  <a:lnTo>
                    <a:pt x="6553200" y="1828800"/>
                  </a:lnTo>
                  <a:cubicBezTo>
                    <a:pt x="6553200" y="1898940"/>
                    <a:pt x="6496340" y="1955800"/>
                    <a:pt x="6426200" y="1955800"/>
                  </a:cubicBezTo>
                  <a:lnTo>
                    <a:pt x="127000" y="1955800"/>
                  </a:lnTo>
                  <a:cubicBezTo>
                    <a:pt x="56860" y="1955800"/>
                    <a:pt x="0" y="1898940"/>
                    <a:pt x="0" y="1828800"/>
                  </a:cubicBezTo>
                  <a:lnTo>
                    <a:pt x="0" y="127000"/>
                  </a:lnTo>
                  <a:cubicBezTo>
                    <a:pt x="0" y="56860"/>
                    <a:pt x="56860" y="0"/>
                    <a:pt x="127000" y="0"/>
                  </a:cubicBezTo>
                  <a:close/>
                </a:path>
              </a:pathLst>
            </a:custGeom>
            <a:solidFill>
              <a:srgbClr val="EAF4FF"/>
            </a:solidFill>
            <a:ln w="9525" cap="sq">
              <a:solidFill>
                <a:srgbClr val="C8D9EA"/>
              </a:solidFill>
              <a:prstDash val="solid"/>
              <a:miter/>
            </a:ln>
          </p:spPr>
        </p:sp>
        <p:sp>
          <p:nvSpPr>
            <p:cNvPr name="TextBox 19" id="19"/>
            <p:cNvSpPr txBox="true"/>
            <p:nvPr/>
          </p:nvSpPr>
          <p:spPr>
            <a:xfrm>
              <a:off x="0" y="-28575"/>
              <a:ext cx="6553200" cy="1984375"/>
            </a:xfrm>
            <a:prstGeom prst="rect">
              <a:avLst/>
            </a:prstGeom>
          </p:spPr>
          <p:txBody>
            <a:bodyPr anchor="ctr" rtlCol="false" tIns="50800" lIns="50800" bIns="50800" rIns="50800"/>
            <a:lstStyle/>
            <a:p>
              <a:pPr algn="l">
                <a:lnSpc>
                  <a:spcPts val="2239"/>
                </a:lnSpc>
              </a:pPr>
            </a:p>
          </p:txBody>
        </p:sp>
      </p:grpSp>
      <p:sp>
        <p:nvSpPr>
          <p:cNvPr name="TextBox 20" id="20"/>
          <p:cNvSpPr txBox="true"/>
          <p:nvPr/>
        </p:nvSpPr>
        <p:spPr>
          <a:xfrm rot="0">
            <a:off x="1143000" y="3752850"/>
            <a:ext cx="4610100" cy="967613"/>
          </a:xfrm>
          <a:prstGeom prst="rect">
            <a:avLst/>
          </a:prstGeom>
        </p:spPr>
        <p:txBody>
          <a:bodyPr anchor="t" rtlCol="false" tIns="0" lIns="0" bIns="0" rIns="0">
            <a:spAutoFit/>
          </a:bodyPr>
          <a:lstStyle/>
          <a:p>
            <a:pPr algn="l">
              <a:lnSpc>
                <a:spcPts val="2595"/>
              </a:lnSpc>
            </a:pPr>
            <a:r>
              <a:rPr lang="en-US" sz="2199">
                <a:solidFill>
                  <a:srgbClr val="173A78"/>
                </a:solidFill>
                <a:latin typeface="Canva Sans"/>
                <a:ea typeface="Canva Sans"/>
                <a:cs typeface="Canva Sans"/>
                <a:sym typeface="Canva Sans"/>
              </a:rPr>
              <a:t>GRANT EXECUTE ON dbo.SP_DangKyTinChi TO SINH_VIEN;</a:t>
            </a:r>
          </a:p>
        </p:txBody>
      </p:sp>
      <p:sp>
        <p:nvSpPr>
          <p:cNvPr name="AutoShape 21" id="21"/>
          <p:cNvSpPr/>
          <p:nvPr/>
        </p:nvSpPr>
        <p:spPr>
          <a:xfrm>
            <a:off x="990600" y="5248275"/>
            <a:ext cx="4914900" cy="0"/>
          </a:xfrm>
          <a:prstGeom prst="line">
            <a:avLst/>
          </a:prstGeom>
          <a:ln cap="flat" w="9525">
            <a:solidFill>
              <a:srgbClr val="C8D9EA"/>
            </a:solidFill>
            <a:prstDash val="solid"/>
            <a:headEnd type="none" len="sm" w="sm"/>
            <a:tailEnd type="none" len="sm" w="sm"/>
          </a:ln>
        </p:spPr>
      </p:sp>
      <p:sp>
        <p:nvSpPr>
          <p:cNvPr name="TextBox 22" id="22"/>
          <p:cNvSpPr txBox="true"/>
          <p:nvPr/>
        </p:nvSpPr>
        <p:spPr>
          <a:xfrm rot="0">
            <a:off x="1009650" y="5572125"/>
            <a:ext cx="4876800" cy="661162"/>
          </a:xfrm>
          <a:prstGeom prst="rect">
            <a:avLst/>
          </a:prstGeom>
        </p:spPr>
        <p:txBody>
          <a:bodyPr anchor="t" rtlCol="false" tIns="0" lIns="0" bIns="0" rIns="0">
            <a:spAutoFit/>
          </a:bodyPr>
          <a:lstStyle/>
          <a:p>
            <a:pPr algn="l">
              <a:lnSpc>
                <a:spcPts val="2683"/>
              </a:lnSpc>
            </a:pPr>
            <a:r>
              <a:rPr lang="en-US" sz="2199">
                <a:solidFill>
                  <a:srgbClr val="26384F"/>
                </a:solidFill>
                <a:latin typeface="Canva Sans"/>
                <a:ea typeface="Canva Sans"/>
                <a:cs typeface="Canva Sans"/>
                <a:sym typeface="Canva Sans"/>
              </a:rPr>
              <a:t>Sinh viên được gọi thủ tục đăng ký tín chỉ.</a:t>
            </a:r>
          </a:p>
        </p:txBody>
      </p:sp>
      <p:grpSp>
        <p:nvGrpSpPr>
          <p:cNvPr name="Group 23" id="23"/>
          <p:cNvGrpSpPr/>
          <p:nvPr/>
        </p:nvGrpSpPr>
        <p:grpSpPr>
          <a:xfrm rot="0">
            <a:off x="6438900" y="2238375"/>
            <a:ext cx="5410200" cy="4810125"/>
            <a:chOff x="0" y="0"/>
            <a:chExt cx="7213600" cy="6413500"/>
          </a:xfrm>
        </p:grpSpPr>
        <p:sp>
          <p:nvSpPr>
            <p:cNvPr name="Freeform 24" id="24"/>
            <p:cNvSpPr/>
            <p:nvPr/>
          </p:nvSpPr>
          <p:spPr>
            <a:xfrm flipH="false" flipV="false" rot="0">
              <a:off x="0" y="0"/>
              <a:ext cx="7213600" cy="6413500"/>
            </a:xfrm>
            <a:custGeom>
              <a:avLst/>
              <a:gdLst/>
              <a:ahLst/>
              <a:cxnLst/>
              <a:rect r="r" b="b" t="t" l="l"/>
              <a:pathLst>
                <a:path h="6413500" w="7213600">
                  <a:moveTo>
                    <a:pt x="203200" y="0"/>
                  </a:moveTo>
                  <a:lnTo>
                    <a:pt x="7010400" y="0"/>
                  </a:lnTo>
                  <a:cubicBezTo>
                    <a:pt x="7122624" y="0"/>
                    <a:pt x="7213600" y="90976"/>
                    <a:pt x="7213600" y="203200"/>
                  </a:cubicBezTo>
                  <a:lnTo>
                    <a:pt x="7213600" y="6210300"/>
                  </a:lnTo>
                  <a:cubicBezTo>
                    <a:pt x="7213600" y="6322524"/>
                    <a:pt x="7122624" y="6413500"/>
                    <a:pt x="7010400" y="6413500"/>
                  </a:cubicBezTo>
                  <a:lnTo>
                    <a:pt x="203200" y="6413500"/>
                  </a:lnTo>
                  <a:cubicBezTo>
                    <a:pt x="90976" y="6413500"/>
                    <a:pt x="0" y="6322524"/>
                    <a:pt x="0" y="6210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25" id="25"/>
            <p:cNvSpPr txBox="true"/>
            <p:nvPr/>
          </p:nvSpPr>
          <p:spPr>
            <a:xfrm>
              <a:off x="0" y="-28575"/>
              <a:ext cx="7213600" cy="6442075"/>
            </a:xfrm>
            <a:prstGeom prst="rect">
              <a:avLst/>
            </a:prstGeom>
          </p:spPr>
          <p:txBody>
            <a:bodyPr anchor="ctr" rtlCol="false" tIns="50800" lIns="50800" bIns="50800" rIns="50800"/>
            <a:lstStyle/>
            <a:p>
              <a:pPr algn="l">
                <a:lnSpc>
                  <a:spcPts val="2239"/>
                </a:lnSpc>
              </a:pPr>
            </a:p>
          </p:txBody>
        </p:sp>
      </p:grpSp>
      <p:grpSp>
        <p:nvGrpSpPr>
          <p:cNvPr name="Group 26" id="26"/>
          <p:cNvGrpSpPr/>
          <p:nvPr/>
        </p:nvGrpSpPr>
        <p:grpSpPr>
          <a:xfrm rot="0">
            <a:off x="6438900" y="2238375"/>
            <a:ext cx="5410200" cy="85725"/>
            <a:chOff x="0" y="0"/>
            <a:chExt cx="7213600" cy="114300"/>
          </a:xfrm>
        </p:grpSpPr>
        <p:sp>
          <p:nvSpPr>
            <p:cNvPr name="Freeform 27" id="27"/>
            <p:cNvSpPr/>
            <p:nvPr/>
          </p:nvSpPr>
          <p:spPr>
            <a:xfrm flipH="false" flipV="false" rot="0">
              <a:off x="0" y="0"/>
              <a:ext cx="7213600" cy="114300"/>
            </a:xfrm>
            <a:custGeom>
              <a:avLst/>
              <a:gdLst/>
              <a:ahLst/>
              <a:cxnLst/>
              <a:rect r="r" b="b" t="t" l="l"/>
              <a:pathLst>
                <a:path h="114300" w="7213600">
                  <a:moveTo>
                    <a:pt x="50800" y="0"/>
                  </a:moveTo>
                  <a:lnTo>
                    <a:pt x="7162800" y="0"/>
                  </a:lnTo>
                  <a:cubicBezTo>
                    <a:pt x="7190856" y="0"/>
                    <a:pt x="7213600" y="22744"/>
                    <a:pt x="7213600" y="50800"/>
                  </a:cubicBezTo>
                  <a:lnTo>
                    <a:pt x="7213600" y="63500"/>
                  </a:lnTo>
                  <a:cubicBezTo>
                    <a:pt x="7213600" y="91556"/>
                    <a:pt x="7190856" y="114300"/>
                    <a:pt x="7162800" y="114300"/>
                  </a:cubicBezTo>
                  <a:lnTo>
                    <a:pt x="50800" y="114300"/>
                  </a:lnTo>
                  <a:cubicBezTo>
                    <a:pt x="22744" y="114300"/>
                    <a:pt x="0" y="91556"/>
                    <a:pt x="0" y="63500"/>
                  </a:cubicBezTo>
                  <a:lnTo>
                    <a:pt x="0" y="50800"/>
                  </a:lnTo>
                  <a:cubicBezTo>
                    <a:pt x="0" y="22744"/>
                    <a:pt x="22744" y="0"/>
                    <a:pt x="50800" y="0"/>
                  </a:cubicBezTo>
                  <a:close/>
                </a:path>
              </a:pathLst>
            </a:custGeom>
            <a:solidFill>
              <a:srgbClr val="2D91B8"/>
            </a:solidFill>
          </p:spPr>
        </p:sp>
        <p:sp>
          <p:nvSpPr>
            <p:cNvPr name="TextBox 28" id="28"/>
            <p:cNvSpPr txBox="true"/>
            <p:nvPr/>
          </p:nvSpPr>
          <p:spPr>
            <a:xfrm>
              <a:off x="0" y="-28575"/>
              <a:ext cx="7213600" cy="142875"/>
            </a:xfrm>
            <a:prstGeom prst="rect">
              <a:avLst/>
            </a:prstGeom>
          </p:spPr>
          <p:txBody>
            <a:bodyPr anchor="ctr" rtlCol="false" tIns="50800" lIns="50800" bIns="50800" rIns="50800"/>
            <a:lstStyle/>
            <a:p>
              <a:pPr algn="l">
                <a:lnSpc>
                  <a:spcPts val="2239"/>
                </a:lnSpc>
              </a:pPr>
            </a:p>
          </p:txBody>
        </p:sp>
      </p:grpSp>
      <p:sp>
        <p:nvSpPr>
          <p:cNvPr name="TextBox 29" id="29"/>
          <p:cNvSpPr txBox="true"/>
          <p:nvPr/>
        </p:nvSpPr>
        <p:spPr>
          <a:xfrm rot="0">
            <a:off x="6686550" y="2562225"/>
            <a:ext cx="4914900" cy="681990"/>
          </a:xfrm>
          <a:prstGeom prst="rect">
            <a:avLst/>
          </a:prstGeom>
        </p:spPr>
        <p:txBody>
          <a:bodyPr anchor="t" rtlCol="false" tIns="0" lIns="0" bIns="0" rIns="0">
            <a:spAutoFit/>
          </a:bodyPr>
          <a:lstStyle/>
          <a:p>
            <a:pPr algn="l">
              <a:lnSpc>
                <a:spcPts val="2759"/>
              </a:lnSpc>
            </a:pPr>
            <a:r>
              <a:rPr lang="en-US" sz="2399" b="true">
                <a:solidFill>
                  <a:srgbClr val="2D91B8"/>
                </a:solidFill>
                <a:latin typeface="Canva Sans Bold"/>
                <a:ea typeface="Canva Sans Bold"/>
                <a:cs typeface="Canva Sans Bold"/>
                <a:sym typeface="Canva Sans Bold"/>
              </a:rPr>
              <a:t>DENY — Cấm truy cập dữ liệu nhạy cảm</a:t>
            </a:r>
          </a:p>
        </p:txBody>
      </p:sp>
      <p:sp>
        <p:nvSpPr>
          <p:cNvPr name="AutoShape 30" id="30"/>
          <p:cNvSpPr/>
          <p:nvPr/>
        </p:nvSpPr>
        <p:spPr>
          <a:xfrm>
            <a:off x="6686550" y="3238500"/>
            <a:ext cx="4914900" cy="0"/>
          </a:xfrm>
          <a:prstGeom prst="line">
            <a:avLst/>
          </a:prstGeom>
          <a:ln cap="flat" w="9525">
            <a:solidFill>
              <a:srgbClr val="C8D9EA"/>
            </a:solidFill>
            <a:prstDash val="solid"/>
            <a:headEnd type="none" len="sm" w="sm"/>
            <a:tailEnd type="none" len="sm" w="sm"/>
          </a:ln>
        </p:spPr>
      </p:sp>
      <p:grpSp>
        <p:nvGrpSpPr>
          <p:cNvPr name="Group 31" id="31"/>
          <p:cNvGrpSpPr/>
          <p:nvPr/>
        </p:nvGrpSpPr>
        <p:grpSpPr>
          <a:xfrm rot="0">
            <a:off x="6686550" y="3495675"/>
            <a:ext cx="4914900" cy="1466850"/>
            <a:chOff x="0" y="0"/>
            <a:chExt cx="6553200" cy="1955800"/>
          </a:xfrm>
        </p:grpSpPr>
        <p:sp>
          <p:nvSpPr>
            <p:cNvPr name="Freeform 32" id="32"/>
            <p:cNvSpPr/>
            <p:nvPr/>
          </p:nvSpPr>
          <p:spPr>
            <a:xfrm flipH="false" flipV="false" rot="0">
              <a:off x="0" y="0"/>
              <a:ext cx="6553200" cy="1955800"/>
            </a:xfrm>
            <a:custGeom>
              <a:avLst/>
              <a:gdLst/>
              <a:ahLst/>
              <a:cxnLst/>
              <a:rect r="r" b="b" t="t" l="l"/>
              <a:pathLst>
                <a:path h="1955800" w="6553200">
                  <a:moveTo>
                    <a:pt x="127000" y="0"/>
                  </a:moveTo>
                  <a:lnTo>
                    <a:pt x="6426200" y="0"/>
                  </a:lnTo>
                  <a:cubicBezTo>
                    <a:pt x="6496340" y="0"/>
                    <a:pt x="6553200" y="56860"/>
                    <a:pt x="6553200" y="127000"/>
                  </a:cubicBezTo>
                  <a:lnTo>
                    <a:pt x="6553200" y="1828800"/>
                  </a:lnTo>
                  <a:cubicBezTo>
                    <a:pt x="6553200" y="1898940"/>
                    <a:pt x="6496340" y="1955800"/>
                    <a:pt x="6426200" y="1955800"/>
                  </a:cubicBezTo>
                  <a:lnTo>
                    <a:pt x="127000" y="1955800"/>
                  </a:lnTo>
                  <a:cubicBezTo>
                    <a:pt x="56860" y="1955800"/>
                    <a:pt x="0" y="1898940"/>
                    <a:pt x="0" y="1828800"/>
                  </a:cubicBezTo>
                  <a:lnTo>
                    <a:pt x="0" y="127000"/>
                  </a:lnTo>
                  <a:cubicBezTo>
                    <a:pt x="0" y="56860"/>
                    <a:pt x="56860" y="0"/>
                    <a:pt x="127000" y="0"/>
                  </a:cubicBezTo>
                  <a:close/>
                </a:path>
              </a:pathLst>
            </a:custGeom>
            <a:solidFill>
              <a:srgbClr val="ECF9FC"/>
            </a:solidFill>
            <a:ln w="9525" cap="sq">
              <a:solidFill>
                <a:srgbClr val="C8D9EA"/>
              </a:solidFill>
              <a:prstDash val="solid"/>
              <a:miter/>
            </a:ln>
          </p:spPr>
        </p:sp>
        <p:sp>
          <p:nvSpPr>
            <p:cNvPr name="TextBox 33" id="33"/>
            <p:cNvSpPr txBox="true"/>
            <p:nvPr/>
          </p:nvSpPr>
          <p:spPr>
            <a:xfrm>
              <a:off x="0" y="-28575"/>
              <a:ext cx="6553200" cy="1984375"/>
            </a:xfrm>
            <a:prstGeom prst="rect">
              <a:avLst/>
            </a:prstGeom>
          </p:spPr>
          <p:txBody>
            <a:bodyPr anchor="ctr" rtlCol="false" tIns="50800" lIns="50800" bIns="50800" rIns="50800"/>
            <a:lstStyle/>
            <a:p>
              <a:pPr algn="l">
                <a:lnSpc>
                  <a:spcPts val="2239"/>
                </a:lnSpc>
              </a:pPr>
            </a:p>
          </p:txBody>
        </p:sp>
      </p:grpSp>
      <p:sp>
        <p:nvSpPr>
          <p:cNvPr name="TextBox 34" id="34"/>
          <p:cNvSpPr txBox="true"/>
          <p:nvPr/>
        </p:nvSpPr>
        <p:spPr>
          <a:xfrm rot="0">
            <a:off x="6838950" y="3752850"/>
            <a:ext cx="4610100" cy="643763"/>
          </a:xfrm>
          <a:prstGeom prst="rect">
            <a:avLst/>
          </a:prstGeom>
        </p:spPr>
        <p:txBody>
          <a:bodyPr anchor="t" rtlCol="false" tIns="0" lIns="0" bIns="0" rIns="0">
            <a:spAutoFit/>
          </a:bodyPr>
          <a:lstStyle/>
          <a:p>
            <a:pPr algn="l">
              <a:lnSpc>
                <a:spcPts val="2595"/>
              </a:lnSpc>
            </a:pPr>
            <a:r>
              <a:rPr lang="en-US" sz="2199">
                <a:solidFill>
                  <a:srgbClr val="173A78"/>
                </a:solidFill>
                <a:latin typeface="Canva Sans"/>
                <a:ea typeface="Canva Sans"/>
                <a:cs typeface="Canva Sans"/>
                <a:sym typeface="Canva Sans"/>
              </a:rPr>
              <a:t>DENY SELECT ON dbo.TAIKHOAN TO SINH_VIEN;</a:t>
            </a:r>
          </a:p>
        </p:txBody>
      </p:sp>
      <p:sp>
        <p:nvSpPr>
          <p:cNvPr name="AutoShape 35" id="35"/>
          <p:cNvSpPr/>
          <p:nvPr/>
        </p:nvSpPr>
        <p:spPr>
          <a:xfrm>
            <a:off x="6686550" y="5248275"/>
            <a:ext cx="4914900" cy="0"/>
          </a:xfrm>
          <a:prstGeom prst="line">
            <a:avLst/>
          </a:prstGeom>
          <a:ln cap="flat" w="9525">
            <a:solidFill>
              <a:srgbClr val="C8D9EA"/>
            </a:solidFill>
            <a:prstDash val="solid"/>
            <a:headEnd type="none" len="sm" w="sm"/>
            <a:tailEnd type="none" len="sm" w="sm"/>
          </a:ln>
        </p:spPr>
      </p:sp>
      <p:sp>
        <p:nvSpPr>
          <p:cNvPr name="TextBox 36" id="36"/>
          <p:cNvSpPr txBox="true"/>
          <p:nvPr/>
        </p:nvSpPr>
        <p:spPr>
          <a:xfrm rot="0">
            <a:off x="6705600" y="5572125"/>
            <a:ext cx="4876800" cy="661162"/>
          </a:xfrm>
          <a:prstGeom prst="rect">
            <a:avLst/>
          </a:prstGeom>
        </p:spPr>
        <p:txBody>
          <a:bodyPr anchor="t" rtlCol="false" tIns="0" lIns="0" bIns="0" rIns="0">
            <a:spAutoFit/>
          </a:bodyPr>
          <a:lstStyle/>
          <a:p>
            <a:pPr algn="l">
              <a:lnSpc>
                <a:spcPts val="2683"/>
              </a:lnSpc>
            </a:pPr>
            <a:r>
              <a:rPr lang="en-US" sz="2199">
                <a:solidFill>
                  <a:srgbClr val="26384F"/>
                </a:solidFill>
                <a:latin typeface="Canva Sans"/>
                <a:ea typeface="Canva Sans"/>
                <a:cs typeface="Canva Sans"/>
                <a:sym typeface="Canva Sans"/>
              </a:rPr>
              <a:t>Sinh viên không được đọc trực tiếp bảng tài khoản.</a:t>
            </a:r>
          </a:p>
        </p:txBody>
      </p:sp>
      <p:grpSp>
        <p:nvGrpSpPr>
          <p:cNvPr name="Group 37" id="37"/>
          <p:cNvGrpSpPr/>
          <p:nvPr/>
        </p:nvGrpSpPr>
        <p:grpSpPr>
          <a:xfrm rot="0">
            <a:off x="12134850" y="2238375"/>
            <a:ext cx="5410200" cy="4810125"/>
            <a:chOff x="0" y="0"/>
            <a:chExt cx="7213600" cy="6413500"/>
          </a:xfrm>
        </p:grpSpPr>
        <p:sp>
          <p:nvSpPr>
            <p:cNvPr name="Freeform 38" id="38"/>
            <p:cNvSpPr/>
            <p:nvPr/>
          </p:nvSpPr>
          <p:spPr>
            <a:xfrm flipH="false" flipV="false" rot="0">
              <a:off x="0" y="0"/>
              <a:ext cx="7213600" cy="6413500"/>
            </a:xfrm>
            <a:custGeom>
              <a:avLst/>
              <a:gdLst/>
              <a:ahLst/>
              <a:cxnLst/>
              <a:rect r="r" b="b" t="t" l="l"/>
              <a:pathLst>
                <a:path h="6413500" w="7213600">
                  <a:moveTo>
                    <a:pt x="203200" y="0"/>
                  </a:moveTo>
                  <a:lnTo>
                    <a:pt x="7010400" y="0"/>
                  </a:lnTo>
                  <a:cubicBezTo>
                    <a:pt x="7122624" y="0"/>
                    <a:pt x="7213600" y="90976"/>
                    <a:pt x="7213600" y="203200"/>
                  </a:cubicBezTo>
                  <a:lnTo>
                    <a:pt x="7213600" y="6210300"/>
                  </a:lnTo>
                  <a:cubicBezTo>
                    <a:pt x="7213600" y="6322524"/>
                    <a:pt x="7122624" y="6413500"/>
                    <a:pt x="7010400" y="6413500"/>
                  </a:cubicBezTo>
                  <a:lnTo>
                    <a:pt x="203200" y="6413500"/>
                  </a:lnTo>
                  <a:cubicBezTo>
                    <a:pt x="90976" y="6413500"/>
                    <a:pt x="0" y="6322524"/>
                    <a:pt x="0" y="6210300"/>
                  </a:cubicBezTo>
                  <a:lnTo>
                    <a:pt x="0" y="203200"/>
                  </a:lnTo>
                  <a:cubicBezTo>
                    <a:pt x="0" y="90976"/>
                    <a:pt x="90976" y="0"/>
                    <a:pt x="203200" y="0"/>
                  </a:cubicBezTo>
                  <a:close/>
                </a:path>
              </a:pathLst>
            </a:custGeom>
            <a:solidFill>
              <a:srgbClr val="F7FBFF"/>
            </a:solidFill>
            <a:ln w="14288" cap="sq">
              <a:solidFill>
                <a:srgbClr val="C8D9EA"/>
              </a:solidFill>
              <a:prstDash val="solid"/>
              <a:miter/>
            </a:ln>
          </p:spPr>
        </p:sp>
        <p:sp>
          <p:nvSpPr>
            <p:cNvPr name="TextBox 39" id="39"/>
            <p:cNvSpPr txBox="true"/>
            <p:nvPr/>
          </p:nvSpPr>
          <p:spPr>
            <a:xfrm>
              <a:off x="0" y="-28575"/>
              <a:ext cx="7213600" cy="6442075"/>
            </a:xfrm>
            <a:prstGeom prst="rect">
              <a:avLst/>
            </a:prstGeom>
          </p:spPr>
          <p:txBody>
            <a:bodyPr anchor="ctr" rtlCol="false" tIns="50800" lIns="50800" bIns="50800" rIns="50800"/>
            <a:lstStyle/>
            <a:p>
              <a:pPr algn="l">
                <a:lnSpc>
                  <a:spcPts val="2239"/>
                </a:lnSpc>
              </a:pPr>
            </a:p>
          </p:txBody>
        </p:sp>
      </p:grpSp>
      <p:grpSp>
        <p:nvGrpSpPr>
          <p:cNvPr name="Group 40" id="40"/>
          <p:cNvGrpSpPr/>
          <p:nvPr/>
        </p:nvGrpSpPr>
        <p:grpSpPr>
          <a:xfrm rot="0">
            <a:off x="12134850" y="2238375"/>
            <a:ext cx="5410200" cy="85725"/>
            <a:chOff x="0" y="0"/>
            <a:chExt cx="7213600" cy="114300"/>
          </a:xfrm>
        </p:grpSpPr>
        <p:sp>
          <p:nvSpPr>
            <p:cNvPr name="Freeform 41" id="41"/>
            <p:cNvSpPr/>
            <p:nvPr/>
          </p:nvSpPr>
          <p:spPr>
            <a:xfrm flipH="false" flipV="false" rot="0">
              <a:off x="0" y="0"/>
              <a:ext cx="7213600" cy="114300"/>
            </a:xfrm>
            <a:custGeom>
              <a:avLst/>
              <a:gdLst/>
              <a:ahLst/>
              <a:cxnLst/>
              <a:rect r="r" b="b" t="t" l="l"/>
              <a:pathLst>
                <a:path h="114300" w="7213600">
                  <a:moveTo>
                    <a:pt x="50800" y="0"/>
                  </a:moveTo>
                  <a:lnTo>
                    <a:pt x="7162800" y="0"/>
                  </a:lnTo>
                  <a:cubicBezTo>
                    <a:pt x="7190856" y="0"/>
                    <a:pt x="7213600" y="22744"/>
                    <a:pt x="7213600" y="50800"/>
                  </a:cubicBezTo>
                  <a:lnTo>
                    <a:pt x="7213600" y="63500"/>
                  </a:lnTo>
                  <a:cubicBezTo>
                    <a:pt x="7213600" y="91556"/>
                    <a:pt x="7190856" y="114300"/>
                    <a:pt x="7162800" y="114300"/>
                  </a:cubicBezTo>
                  <a:lnTo>
                    <a:pt x="50800" y="114300"/>
                  </a:lnTo>
                  <a:cubicBezTo>
                    <a:pt x="22744" y="114300"/>
                    <a:pt x="0" y="91556"/>
                    <a:pt x="0" y="63500"/>
                  </a:cubicBezTo>
                  <a:lnTo>
                    <a:pt x="0" y="50800"/>
                  </a:lnTo>
                  <a:cubicBezTo>
                    <a:pt x="0" y="22744"/>
                    <a:pt x="22744" y="0"/>
                    <a:pt x="50800" y="0"/>
                  </a:cubicBezTo>
                  <a:close/>
                </a:path>
              </a:pathLst>
            </a:custGeom>
            <a:solidFill>
              <a:srgbClr val="6B74B8"/>
            </a:solidFill>
          </p:spPr>
        </p:sp>
        <p:sp>
          <p:nvSpPr>
            <p:cNvPr name="TextBox 42" id="42"/>
            <p:cNvSpPr txBox="true"/>
            <p:nvPr/>
          </p:nvSpPr>
          <p:spPr>
            <a:xfrm>
              <a:off x="0" y="-28575"/>
              <a:ext cx="7213600" cy="142875"/>
            </a:xfrm>
            <a:prstGeom prst="rect">
              <a:avLst/>
            </a:prstGeom>
          </p:spPr>
          <p:txBody>
            <a:bodyPr anchor="ctr" rtlCol="false" tIns="50800" lIns="50800" bIns="50800" rIns="50800"/>
            <a:lstStyle/>
            <a:p>
              <a:pPr algn="l">
                <a:lnSpc>
                  <a:spcPts val="2239"/>
                </a:lnSpc>
              </a:pPr>
            </a:p>
          </p:txBody>
        </p:sp>
      </p:grpSp>
      <p:sp>
        <p:nvSpPr>
          <p:cNvPr name="TextBox 43" id="43"/>
          <p:cNvSpPr txBox="true"/>
          <p:nvPr/>
        </p:nvSpPr>
        <p:spPr>
          <a:xfrm rot="0">
            <a:off x="12382500" y="2562225"/>
            <a:ext cx="4914900" cy="339090"/>
          </a:xfrm>
          <a:prstGeom prst="rect">
            <a:avLst/>
          </a:prstGeom>
        </p:spPr>
        <p:txBody>
          <a:bodyPr anchor="t" rtlCol="false" tIns="0" lIns="0" bIns="0" rIns="0">
            <a:spAutoFit/>
          </a:bodyPr>
          <a:lstStyle/>
          <a:p>
            <a:pPr algn="l">
              <a:lnSpc>
                <a:spcPts val="2759"/>
              </a:lnSpc>
            </a:pPr>
            <a:r>
              <a:rPr lang="en-US" sz="2399" b="true">
                <a:solidFill>
                  <a:srgbClr val="6B74B8"/>
                </a:solidFill>
                <a:latin typeface="Canva Sans Bold"/>
                <a:ea typeface="Canva Sans Bold"/>
                <a:cs typeface="Canva Sans Bold"/>
                <a:sym typeface="Canva Sans Bold"/>
              </a:rPr>
              <a:t>REVOKE — Gỡ quyền tường minh</a:t>
            </a:r>
          </a:p>
        </p:txBody>
      </p:sp>
      <p:sp>
        <p:nvSpPr>
          <p:cNvPr name="AutoShape 44" id="44"/>
          <p:cNvSpPr/>
          <p:nvPr/>
        </p:nvSpPr>
        <p:spPr>
          <a:xfrm>
            <a:off x="12382500" y="3238500"/>
            <a:ext cx="4914900" cy="0"/>
          </a:xfrm>
          <a:prstGeom prst="line">
            <a:avLst/>
          </a:prstGeom>
          <a:ln cap="flat" w="9525">
            <a:solidFill>
              <a:srgbClr val="C8D9EA"/>
            </a:solidFill>
            <a:prstDash val="solid"/>
            <a:headEnd type="none" len="sm" w="sm"/>
            <a:tailEnd type="none" len="sm" w="sm"/>
          </a:ln>
        </p:spPr>
      </p:sp>
      <p:grpSp>
        <p:nvGrpSpPr>
          <p:cNvPr name="Group 45" id="45"/>
          <p:cNvGrpSpPr/>
          <p:nvPr/>
        </p:nvGrpSpPr>
        <p:grpSpPr>
          <a:xfrm rot="0">
            <a:off x="12382500" y="3495675"/>
            <a:ext cx="4914900" cy="1466850"/>
            <a:chOff x="0" y="0"/>
            <a:chExt cx="6553200" cy="1955800"/>
          </a:xfrm>
        </p:grpSpPr>
        <p:sp>
          <p:nvSpPr>
            <p:cNvPr name="Freeform 46" id="46"/>
            <p:cNvSpPr/>
            <p:nvPr/>
          </p:nvSpPr>
          <p:spPr>
            <a:xfrm flipH="false" flipV="false" rot="0">
              <a:off x="0" y="0"/>
              <a:ext cx="6553200" cy="1955800"/>
            </a:xfrm>
            <a:custGeom>
              <a:avLst/>
              <a:gdLst/>
              <a:ahLst/>
              <a:cxnLst/>
              <a:rect r="r" b="b" t="t" l="l"/>
              <a:pathLst>
                <a:path h="1955800" w="6553200">
                  <a:moveTo>
                    <a:pt x="127000" y="0"/>
                  </a:moveTo>
                  <a:lnTo>
                    <a:pt x="6426200" y="0"/>
                  </a:lnTo>
                  <a:cubicBezTo>
                    <a:pt x="6496340" y="0"/>
                    <a:pt x="6553200" y="56860"/>
                    <a:pt x="6553200" y="127000"/>
                  </a:cubicBezTo>
                  <a:lnTo>
                    <a:pt x="6553200" y="1828800"/>
                  </a:lnTo>
                  <a:cubicBezTo>
                    <a:pt x="6553200" y="1898940"/>
                    <a:pt x="6496340" y="1955800"/>
                    <a:pt x="6426200" y="1955800"/>
                  </a:cubicBezTo>
                  <a:lnTo>
                    <a:pt x="127000" y="1955800"/>
                  </a:lnTo>
                  <a:cubicBezTo>
                    <a:pt x="56860" y="1955800"/>
                    <a:pt x="0" y="1898940"/>
                    <a:pt x="0" y="1828800"/>
                  </a:cubicBezTo>
                  <a:lnTo>
                    <a:pt x="0" y="127000"/>
                  </a:lnTo>
                  <a:cubicBezTo>
                    <a:pt x="0" y="56860"/>
                    <a:pt x="56860" y="0"/>
                    <a:pt x="127000" y="0"/>
                  </a:cubicBezTo>
                  <a:close/>
                </a:path>
              </a:pathLst>
            </a:custGeom>
            <a:solidFill>
              <a:srgbClr val="FFF3EA"/>
            </a:solidFill>
            <a:ln w="9525" cap="sq">
              <a:solidFill>
                <a:srgbClr val="C8D9EA"/>
              </a:solidFill>
              <a:prstDash val="solid"/>
              <a:miter/>
            </a:ln>
          </p:spPr>
        </p:sp>
        <p:sp>
          <p:nvSpPr>
            <p:cNvPr name="TextBox 47" id="47"/>
            <p:cNvSpPr txBox="true"/>
            <p:nvPr/>
          </p:nvSpPr>
          <p:spPr>
            <a:xfrm>
              <a:off x="0" y="-28575"/>
              <a:ext cx="6553200" cy="1984375"/>
            </a:xfrm>
            <a:prstGeom prst="rect">
              <a:avLst/>
            </a:prstGeom>
          </p:spPr>
          <p:txBody>
            <a:bodyPr anchor="ctr" rtlCol="false" tIns="50800" lIns="50800" bIns="50800" rIns="50800"/>
            <a:lstStyle/>
            <a:p>
              <a:pPr algn="l">
                <a:lnSpc>
                  <a:spcPts val="2239"/>
                </a:lnSpc>
              </a:pPr>
            </a:p>
          </p:txBody>
        </p:sp>
      </p:grpSp>
      <p:sp>
        <p:nvSpPr>
          <p:cNvPr name="TextBox 48" id="48"/>
          <p:cNvSpPr txBox="true"/>
          <p:nvPr/>
        </p:nvSpPr>
        <p:spPr>
          <a:xfrm rot="0">
            <a:off x="12534900" y="3752850"/>
            <a:ext cx="4610100" cy="967613"/>
          </a:xfrm>
          <a:prstGeom prst="rect">
            <a:avLst/>
          </a:prstGeom>
        </p:spPr>
        <p:txBody>
          <a:bodyPr anchor="t" rtlCol="false" tIns="0" lIns="0" bIns="0" rIns="0">
            <a:spAutoFit/>
          </a:bodyPr>
          <a:lstStyle/>
          <a:p>
            <a:pPr algn="l">
              <a:lnSpc>
                <a:spcPts val="2595"/>
              </a:lnSpc>
            </a:pPr>
            <a:r>
              <a:rPr lang="en-US" sz="2199">
                <a:solidFill>
                  <a:srgbClr val="173A78"/>
                </a:solidFill>
                <a:latin typeface="Canva Sans"/>
                <a:ea typeface="Canva Sans"/>
                <a:cs typeface="Canva Sans"/>
                <a:sym typeface="Canva Sans"/>
              </a:rPr>
              <a:t>REVOKE UPDATE, DELETE ON dbo.LOGHOATDONG FROM DAO_TAO;</a:t>
            </a:r>
          </a:p>
        </p:txBody>
      </p:sp>
      <p:sp>
        <p:nvSpPr>
          <p:cNvPr name="AutoShape 49" id="49"/>
          <p:cNvSpPr/>
          <p:nvPr/>
        </p:nvSpPr>
        <p:spPr>
          <a:xfrm>
            <a:off x="12382500" y="5248275"/>
            <a:ext cx="4914900" cy="0"/>
          </a:xfrm>
          <a:prstGeom prst="line">
            <a:avLst/>
          </a:prstGeom>
          <a:ln cap="flat" w="9525">
            <a:solidFill>
              <a:srgbClr val="C8D9EA"/>
            </a:solidFill>
            <a:prstDash val="solid"/>
            <a:headEnd type="none" len="sm" w="sm"/>
            <a:tailEnd type="none" len="sm" w="sm"/>
          </a:ln>
        </p:spPr>
      </p:sp>
      <p:sp>
        <p:nvSpPr>
          <p:cNvPr name="TextBox 50" id="50"/>
          <p:cNvSpPr txBox="true"/>
          <p:nvPr/>
        </p:nvSpPr>
        <p:spPr>
          <a:xfrm rot="0">
            <a:off x="12401550" y="5572125"/>
            <a:ext cx="4876800" cy="1327912"/>
          </a:xfrm>
          <a:prstGeom prst="rect">
            <a:avLst/>
          </a:prstGeom>
        </p:spPr>
        <p:txBody>
          <a:bodyPr anchor="t" rtlCol="false" tIns="0" lIns="0" bIns="0" rIns="0">
            <a:spAutoFit/>
          </a:bodyPr>
          <a:lstStyle/>
          <a:p>
            <a:pPr algn="l">
              <a:lnSpc>
                <a:spcPts val="2683"/>
              </a:lnSpc>
            </a:pPr>
            <a:r>
              <a:rPr lang="en-US" sz="2199">
                <a:solidFill>
                  <a:srgbClr val="26384F"/>
                </a:solidFill>
                <a:latin typeface="Canva Sans"/>
                <a:ea typeface="Canva Sans"/>
                <a:cs typeface="Canva Sans"/>
                <a:sym typeface="Canva Sans"/>
              </a:rPr>
              <a:t>Gỡ trạng thái cấp/cấm tường minh đối với quyền sửa, xóa nhật ký; role này không được cấp các quyền đó trong script.</a:t>
            </a:r>
          </a:p>
        </p:txBody>
      </p:sp>
      <p:grpSp>
        <p:nvGrpSpPr>
          <p:cNvPr name="Group 51" id="51"/>
          <p:cNvGrpSpPr/>
          <p:nvPr/>
        </p:nvGrpSpPr>
        <p:grpSpPr>
          <a:xfrm rot="0">
            <a:off x="742950" y="7600950"/>
            <a:ext cx="16802100" cy="1352550"/>
            <a:chOff x="0" y="0"/>
            <a:chExt cx="22402800" cy="1803400"/>
          </a:xfrm>
        </p:grpSpPr>
        <p:sp>
          <p:nvSpPr>
            <p:cNvPr name="Freeform 52" id="52"/>
            <p:cNvSpPr/>
            <p:nvPr/>
          </p:nvSpPr>
          <p:spPr>
            <a:xfrm flipH="false" flipV="false" rot="0">
              <a:off x="0" y="0"/>
              <a:ext cx="22402800" cy="1803400"/>
            </a:xfrm>
            <a:custGeom>
              <a:avLst/>
              <a:gdLst/>
              <a:ahLst/>
              <a:cxnLst/>
              <a:rect r="r" b="b" t="t" l="l"/>
              <a:pathLst>
                <a:path h="1803400" w="22402800">
                  <a:moveTo>
                    <a:pt x="203200" y="0"/>
                  </a:moveTo>
                  <a:lnTo>
                    <a:pt x="22199600" y="0"/>
                  </a:lnTo>
                  <a:cubicBezTo>
                    <a:pt x="22311824" y="0"/>
                    <a:pt x="22402800" y="90976"/>
                    <a:pt x="22402800" y="203200"/>
                  </a:cubicBezTo>
                  <a:lnTo>
                    <a:pt x="22402800" y="1600200"/>
                  </a:lnTo>
                  <a:cubicBezTo>
                    <a:pt x="22402800" y="1712424"/>
                    <a:pt x="22311824" y="1803400"/>
                    <a:pt x="22199600" y="1803400"/>
                  </a:cubicBezTo>
                  <a:lnTo>
                    <a:pt x="203200" y="1803400"/>
                  </a:lnTo>
                  <a:cubicBezTo>
                    <a:pt x="90976" y="1803400"/>
                    <a:pt x="0" y="1712424"/>
                    <a:pt x="0" y="1600200"/>
                  </a:cubicBezTo>
                  <a:lnTo>
                    <a:pt x="0" y="203200"/>
                  </a:lnTo>
                  <a:cubicBezTo>
                    <a:pt x="0" y="90976"/>
                    <a:pt x="90976" y="0"/>
                    <a:pt x="203200" y="0"/>
                  </a:cubicBezTo>
                  <a:close/>
                </a:path>
              </a:pathLst>
            </a:custGeom>
            <a:solidFill>
              <a:srgbClr val="EAF4FF"/>
            </a:solidFill>
            <a:ln w="17145" cap="sq">
              <a:solidFill>
                <a:srgbClr val="3978C8"/>
              </a:solidFill>
              <a:prstDash val="solid"/>
              <a:miter/>
            </a:ln>
          </p:spPr>
        </p:sp>
        <p:sp>
          <p:nvSpPr>
            <p:cNvPr name="TextBox 53" id="53"/>
            <p:cNvSpPr txBox="true"/>
            <p:nvPr/>
          </p:nvSpPr>
          <p:spPr>
            <a:xfrm>
              <a:off x="0" y="-28575"/>
              <a:ext cx="22402800" cy="1831975"/>
            </a:xfrm>
            <a:prstGeom prst="rect">
              <a:avLst/>
            </a:prstGeom>
          </p:spPr>
          <p:txBody>
            <a:bodyPr anchor="ctr" rtlCol="false" tIns="50800" lIns="50800" bIns="50800" rIns="50800"/>
            <a:lstStyle/>
            <a:p>
              <a:pPr algn="l">
                <a:lnSpc>
                  <a:spcPts val="2239"/>
                </a:lnSpc>
              </a:pPr>
            </a:p>
          </p:txBody>
        </p:sp>
      </p:grpSp>
      <p:grpSp>
        <p:nvGrpSpPr>
          <p:cNvPr name="Group 54" id="54"/>
          <p:cNvGrpSpPr/>
          <p:nvPr/>
        </p:nvGrpSpPr>
        <p:grpSpPr>
          <a:xfrm rot="0">
            <a:off x="971550" y="7829550"/>
            <a:ext cx="85725" cy="895350"/>
            <a:chOff x="0" y="0"/>
            <a:chExt cx="114300" cy="1193800"/>
          </a:xfrm>
        </p:grpSpPr>
        <p:sp>
          <p:nvSpPr>
            <p:cNvPr name="Freeform 55" id="55"/>
            <p:cNvSpPr/>
            <p:nvPr/>
          </p:nvSpPr>
          <p:spPr>
            <a:xfrm flipH="false" flipV="false" rot="0">
              <a:off x="0" y="0"/>
              <a:ext cx="114300" cy="1193800"/>
            </a:xfrm>
            <a:custGeom>
              <a:avLst/>
              <a:gdLst/>
              <a:ahLst/>
              <a:cxnLst/>
              <a:rect r="r" b="b" t="t" l="l"/>
              <a:pathLst>
                <a:path h="1193800" w="114300">
                  <a:moveTo>
                    <a:pt x="50800" y="0"/>
                  </a:moveTo>
                  <a:lnTo>
                    <a:pt x="63500" y="0"/>
                  </a:lnTo>
                  <a:cubicBezTo>
                    <a:pt x="91556" y="0"/>
                    <a:pt x="114300" y="22744"/>
                    <a:pt x="114300" y="50800"/>
                  </a:cubicBezTo>
                  <a:lnTo>
                    <a:pt x="114300" y="1143000"/>
                  </a:lnTo>
                  <a:cubicBezTo>
                    <a:pt x="114300" y="1171056"/>
                    <a:pt x="91556" y="1193800"/>
                    <a:pt x="63500" y="1193800"/>
                  </a:cubicBezTo>
                  <a:lnTo>
                    <a:pt x="50800" y="1193800"/>
                  </a:lnTo>
                  <a:cubicBezTo>
                    <a:pt x="22744" y="1193800"/>
                    <a:pt x="0" y="1171056"/>
                    <a:pt x="0" y="1143000"/>
                  </a:cubicBezTo>
                  <a:lnTo>
                    <a:pt x="0" y="50800"/>
                  </a:lnTo>
                  <a:cubicBezTo>
                    <a:pt x="0" y="22744"/>
                    <a:pt x="22744" y="0"/>
                    <a:pt x="50800" y="0"/>
                  </a:cubicBezTo>
                  <a:close/>
                </a:path>
              </a:pathLst>
            </a:custGeom>
            <a:solidFill>
              <a:srgbClr val="3978C8"/>
            </a:solidFill>
          </p:spPr>
        </p:sp>
        <p:sp>
          <p:nvSpPr>
            <p:cNvPr name="TextBox 56" id="56"/>
            <p:cNvSpPr txBox="true"/>
            <p:nvPr/>
          </p:nvSpPr>
          <p:spPr>
            <a:xfrm>
              <a:off x="0" y="-28575"/>
              <a:ext cx="114300" cy="1222375"/>
            </a:xfrm>
            <a:prstGeom prst="rect">
              <a:avLst/>
            </a:prstGeom>
          </p:spPr>
          <p:txBody>
            <a:bodyPr anchor="ctr" rtlCol="false" tIns="50800" lIns="50800" bIns="50800" rIns="50800"/>
            <a:lstStyle/>
            <a:p>
              <a:pPr algn="l">
                <a:lnSpc>
                  <a:spcPts val="2239"/>
                </a:lnSpc>
              </a:pPr>
            </a:p>
          </p:txBody>
        </p:sp>
      </p:grpSp>
      <p:sp>
        <p:nvSpPr>
          <p:cNvPr name="TextBox 57" id="57"/>
          <p:cNvSpPr txBox="true"/>
          <p:nvPr/>
        </p:nvSpPr>
        <p:spPr>
          <a:xfrm rot="0">
            <a:off x="1143000" y="7924800"/>
            <a:ext cx="15811500" cy="714375"/>
          </a:xfrm>
          <a:prstGeom prst="rect">
            <a:avLst/>
          </a:prstGeom>
        </p:spPr>
        <p:txBody>
          <a:bodyPr anchor="t" rtlCol="false" tIns="0" lIns="0" bIns="0" rIns="0">
            <a:spAutoFit/>
          </a:bodyPr>
          <a:lstStyle/>
          <a:p>
            <a:pPr algn="l">
              <a:lnSpc>
                <a:spcPts val="2879"/>
              </a:lnSpc>
            </a:pPr>
            <a:r>
              <a:rPr lang="en-US" sz="2399" b="true">
                <a:solidFill>
                  <a:srgbClr val="173A78"/>
                </a:solidFill>
                <a:latin typeface="Canva Sans Bold"/>
                <a:ea typeface="Canva Sans Bold"/>
                <a:cs typeface="Canva Sans Bold"/>
                <a:sym typeface="Canva Sans Bold"/>
              </a:rPr>
              <a:t>LOGHOATDONG phục vụ kiểm tra thao tác; vai trò đào tạo được xem nhật ký nhưng không được cấp quyền sửa hoặc xóa.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sp>
        <p:nvSpPr>
          <p:cNvPr name="TextBox 3" id="3"/>
          <p:cNvSpPr txBox="true"/>
          <p:nvPr/>
        </p:nvSpPr>
        <p:spPr>
          <a:xfrm rot="0">
            <a:off x="850251" y="91357"/>
            <a:ext cx="16535400" cy="811530"/>
          </a:xfrm>
          <a:prstGeom prst="rect">
            <a:avLst/>
          </a:prstGeom>
        </p:spPr>
        <p:txBody>
          <a:bodyPr anchor="t" rtlCol="false" tIns="0" lIns="0" bIns="0" rIns="0">
            <a:spAutoFit/>
          </a:bodyPr>
          <a:lstStyle/>
          <a:p>
            <a:pPr algn="l">
              <a:lnSpc>
                <a:spcPts val="6719"/>
              </a:lnSpc>
            </a:pPr>
            <a:r>
              <a:rPr lang="en-US" sz="4799" b="true">
                <a:solidFill>
                  <a:srgbClr val="173A78"/>
                </a:solidFill>
                <a:latin typeface="Canva Sans Bold"/>
                <a:ea typeface="Canva Sans Bold"/>
                <a:cs typeface="Canva Sans Bold"/>
                <a:sym typeface="Canva Sans Bold"/>
              </a:rPr>
              <a:t>12. ỨNG DỤNG WEB KẾT NỐI SQL SERVER</a:t>
            </a:r>
          </a:p>
        </p:txBody>
      </p:sp>
      <p:sp>
        <p:nvSpPr>
          <p:cNvPr name="TextBox 4" id="4"/>
          <p:cNvSpPr txBox="true"/>
          <p:nvPr/>
        </p:nvSpPr>
        <p:spPr>
          <a:xfrm rot="0">
            <a:off x="850251" y="903522"/>
            <a:ext cx="16535400" cy="339725"/>
          </a:xfrm>
          <a:prstGeom prst="rect">
            <a:avLst/>
          </a:prstGeom>
        </p:spPr>
        <p:txBody>
          <a:bodyPr anchor="t" rtlCol="false" tIns="0" lIns="0" bIns="0" rIns="0">
            <a:spAutoFit/>
          </a:bodyPr>
          <a:lstStyle/>
          <a:p>
            <a:pPr algn="l">
              <a:lnSpc>
                <a:spcPts val="2799"/>
              </a:lnSpc>
            </a:pPr>
            <a:r>
              <a:rPr lang="en-US" sz="1999">
                <a:solidFill>
                  <a:srgbClr val="59697A"/>
                </a:solidFill>
                <a:latin typeface="Canva Sans"/>
                <a:ea typeface="Canva Sans"/>
                <a:cs typeface="Canva Sans"/>
                <a:sym typeface="Canva Sans"/>
              </a:rPr>
              <a:t>Bốn vai trò sử dụng ứng dụng để thực hiện các nghiệp vụ học vụ theo quyền được cấp.</a:t>
            </a:r>
          </a:p>
        </p:txBody>
      </p:sp>
      <p:sp>
        <p:nvSpPr>
          <p:cNvPr name="AutoShape 5" id="5"/>
          <p:cNvSpPr/>
          <p:nvPr/>
        </p:nvSpPr>
        <p:spPr>
          <a:xfrm>
            <a:off x="850251" y="1301032"/>
            <a:ext cx="16535400" cy="0"/>
          </a:xfrm>
          <a:prstGeom prst="line">
            <a:avLst/>
          </a:prstGeom>
          <a:ln cap="flat" w="19050">
            <a:solidFill>
              <a:srgbClr val="2D91B8"/>
            </a:solidFill>
            <a:prstDash val="solid"/>
            <a:headEnd type="none" len="sm" w="sm"/>
            <a:tailEnd type="none" len="sm" w="sm"/>
          </a:ln>
        </p:spPr>
      </p:sp>
      <p:sp>
        <p:nvSpPr>
          <p:cNvPr name="Freeform 6" id="6"/>
          <p:cNvSpPr/>
          <p:nvPr/>
        </p:nvSpPr>
        <p:spPr>
          <a:xfrm flipH="false" flipV="false" rot="0">
            <a:off x="5660009" y="1440884"/>
            <a:ext cx="5572125" cy="3238500"/>
          </a:xfrm>
          <a:custGeom>
            <a:avLst/>
            <a:gdLst/>
            <a:ahLst/>
            <a:cxnLst/>
            <a:rect r="r" b="b" t="t" l="l"/>
            <a:pathLst>
              <a:path h="3238500" w="5572125">
                <a:moveTo>
                  <a:pt x="0" y="0"/>
                </a:moveTo>
                <a:lnTo>
                  <a:pt x="5572125" y="0"/>
                </a:lnTo>
                <a:lnTo>
                  <a:pt x="5572125" y="3238500"/>
                </a:lnTo>
                <a:lnTo>
                  <a:pt x="0" y="3238500"/>
                </a:lnTo>
                <a:lnTo>
                  <a:pt x="0" y="0"/>
                </a:lnTo>
                <a:close/>
              </a:path>
            </a:pathLst>
          </a:custGeom>
          <a:blipFill>
            <a:blip r:embed="rId3"/>
            <a:stretch>
              <a:fillRect l="-211" t="0" r="-211" b="0"/>
            </a:stretch>
          </a:blipFill>
        </p:spPr>
      </p:sp>
      <p:grpSp>
        <p:nvGrpSpPr>
          <p:cNvPr name="Group 7" id="7"/>
          <p:cNvGrpSpPr/>
          <p:nvPr/>
        </p:nvGrpSpPr>
        <p:grpSpPr>
          <a:xfrm rot="0">
            <a:off x="5660009" y="4776387"/>
            <a:ext cx="5572125" cy="400050"/>
            <a:chOff x="0" y="0"/>
            <a:chExt cx="7429500" cy="533400"/>
          </a:xfrm>
        </p:grpSpPr>
        <p:sp>
          <p:nvSpPr>
            <p:cNvPr name="Freeform 8" id="8"/>
            <p:cNvSpPr/>
            <p:nvPr/>
          </p:nvSpPr>
          <p:spPr>
            <a:xfrm flipH="false" flipV="false" rot="0">
              <a:off x="0" y="0"/>
              <a:ext cx="7429500" cy="533400"/>
            </a:xfrm>
            <a:custGeom>
              <a:avLst/>
              <a:gdLst/>
              <a:ahLst/>
              <a:cxnLst/>
              <a:rect r="r" b="b" t="t" l="l"/>
              <a:pathLst>
                <a:path h="533400" w="7429500">
                  <a:moveTo>
                    <a:pt x="114300" y="0"/>
                  </a:moveTo>
                  <a:lnTo>
                    <a:pt x="7315200" y="0"/>
                  </a:lnTo>
                  <a:cubicBezTo>
                    <a:pt x="7378326" y="0"/>
                    <a:pt x="7429500" y="51174"/>
                    <a:pt x="7429500" y="114300"/>
                  </a:cubicBezTo>
                  <a:lnTo>
                    <a:pt x="7429500" y="419100"/>
                  </a:lnTo>
                  <a:cubicBezTo>
                    <a:pt x="7429500" y="482226"/>
                    <a:pt x="7378326" y="533400"/>
                    <a:pt x="7315200" y="533400"/>
                  </a:cubicBezTo>
                  <a:lnTo>
                    <a:pt x="114300" y="533400"/>
                  </a:lnTo>
                  <a:cubicBezTo>
                    <a:pt x="51174" y="533400"/>
                    <a:pt x="0" y="482226"/>
                    <a:pt x="0" y="419100"/>
                  </a:cubicBezTo>
                  <a:lnTo>
                    <a:pt x="0" y="114300"/>
                  </a:lnTo>
                  <a:cubicBezTo>
                    <a:pt x="0" y="51174"/>
                    <a:pt x="51174" y="0"/>
                    <a:pt x="114300" y="0"/>
                  </a:cubicBezTo>
                  <a:close/>
                </a:path>
              </a:pathLst>
            </a:custGeom>
            <a:solidFill>
              <a:srgbClr val="EAF4FF"/>
            </a:solidFill>
            <a:ln w="9525" cap="sq">
              <a:solidFill>
                <a:srgbClr val="C8D9EA"/>
              </a:solidFill>
              <a:prstDash val="solid"/>
              <a:miter/>
            </a:ln>
          </p:spPr>
        </p:sp>
        <p:sp>
          <p:nvSpPr>
            <p:cNvPr name="TextBox 9" id="9"/>
            <p:cNvSpPr txBox="true"/>
            <p:nvPr/>
          </p:nvSpPr>
          <p:spPr>
            <a:xfrm>
              <a:off x="0" y="-28575"/>
              <a:ext cx="7429500" cy="561975"/>
            </a:xfrm>
            <a:prstGeom prst="rect">
              <a:avLst/>
            </a:prstGeom>
          </p:spPr>
          <p:txBody>
            <a:bodyPr anchor="ctr" rtlCol="false" tIns="50800" lIns="50800" bIns="50800" rIns="50800"/>
            <a:lstStyle/>
            <a:p>
              <a:pPr algn="l">
                <a:lnSpc>
                  <a:spcPts val="2239"/>
                </a:lnSpc>
              </a:pPr>
            </a:p>
          </p:txBody>
        </p:sp>
      </p:grpSp>
      <p:sp>
        <p:nvSpPr>
          <p:cNvPr name="TextBox 10" id="10"/>
          <p:cNvSpPr txBox="true"/>
          <p:nvPr/>
        </p:nvSpPr>
        <p:spPr>
          <a:xfrm rot="0">
            <a:off x="5774309" y="4824012"/>
            <a:ext cx="1428750" cy="323215"/>
          </a:xfrm>
          <a:prstGeom prst="rect">
            <a:avLst/>
          </a:prstGeom>
        </p:spPr>
        <p:txBody>
          <a:bodyPr anchor="t" rtlCol="false" tIns="0" lIns="0" bIns="0" rIns="0">
            <a:spAutoFit/>
          </a:bodyPr>
          <a:lstStyle/>
          <a:p>
            <a:pPr algn="l">
              <a:lnSpc>
                <a:spcPts val="2659"/>
              </a:lnSpc>
            </a:pPr>
            <a:r>
              <a:rPr lang="en-US" sz="1899" b="true">
                <a:solidFill>
                  <a:srgbClr val="3978C8"/>
                </a:solidFill>
                <a:latin typeface="Canva Sans Bold"/>
                <a:ea typeface="Canva Sans Bold"/>
                <a:cs typeface="Canva Sans Bold"/>
                <a:sym typeface="Canva Sans Bold"/>
              </a:rPr>
              <a:t>SINH VIÊN</a:t>
            </a:r>
          </a:p>
        </p:txBody>
      </p:sp>
      <p:sp>
        <p:nvSpPr>
          <p:cNvPr name="TextBox 11" id="11"/>
          <p:cNvSpPr txBox="true"/>
          <p:nvPr/>
        </p:nvSpPr>
        <p:spPr>
          <a:xfrm rot="0">
            <a:off x="7137431" y="4843062"/>
            <a:ext cx="4572368" cy="280670"/>
          </a:xfrm>
          <a:prstGeom prst="rect">
            <a:avLst/>
          </a:prstGeom>
        </p:spPr>
        <p:txBody>
          <a:bodyPr anchor="t" rtlCol="false" tIns="0" lIns="0" bIns="0" rIns="0">
            <a:spAutoFit/>
          </a:bodyPr>
          <a:lstStyle/>
          <a:p>
            <a:pPr algn="l">
              <a:lnSpc>
                <a:spcPts val="2379"/>
              </a:lnSpc>
            </a:pPr>
            <a:r>
              <a:rPr lang="en-US" sz="1699">
                <a:solidFill>
                  <a:srgbClr val="26384F"/>
                </a:solidFill>
                <a:latin typeface="Canva Sans"/>
                <a:ea typeface="Canva Sans"/>
                <a:cs typeface="Canva Sans"/>
                <a:sym typeface="Canva Sans"/>
              </a:rPr>
              <a:t>Đăng ký học phần · xem lịch học · điểm</a:t>
            </a:r>
          </a:p>
        </p:txBody>
      </p:sp>
      <p:grpSp>
        <p:nvGrpSpPr>
          <p:cNvPr name="Group 12" id="12"/>
          <p:cNvGrpSpPr/>
          <p:nvPr/>
        </p:nvGrpSpPr>
        <p:grpSpPr>
          <a:xfrm rot="0">
            <a:off x="11813526" y="4785912"/>
            <a:ext cx="5572125" cy="400050"/>
            <a:chOff x="0" y="0"/>
            <a:chExt cx="7429500" cy="533400"/>
          </a:xfrm>
        </p:grpSpPr>
        <p:sp>
          <p:nvSpPr>
            <p:cNvPr name="Freeform 13" id="13"/>
            <p:cNvSpPr/>
            <p:nvPr/>
          </p:nvSpPr>
          <p:spPr>
            <a:xfrm flipH="false" flipV="false" rot="0">
              <a:off x="0" y="0"/>
              <a:ext cx="7429500" cy="533400"/>
            </a:xfrm>
            <a:custGeom>
              <a:avLst/>
              <a:gdLst/>
              <a:ahLst/>
              <a:cxnLst/>
              <a:rect r="r" b="b" t="t" l="l"/>
              <a:pathLst>
                <a:path h="533400" w="7429500">
                  <a:moveTo>
                    <a:pt x="114300" y="0"/>
                  </a:moveTo>
                  <a:lnTo>
                    <a:pt x="7315200" y="0"/>
                  </a:lnTo>
                  <a:cubicBezTo>
                    <a:pt x="7378326" y="0"/>
                    <a:pt x="7429500" y="51174"/>
                    <a:pt x="7429500" y="114300"/>
                  </a:cubicBezTo>
                  <a:lnTo>
                    <a:pt x="7429500" y="419100"/>
                  </a:lnTo>
                  <a:cubicBezTo>
                    <a:pt x="7429500" y="482226"/>
                    <a:pt x="7378326" y="533400"/>
                    <a:pt x="7315200" y="533400"/>
                  </a:cubicBezTo>
                  <a:lnTo>
                    <a:pt x="114300" y="533400"/>
                  </a:lnTo>
                  <a:cubicBezTo>
                    <a:pt x="51174" y="533400"/>
                    <a:pt x="0" y="482226"/>
                    <a:pt x="0" y="419100"/>
                  </a:cubicBezTo>
                  <a:lnTo>
                    <a:pt x="0" y="114300"/>
                  </a:lnTo>
                  <a:cubicBezTo>
                    <a:pt x="0" y="51174"/>
                    <a:pt x="51174" y="0"/>
                    <a:pt x="114300" y="0"/>
                  </a:cubicBezTo>
                  <a:close/>
                </a:path>
              </a:pathLst>
            </a:custGeom>
            <a:solidFill>
              <a:srgbClr val="EAF4FF"/>
            </a:solidFill>
            <a:ln w="9525" cap="sq">
              <a:solidFill>
                <a:srgbClr val="C8D9EA"/>
              </a:solidFill>
              <a:prstDash val="solid"/>
              <a:miter/>
            </a:ln>
          </p:spPr>
        </p:sp>
        <p:sp>
          <p:nvSpPr>
            <p:cNvPr name="TextBox 14" id="14"/>
            <p:cNvSpPr txBox="true"/>
            <p:nvPr/>
          </p:nvSpPr>
          <p:spPr>
            <a:xfrm>
              <a:off x="0" y="-28575"/>
              <a:ext cx="7429500" cy="561975"/>
            </a:xfrm>
            <a:prstGeom prst="rect">
              <a:avLst/>
            </a:prstGeom>
          </p:spPr>
          <p:txBody>
            <a:bodyPr anchor="ctr" rtlCol="false" tIns="50800" lIns="50800" bIns="50800" rIns="50800"/>
            <a:lstStyle/>
            <a:p>
              <a:pPr algn="l">
                <a:lnSpc>
                  <a:spcPts val="2239"/>
                </a:lnSpc>
              </a:pPr>
            </a:p>
          </p:txBody>
        </p:sp>
      </p:grpSp>
      <p:sp>
        <p:nvSpPr>
          <p:cNvPr name="TextBox 15" id="15"/>
          <p:cNvSpPr txBox="true"/>
          <p:nvPr/>
        </p:nvSpPr>
        <p:spPr>
          <a:xfrm rot="0">
            <a:off x="11830050" y="4833537"/>
            <a:ext cx="1664130" cy="323215"/>
          </a:xfrm>
          <a:prstGeom prst="rect">
            <a:avLst/>
          </a:prstGeom>
        </p:spPr>
        <p:txBody>
          <a:bodyPr anchor="t" rtlCol="false" tIns="0" lIns="0" bIns="0" rIns="0">
            <a:spAutoFit/>
          </a:bodyPr>
          <a:lstStyle/>
          <a:p>
            <a:pPr algn="l">
              <a:lnSpc>
                <a:spcPts val="2659"/>
              </a:lnSpc>
            </a:pPr>
            <a:r>
              <a:rPr lang="en-US" sz="1899" b="true">
                <a:solidFill>
                  <a:srgbClr val="3978C8"/>
                </a:solidFill>
                <a:latin typeface="Canva Sans Bold"/>
                <a:ea typeface="Canva Sans Bold"/>
                <a:cs typeface="Canva Sans Bold"/>
                <a:sym typeface="Canva Sans Bold"/>
              </a:rPr>
              <a:t>GIẢNG VIÊN</a:t>
            </a:r>
          </a:p>
        </p:txBody>
      </p:sp>
      <p:sp>
        <p:nvSpPr>
          <p:cNvPr name="TextBox 16" id="16"/>
          <p:cNvSpPr txBox="true"/>
          <p:nvPr/>
        </p:nvSpPr>
        <p:spPr>
          <a:xfrm rot="0">
            <a:off x="13494180" y="4841792"/>
            <a:ext cx="4516257" cy="297180"/>
          </a:xfrm>
          <a:prstGeom prst="rect">
            <a:avLst/>
          </a:prstGeom>
        </p:spPr>
        <p:txBody>
          <a:bodyPr anchor="t" rtlCol="false" tIns="0" lIns="0" bIns="0" rIns="0">
            <a:spAutoFit/>
          </a:bodyPr>
          <a:lstStyle/>
          <a:p>
            <a:pPr algn="l">
              <a:lnSpc>
                <a:spcPts val="2519"/>
              </a:lnSpc>
            </a:pPr>
            <a:r>
              <a:rPr lang="en-US" sz="1799">
                <a:solidFill>
                  <a:srgbClr val="26384F"/>
                </a:solidFill>
                <a:latin typeface="Canva Sans"/>
                <a:ea typeface="Canva Sans"/>
                <a:cs typeface="Canva Sans"/>
                <a:sym typeface="Canva Sans"/>
              </a:rPr>
              <a:t>Xem lớp phụ trách · cập nhật điểm</a:t>
            </a:r>
          </a:p>
        </p:txBody>
      </p:sp>
      <p:sp>
        <p:nvSpPr>
          <p:cNvPr name="Freeform 17" id="17"/>
          <p:cNvSpPr/>
          <p:nvPr/>
        </p:nvSpPr>
        <p:spPr>
          <a:xfrm flipH="false" flipV="false" rot="0">
            <a:off x="5660009" y="5271687"/>
            <a:ext cx="5572125" cy="3238500"/>
          </a:xfrm>
          <a:custGeom>
            <a:avLst/>
            <a:gdLst/>
            <a:ahLst/>
            <a:cxnLst/>
            <a:rect r="r" b="b" t="t" l="l"/>
            <a:pathLst>
              <a:path h="3238500" w="5572125">
                <a:moveTo>
                  <a:pt x="0" y="0"/>
                </a:moveTo>
                <a:lnTo>
                  <a:pt x="5572125" y="0"/>
                </a:lnTo>
                <a:lnTo>
                  <a:pt x="5572125" y="3238500"/>
                </a:lnTo>
                <a:lnTo>
                  <a:pt x="0" y="3238500"/>
                </a:lnTo>
                <a:lnTo>
                  <a:pt x="0" y="0"/>
                </a:lnTo>
                <a:close/>
              </a:path>
            </a:pathLst>
          </a:custGeom>
          <a:blipFill>
            <a:blip r:embed="rId4"/>
            <a:stretch>
              <a:fillRect l="-211" t="0" r="-211" b="0"/>
            </a:stretch>
          </a:blipFill>
        </p:spPr>
      </p:sp>
      <p:sp>
        <p:nvSpPr>
          <p:cNvPr name="Freeform 18" id="18"/>
          <p:cNvSpPr/>
          <p:nvPr/>
        </p:nvSpPr>
        <p:spPr>
          <a:xfrm flipH="false" flipV="false" rot="0">
            <a:off x="11813526" y="1434382"/>
            <a:ext cx="5572125" cy="3238500"/>
          </a:xfrm>
          <a:custGeom>
            <a:avLst/>
            <a:gdLst/>
            <a:ahLst/>
            <a:cxnLst/>
            <a:rect r="r" b="b" t="t" l="l"/>
            <a:pathLst>
              <a:path h="3238500" w="5572125">
                <a:moveTo>
                  <a:pt x="0" y="0"/>
                </a:moveTo>
                <a:lnTo>
                  <a:pt x="5572125" y="0"/>
                </a:lnTo>
                <a:lnTo>
                  <a:pt x="5572125" y="3238500"/>
                </a:lnTo>
                <a:lnTo>
                  <a:pt x="0" y="3238500"/>
                </a:lnTo>
                <a:lnTo>
                  <a:pt x="0" y="0"/>
                </a:lnTo>
                <a:close/>
              </a:path>
            </a:pathLst>
          </a:custGeom>
          <a:blipFill>
            <a:blip r:embed="rId5"/>
            <a:stretch>
              <a:fillRect l="0" t="-112" r="0" b="-112"/>
            </a:stretch>
          </a:blipFill>
        </p:spPr>
      </p:sp>
      <p:grpSp>
        <p:nvGrpSpPr>
          <p:cNvPr name="Group 19" id="19"/>
          <p:cNvGrpSpPr/>
          <p:nvPr/>
        </p:nvGrpSpPr>
        <p:grpSpPr>
          <a:xfrm rot="0">
            <a:off x="5660009" y="8605437"/>
            <a:ext cx="5572125" cy="400050"/>
            <a:chOff x="0" y="0"/>
            <a:chExt cx="7429500" cy="533400"/>
          </a:xfrm>
        </p:grpSpPr>
        <p:sp>
          <p:nvSpPr>
            <p:cNvPr name="Freeform 20" id="20"/>
            <p:cNvSpPr/>
            <p:nvPr/>
          </p:nvSpPr>
          <p:spPr>
            <a:xfrm flipH="false" flipV="false" rot="0">
              <a:off x="0" y="0"/>
              <a:ext cx="7429500" cy="533400"/>
            </a:xfrm>
            <a:custGeom>
              <a:avLst/>
              <a:gdLst/>
              <a:ahLst/>
              <a:cxnLst/>
              <a:rect r="r" b="b" t="t" l="l"/>
              <a:pathLst>
                <a:path h="533400" w="7429500">
                  <a:moveTo>
                    <a:pt x="114300" y="0"/>
                  </a:moveTo>
                  <a:lnTo>
                    <a:pt x="7315200" y="0"/>
                  </a:lnTo>
                  <a:cubicBezTo>
                    <a:pt x="7378326" y="0"/>
                    <a:pt x="7429500" y="51174"/>
                    <a:pt x="7429500" y="114300"/>
                  </a:cubicBezTo>
                  <a:lnTo>
                    <a:pt x="7429500" y="419100"/>
                  </a:lnTo>
                  <a:cubicBezTo>
                    <a:pt x="7429500" y="482226"/>
                    <a:pt x="7378326" y="533400"/>
                    <a:pt x="7315200" y="533400"/>
                  </a:cubicBezTo>
                  <a:lnTo>
                    <a:pt x="114300" y="533400"/>
                  </a:lnTo>
                  <a:cubicBezTo>
                    <a:pt x="51174" y="533400"/>
                    <a:pt x="0" y="482226"/>
                    <a:pt x="0" y="419100"/>
                  </a:cubicBezTo>
                  <a:lnTo>
                    <a:pt x="0" y="114300"/>
                  </a:lnTo>
                  <a:cubicBezTo>
                    <a:pt x="0" y="51174"/>
                    <a:pt x="51174" y="0"/>
                    <a:pt x="114300" y="0"/>
                  </a:cubicBezTo>
                  <a:close/>
                </a:path>
              </a:pathLst>
            </a:custGeom>
            <a:solidFill>
              <a:srgbClr val="EAF4FF"/>
            </a:solidFill>
            <a:ln w="9525" cap="sq">
              <a:solidFill>
                <a:srgbClr val="C8D9EA"/>
              </a:solidFill>
              <a:prstDash val="solid"/>
              <a:miter/>
            </a:ln>
          </p:spPr>
        </p:sp>
        <p:sp>
          <p:nvSpPr>
            <p:cNvPr name="TextBox 21" id="21"/>
            <p:cNvSpPr txBox="true"/>
            <p:nvPr/>
          </p:nvSpPr>
          <p:spPr>
            <a:xfrm>
              <a:off x="0" y="-28575"/>
              <a:ext cx="7429500" cy="561975"/>
            </a:xfrm>
            <a:prstGeom prst="rect">
              <a:avLst/>
            </a:prstGeom>
          </p:spPr>
          <p:txBody>
            <a:bodyPr anchor="ctr" rtlCol="false" tIns="50800" lIns="50800" bIns="50800" rIns="50800"/>
            <a:lstStyle/>
            <a:p>
              <a:pPr algn="l">
                <a:lnSpc>
                  <a:spcPts val="2239"/>
                </a:lnSpc>
              </a:pPr>
            </a:p>
          </p:txBody>
        </p:sp>
      </p:grpSp>
      <p:sp>
        <p:nvSpPr>
          <p:cNvPr name="TextBox 22" id="22"/>
          <p:cNvSpPr txBox="true"/>
          <p:nvPr/>
        </p:nvSpPr>
        <p:spPr>
          <a:xfrm rot="0">
            <a:off x="5812409" y="8662587"/>
            <a:ext cx="1428750" cy="323215"/>
          </a:xfrm>
          <a:prstGeom prst="rect">
            <a:avLst/>
          </a:prstGeom>
        </p:spPr>
        <p:txBody>
          <a:bodyPr anchor="t" rtlCol="false" tIns="0" lIns="0" bIns="0" rIns="0">
            <a:spAutoFit/>
          </a:bodyPr>
          <a:lstStyle/>
          <a:p>
            <a:pPr algn="l">
              <a:lnSpc>
                <a:spcPts val="2659"/>
              </a:lnSpc>
            </a:pPr>
            <a:r>
              <a:rPr lang="en-US" sz="1899" b="true">
                <a:solidFill>
                  <a:srgbClr val="3978C8"/>
                </a:solidFill>
                <a:latin typeface="Canva Sans Bold"/>
                <a:ea typeface="Canva Sans Bold"/>
                <a:cs typeface="Canva Sans Bold"/>
                <a:sym typeface="Canva Sans Bold"/>
              </a:rPr>
              <a:t>ĐÀO TẠO</a:t>
            </a:r>
          </a:p>
        </p:txBody>
      </p:sp>
      <p:sp>
        <p:nvSpPr>
          <p:cNvPr name="TextBox 23" id="23"/>
          <p:cNvSpPr txBox="true"/>
          <p:nvPr/>
        </p:nvSpPr>
        <p:spPr>
          <a:xfrm rot="0">
            <a:off x="7279259" y="8672112"/>
            <a:ext cx="3800475" cy="297180"/>
          </a:xfrm>
          <a:prstGeom prst="rect">
            <a:avLst/>
          </a:prstGeom>
        </p:spPr>
        <p:txBody>
          <a:bodyPr anchor="t" rtlCol="false" tIns="0" lIns="0" bIns="0" rIns="0">
            <a:spAutoFit/>
          </a:bodyPr>
          <a:lstStyle/>
          <a:p>
            <a:pPr algn="l">
              <a:lnSpc>
                <a:spcPts val="2519"/>
              </a:lnSpc>
            </a:pPr>
            <a:r>
              <a:rPr lang="en-US" sz="1799">
                <a:solidFill>
                  <a:srgbClr val="26384F"/>
                </a:solidFill>
                <a:latin typeface="Canva Sans"/>
                <a:ea typeface="Canva Sans"/>
                <a:cs typeface="Canva Sans"/>
                <a:sym typeface="Canva Sans"/>
              </a:rPr>
              <a:t>Quản lý sinh viên · học phí</a:t>
            </a:r>
          </a:p>
        </p:txBody>
      </p:sp>
      <p:sp>
        <p:nvSpPr>
          <p:cNvPr name="Freeform 24" id="24"/>
          <p:cNvSpPr/>
          <p:nvPr/>
        </p:nvSpPr>
        <p:spPr>
          <a:xfrm flipH="false" flipV="false" rot="0">
            <a:off x="11830050" y="5271687"/>
            <a:ext cx="5572125" cy="3238500"/>
          </a:xfrm>
          <a:custGeom>
            <a:avLst/>
            <a:gdLst/>
            <a:ahLst/>
            <a:cxnLst/>
            <a:rect r="r" b="b" t="t" l="l"/>
            <a:pathLst>
              <a:path h="3238500" w="5572125">
                <a:moveTo>
                  <a:pt x="0" y="0"/>
                </a:moveTo>
                <a:lnTo>
                  <a:pt x="5572125" y="0"/>
                </a:lnTo>
                <a:lnTo>
                  <a:pt x="5572125" y="3238500"/>
                </a:lnTo>
                <a:lnTo>
                  <a:pt x="0" y="3238500"/>
                </a:lnTo>
                <a:lnTo>
                  <a:pt x="0" y="0"/>
                </a:lnTo>
                <a:close/>
              </a:path>
            </a:pathLst>
          </a:custGeom>
          <a:blipFill>
            <a:blip r:embed="rId6"/>
            <a:stretch>
              <a:fillRect l="-429" t="0" r="-429" b="0"/>
            </a:stretch>
          </a:blipFill>
        </p:spPr>
      </p:sp>
      <p:grpSp>
        <p:nvGrpSpPr>
          <p:cNvPr name="Group 25" id="25"/>
          <p:cNvGrpSpPr/>
          <p:nvPr/>
        </p:nvGrpSpPr>
        <p:grpSpPr>
          <a:xfrm rot="0">
            <a:off x="11830050" y="8614962"/>
            <a:ext cx="5572125" cy="400050"/>
            <a:chOff x="0" y="0"/>
            <a:chExt cx="7429500" cy="533400"/>
          </a:xfrm>
        </p:grpSpPr>
        <p:sp>
          <p:nvSpPr>
            <p:cNvPr name="Freeform 26" id="26"/>
            <p:cNvSpPr/>
            <p:nvPr/>
          </p:nvSpPr>
          <p:spPr>
            <a:xfrm flipH="false" flipV="false" rot="0">
              <a:off x="0" y="0"/>
              <a:ext cx="7429500" cy="533400"/>
            </a:xfrm>
            <a:custGeom>
              <a:avLst/>
              <a:gdLst/>
              <a:ahLst/>
              <a:cxnLst/>
              <a:rect r="r" b="b" t="t" l="l"/>
              <a:pathLst>
                <a:path h="533400" w="7429500">
                  <a:moveTo>
                    <a:pt x="114300" y="0"/>
                  </a:moveTo>
                  <a:lnTo>
                    <a:pt x="7315200" y="0"/>
                  </a:lnTo>
                  <a:cubicBezTo>
                    <a:pt x="7378326" y="0"/>
                    <a:pt x="7429500" y="51174"/>
                    <a:pt x="7429500" y="114300"/>
                  </a:cubicBezTo>
                  <a:lnTo>
                    <a:pt x="7429500" y="419100"/>
                  </a:lnTo>
                  <a:cubicBezTo>
                    <a:pt x="7429500" y="482226"/>
                    <a:pt x="7378326" y="533400"/>
                    <a:pt x="7315200" y="533400"/>
                  </a:cubicBezTo>
                  <a:lnTo>
                    <a:pt x="114300" y="533400"/>
                  </a:lnTo>
                  <a:cubicBezTo>
                    <a:pt x="51174" y="533400"/>
                    <a:pt x="0" y="482226"/>
                    <a:pt x="0" y="419100"/>
                  </a:cubicBezTo>
                  <a:lnTo>
                    <a:pt x="0" y="114300"/>
                  </a:lnTo>
                  <a:cubicBezTo>
                    <a:pt x="0" y="51174"/>
                    <a:pt x="51174" y="0"/>
                    <a:pt x="114300" y="0"/>
                  </a:cubicBezTo>
                  <a:close/>
                </a:path>
              </a:pathLst>
            </a:custGeom>
            <a:solidFill>
              <a:srgbClr val="EAF4FF"/>
            </a:solidFill>
            <a:ln w="9525" cap="sq">
              <a:solidFill>
                <a:srgbClr val="C8D9EA"/>
              </a:solidFill>
              <a:prstDash val="solid"/>
              <a:miter/>
            </a:ln>
          </p:spPr>
        </p:sp>
        <p:sp>
          <p:nvSpPr>
            <p:cNvPr name="TextBox 27" id="27"/>
            <p:cNvSpPr txBox="true"/>
            <p:nvPr/>
          </p:nvSpPr>
          <p:spPr>
            <a:xfrm>
              <a:off x="0" y="-28575"/>
              <a:ext cx="7429500" cy="561975"/>
            </a:xfrm>
            <a:prstGeom prst="rect">
              <a:avLst/>
            </a:prstGeom>
          </p:spPr>
          <p:txBody>
            <a:bodyPr anchor="ctr" rtlCol="false" tIns="50800" lIns="50800" bIns="50800" rIns="50800"/>
            <a:lstStyle/>
            <a:p>
              <a:pPr algn="l">
                <a:lnSpc>
                  <a:spcPts val="2239"/>
                </a:lnSpc>
              </a:pPr>
            </a:p>
          </p:txBody>
        </p:sp>
      </p:grpSp>
      <p:sp>
        <p:nvSpPr>
          <p:cNvPr name="TextBox 28" id="28"/>
          <p:cNvSpPr txBox="true"/>
          <p:nvPr/>
        </p:nvSpPr>
        <p:spPr>
          <a:xfrm rot="0">
            <a:off x="11931280" y="8662587"/>
            <a:ext cx="1428750" cy="323215"/>
          </a:xfrm>
          <a:prstGeom prst="rect">
            <a:avLst/>
          </a:prstGeom>
        </p:spPr>
        <p:txBody>
          <a:bodyPr anchor="t" rtlCol="false" tIns="0" lIns="0" bIns="0" rIns="0">
            <a:spAutoFit/>
          </a:bodyPr>
          <a:lstStyle/>
          <a:p>
            <a:pPr algn="l">
              <a:lnSpc>
                <a:spcPts val="2659"/>
              </a:lnSpc>
            </a:pPr>
            <a:r>
              <a:rPr lang="en-US" sz="1899" b="true">
                <a:solidFill>
                  <a:srgbClr val="3978C8"/>
                </a:solidFill>
                <a:latin typeface="Canva Sans Bold"/>
                <a:ea typeface="Canva Sans Bold"/>
                <a:cs typeface="Canva Sans Bold"/>
                <a:sym typeface="Canva Sans Bold"/>
              </a:rPr>
              <a:t>QUẢN TRỊ</a:t>
            </a:r>
          </a:p>
        </p:txBody>
      </p:sp>
      <p:sp>
        <p:nvSpPr>
          <p:cNvPr name="TextBox 29" id="29"/>
          <p:cNvSpPr txBox="true"/>
          <p:nvPr/>
        </p:nvSpPr>
        <p:spPr>
          <a:xfrm rot="0">
            <a:off x="13449300" y="8681637"/>
            <a:ext cx="3800475" cy="611505"/>
          </a:xfrm>
          <a:prstGeom prst="rect">
            <a:avLst/>
          </a:prstGeom>
        </p:spPr>
        <p:txBody>
          <a:bodyPr anchor="t" rtlCol="false" tIns="0" lIns="0" bIns="0" rIns="0">
            <a:spAutoFit/>
          </a:bodyPr>
          <a:lstStyle/>
          <a:p>
            <a:pPr algn="l">
              <a:lnSpc>
                <a:spcPts val="2519"/>
              </a:lnSpc>
            </a:pPr>
            <a:r>
              <a:rPr lang="en-US" sz="1799">
                <a:solidFill>
                  <a:srgbClr val="26384F"/>
                </a:solidFill>
                <a:latin typeface="Canva Sans"/>
                <a:ea typeface="Canva Sans"/>
                <a:cs typeface="Canva Sans"/>
                <a:sym typeface="Canva Sans"/>
              </a:rPr>
              <a:t>Quản lý tài khoản · theo dõi hệ thống</a:t>
            </a:r>
          </a:p>
        </p:txBody>
      </p:sp>
      <p:grpSp>
        <p:nvGrpSpPr>
          <p:cNvPr name="Group 30" id="30"/>
          <p:cNvGrpSpPr/>
          <p:nvPr/>
        </p:nvGrpSpPr>
        <p:grpSpPr>
          <a:xfrm rot="0">
            <a:off x="876300" y="9201150"/>
            <a:ext cx="16535400" cy="552450"/>
            <a:chOff x="0" y="0"/>
            <a:chExt cx="22047200" cy="736600"/>
          </a:xfrm>
        </p:grpSpPr>
        <p:sp>
          <p:nvSpPr>
            <p:cNvPr name="Freeform 31" id="31"/>
            <p:cNvSpPr/>
            <p:nvPr/>
          </p:nvSpPr>
          <p:spPr>
            <a:xfrm flipH="false" flipV="false" rot="0">
              <a:off x="0" y="0"/>
              <a:ext cx="22047200" cy="736600"/>
            </a:xfrm>
            <a:custGeom>
              <a:avLst/>
              <a:gdLst/>
              <a:ahLst/>
              <a:cxnLst/>
              <a:rect r="r" b="b" t="t" l="l"/>
              <a:pathLst>
                <a:path h="736600" w="22047200">
                  <a:moveTo>
                    <a:pt x="152400" y="0"/>
                  </a:moveTo>
                  <a:lnTo>
                    <a:pt x="21894800" y="0"/>
                  </a:lnTo>
                  <a:cubicBezTo>
                    <a:pt x="21978969" y="0"/>
                    <a:pt x="22047200" y="68232"/>
                    <a:pt x="22047200" y="152400"/>
                  </a:cubicBezTo>
                  <a:lnTo>
                    <a:pt x="22047200" y="584200"/>
                  </a:lnTo>
                  <a:cubicBezTo>
                    <a:pt x="22047200" y="668368"/>
                    <a:pt x="21978969" y="736600"/>
                    <a:pt x="21894800" y="736600"/>
                  </a:cubicBezTo>
                  <a:lnTo>
                    <a:pt x="152400" y="736600"/>
                  </a:lnTo>
                  <a:cubicBezTo>
                    <a:pt x="68232" y="736600"/>
                    <a:pt x="0" y="668368"/>
                    <a:pt x="0" y="584200"/>
                  </a:cubicBezTo>
                  <a:lnTo>
                    <a:pt x="0" y="152400"/>
                  </a:lnTo>
                  <a:cubicBezTo>
                    <a:pt x="0" y="68232"/>
                    <a:pt x="68232" y="0"/>
                    <a:pt x="152400" y="0"/>
                  </a:cubicBezTo>
                  <a:close/>
                </a:path>
              </a:pathLst>
            </a:custGeom>
            <a:solidFill>
              <a:srgbClr val="EAF4FF"/>
            </a:solidFill>
            <a:ln w="14288" cap="sq">
              <a:solidFill>
                <a:srgbClr val="3978C8"/>
              </a:solidFill>
              <a:prstDash val="solid"/>
              <a:miter/>
            </a:ln>
          </p:spPr>
        </p:sp>
        <p:sp>
          <p:nvSpPr>
            <p:cNvPr name="TextBox 32" id="32"/>
            <p:cNvSpPr txBox="true"/>
            <p:nvPr/>
          </p:nvSpPr>
          <p:spPr>
            <a:xfrm>
              <a:off x="0" y="-28575"/>
              <a:ext cx="22047200" cy="765175"/>
            </a:xfrm>
            <a:prstGeom prst="rect">
              <a:avLst/>
            </a:prstGeom>
          </p:spPr>
          <p:txBody>
            <a:bodyPr anchor="ctr" rtlCol="false" tIns="50800" lIns="50800" bIns="50800" rIns="50800"/>
            <a:lstStyle/>
            <a:p>
              <a:pPr algn="l">
                <a:lnSpc>
                  <a:spcPts val="2239"/>
                </a:lnSpc>
              </a:pPr>
            </a:p>
          </p:txBody>
        </p:sp>
      </p:grpSp>
      <p:sp>
        <p:nvSpPr>
          <p:cNvPr name="TextBox 33" id="33"/>
          <p:cNvSpPr txBox="true"/>
          <p:nvPr/>
        </p:nvSpPr>
        <p:spPr>
          <a:xfrm rot="0">
            <a:off x="1066800" y="9315450"/>
            <a:ext cx="16154400" cy="356235"/>
          </a:xfrm>
          <a:prstGeom prst="rect">
            <a:avLst/>
          </a:prstGeom>
        </p:spPr>
        <p:txBody>
          <a:bodyPr anchor="t" rtlCol="false" tIns="0" lIns="0" bIns="0" rIns="0">
            <a:spAutoFit/>
          </a:bodyPr>
          <a:lstStyle/>
          <a:p>
            <a:pPr algn="ctr">
              <a:lnSpc>
                <a:spcPts val="2939"/>
              </a:lnSpc>
            </a:pPr>
            <a:r>
              <a:rPr lang="en-US" sz="2099" b="true">
                <a:solidFill>
                  <a:srgbClr val="173A78"/>
                </a:solidFill>
                <a:latin typeface="Canva Sans Bold"/>
                <a:ea typeface="Canva Sans Bold"/>
                <a:cs typeface="Canva Sans Bold"/>
                <a:sym typeface="Canva Sans Bold"/>
              </a:rPr>
              <a:t>Giao diện → API + Zod kiểm tra dữ liệu đầu vào → SQL Server</a:t>
            </a:r>
          </a:p>
        </p:txBody>
      </p:sp>
      <p:sp>
        <p:nvSpPr>
          <p:cNvPr name="TextBox 34" id="34"/>
          <p:cNvSpPr txBox="true"/>
          <p:nvPr/>
        </p:nvSpPr>
        <p:spPr>
          <a:xfrm rot="0">
            <a:off x="876300" y="9820275"/>
            <a:ext cx="16535400" cy="280670"/>
          </a:xfrm>
          <a:prstGeom prst="rect">
            <a:avLst/>
          </a:prstGeom>
        </p:spPr>
        <p:txBody>
          <a:bodyPr anchor="t" rtlCol="false" tIns="0" lIns="0" bIns="0" rIns="0">
            <a:spAutoFit/>
          </a:bodyPr>
          <a:lstStyle/>
          <a:p>
            <a:pPr algn="ctr">
              <a:lnSpc>
                <a:spcPts val="2379"/>
              </a:lnSpc>
            </a:pPr>
            <a:r>
              <a:rPr lang="en-US" sz="1699">
                <a:solidFill>
                  <a:srgbClr val="59697A"/>
                </a:solidFill>
                <a:latin typeface="Canva Sans"/>
                <a:ea typeface="Canva Sans"/>
                <a:cs typeface="Canva Sans"/>
                <a:sym typeface="Canva Sans"/>
              </a:rPr>
              <a:t>API đã kết nối SQL Server · 26/26 bộ test, 173/173 ca kiểm thử đạt</a:t>
            </a:r>
          </a:p>
        </p:txBody>
      </p:sp>
      <p:grpSp>
        <p:nvGrpSpPr>
          <p:cNvPr name="Group 35" id="35"/>
          <p:cNvGrpSpPr/>
          <p:nvPr/>
        </p:nvGrpSpPr>
        <p:grpSpPr>
          <a:xfrm rot="0">
            <a:off x="876300" y="1689351"/>
            <a:ext cx="4476750" cy="4665948"/>
            <a:chOff x="0" y="0"/>
            <a:chExt cx="5969000" cy="6221264"/>
          </a:xfrm>
        </p:grpSpPr>
        <p:sp>
          <p:nvSpPr>
            <p:cNvPr name="Freeform 36" id="36"/>
            <p:cNvSpPr/>
            <p:nvPr/>
          </p:nvSpPr>
          <p:spPr>
            <a:xfrm flipH="false" flipV="false" rot="0">
              <a:off x="0" y="0"/>
              <a:ext cx="5969000" cy="6221264"/>
            </a:xfrm>
            <a:custGeom>
              <a:avLst/>
              <a:gdLst/>
              <a:ahLst/>
              <a:cxnLst/>
              <a:rect r="r" b="b" t="t" l="l"/>
              <a:pathLst>
                <a:path h="6221264" w="5969000">
                  <a:moveTo>
                    <a:pt x="203200" y="0"/>
                  </a:moveTo>
                  <a:lnTo>
                    <a:pt x="5765800" y="0"/>
                  </a:lnTo>
                  <a:cubicBezTo>
                    <a:pt x="5878024" y="0"/>
                    <a:pt x="5969000" y="90976"/>
                    <a:pt x="5969000" y="203200"/>
                  </a:cubicBezTo>
                  <a:lnTo>
                    <a:pt x="5969000" y="6018064"/>
                  </a:lnTo>
                  <a:cubicBezTo>
                    <a:pt x="5969000" y="6071956"/>
                    <a:pt x="5947592" y="6123641"/>
                    <a:pt x="5909484" y="6161748"/>
                  </a:cubicBezTo>
                  <a:cubicBezTo>
                    <a:pt x="5871377" y="6199856"/>
                    <a:pt x="5819692" y="6221264"/>
                    <a:pt x="5765800" y="6221264"/>
                  </a:cubicBezTo>
                  <a:lnTo>
                    <a:pt x="203200" y="6221264"/>
                  </a:lnTo>
                  <a:cubicBezTo>
                    <a:pt x="90976" y="6221264"/>
                    <a:pt x="0" y="6130288"/>
                    <a:pt x="0" y="6018064"/>
                  </a:cubicBezTo>
                  <a:lnTo>
                    <a:pt x="0" y="203200"/>
                  </a:lnTo>
                  <a:cubicBezTo>
                    <a:pt x="0" y="90976"/>
                    <a:pt x="90976" y="0"/>
                    <a:pt x="203200" y="0"/>
                  </a:cubicBezTo>
                  <a:close/>
                </a:path>
              </a:pathLst>
            </a:custGeom>
            <a:solidFill>
              <a:srgbClr val="F4F9FF"/>
            </a:solidFill>
            <a:ln w="14288" cap="sq">
              <a:solidFill>
                <a:srgbClr val="C8D9EA"/>
              </a:solidFill>
              <a:prstDash val="solid"/>
              <a:miter/>
            </a:ln>
          </p:spPr>
        </p:sp>
        <p:sp>
          <p:nvSpPr>
            <p:cNvPr name="TextBox 37" id="37"/>
            <p:cNvSpPr txBox="true"/>
            <p:nvPr/>
          </p:nvSpPr>
          <p:spPr>
            <a:xfrm>
              <a:off x="0" y="-47625"/>
              <a:ext cx="5969000" cy="6268889"/>
            </a:xfrm>
            <a:prstGeom prst="rect">
              <a:avLst/>
            </a:prstGeom>
          </p:spPr>
          <p:txBody>
            <a:bodyPr anchor="ctr" rtlCol="false" tIns="50800" lIns="50800" bIns="50800" rIns="50800"/>
            <a:lstStyle/>
            <a:p>
              <a:pPr algn="l">
                <a:lnSpc>
                  <a:spcPts val="2239"/>
                </a:lnSpc>
              </a:pPr>
            </a:p>
          </p:txBody>
        </p:sp>
      </p:grpSp>
      <p:grpSp>
        <p:nvGrpSpPr>
          <p:cNvPr name="Group 38" id="38"/>
          <p:cNvGrpSpPr/>
          <p:nvPr/>
        </p:nvGrpSpPr>
        <p:grpSpPr>
          <a:xfrm rot="0">
            <a:off x="1207516" y="1846942"/>
            <a:ext cx="600075" cy="600075"/>
            <a:chOff x="0" y="0"/>
            <a:chExt cx="787400" cy="787400"/>
          </a:xfrm>
        </p:grpSpPr>
        <p:sp>
          <p:nvSpPr>
            <p:cNvPr name="Freeform 39" id="39"/>
            <p:cNvSpPr/>
            <p:nvPr/>
          </p:nvSpPr>
          <p:spPr>
            <a:xfrm flipH="false" flipV="false" rot="0">
              <a:off x="0" y="0"/>
              <a:ext cx="787400" cy="787400"/>
            </a:xfrm>
            <a:custGeom>
              <a:avLst/>
              <a:gdLst/>
              <a:ahLst/>
              <a:cxnLst/>
              <a:rect r="r" b="b" t="t" l="l"/>
              <a:pathLst>
                <a:path h="787400" w="787400">
                  <a:moveTo>
                    <a:pt x="0" y="393700"/>
                  </a:moveTo>
                  <a:cubicBezTo>
                    <a:pt x="0" y="611134"/>
                    <a:pt x="176265" y="787400"/>
                    <a:pt x="393700" y="787400"/>
                  </a:cubicBezTo>
                  <a:cubicBezTo>
                    <a:pt x="611134" y="787400"/>
                    <a:pt x="787400" y="611134"/>
                    <a:pt x="787400" y="393700"/>
                  </a:cubicBezTo>
                  <a:cubicBezTo>
                    <a:pt x="787400" y="176265"/>
                    <a:pt x="611134" y="0"/>
                    <a:pt x="393700" y="0"/>
                  </a:cubicBezTo>
                  <a:cubicBezTo>
                    <a:pt x="176265" y="0"/>
                    <a:pt x="0" y="176265"/>
                    <a:pt x="0" y="393700"/>
                  </a:cubicBezTo>
                  <a:close/>
                </a:path>
              </a:pathLst>
            </a:custGeom>
            <a:solidFill>
              <a:srgbClr val="3978C8"/>
            </a:solidFill>
          </p:spPr>
        </p:sp>
        <p:sp>
          <p:nvSpPr>
            <p:cNvPr name="TextBox 40" id="40"/>
            <p:cNvSpPr txBox="true"/>
            <p:nvPr/>
          </p:nvSpPr>
          <p:spPr>
            <a:xfrm>
              <a:off x="0" y="-47625"/>
              <a:ext cx="787400" cy="835025"/>
            </a:xfrm>
            <a:prstGeom prst="rect">
              <a:avLst/>
            </a:prstGeom>
          </p:spPr>
          <p:txBody>
            <a:bodyPr anchor="ctr" rtlCol="false" tIns="50800" lIns="50800" bIns="50800" rIns="50800"/>
            <a:lstStyle/>
            <a:p>
              <a:pPr algn="l">
                <a:lnSpc>
                  <a:spcPts val="2239"/>
                </a:lnSpc>
              </a:pPr>
            </a:p>
          </p:txBody>
        </p:sp>
      </p:grpSp>
      <p:grpSp>
        <p:nvGrpSpPr>
          <p:cNvPr name="Group 41" id="41"/>
          <p:cNvGrpSpPr/>
          <p:nvPr/>
        </p:nvGrpSpPr>
        <p:grpSpPr>
          <a:xfrm rot="0">
            <a:off x="1378966" y="2113642"/>
            <a:ext cx="266700" cy="66675"/>
            <a:chOff x="0" y="0"/>
            <a:chExt cx="355600" cy="88900"/>
          </a:xfrm>
        </p:grpSpPr>
        <p:sp>
          <p:nvSpPr>
            <p:cNvPr name="Freeform 42" id="42"/>
            <p:cNvSpPr/>
            <p:nvPr/>
          </p:nvSpPr>
          <p:spPr>
            <a:xfrm flipH="false" flipV="false" rot="0">
              <a:off x="0" y="0"/>
              <a:ext cx="355600" cy="88900"/>
            </a:xfrm>
            <a:custGeom>
              <a:avLst/>
              <a:gdLst/>
              <a:ahLst/>
              <a:cxnLst/>
              <a:rect r="r" b="b" t="t" l="l"/>
              <a:pathLst>
                <a:path h="88900" w="355600">
                  <a:moveTo>
                    <a:pt x="38100" y="0"/>
                  </a:moveTo>
                  <a:lnTo>
                    <a:pt x="317500" y="0"/>
                  </a:lnTo>
                  <a:cubicBezTo>
                    <a:pt x="338542" y="0"/>
                    <a:pt x="355600" y="17058"/>
                    <a:pt x="355600" y="38100"/>
                  </a:cubicBezTo>
                  <a:lnTo>
                    <a:pt x="355600" y="50800"/>
                  </a:lnTo>
                  <a:cubicBezTo>
                    <a:pt x="355600" y="71842"/>
                    <a:pt x="338542" y="88900"/>
                    <a:pt x="317500" y="88900"/>
                  </a:cubicBezTo>
                  <a:lnTo>
                    <a:pt x="38100" y="88900"/>
                  </a:lnTo>
                  <a:cubicBezTo>
                    <a:pt x="17058" y="88900"/>
                    <a:pt x="0" y="71842"/>
                    <a:pt x="0" y="50800"/>
                  </a:cubicBezTo>
                  <a:lnTo>
                    <a:pt x="0" y="38100"/>
                  </a:lnTo>
                  <a:cubicBezTo>
                    <a:pt x="0" y="17058"/>
                    <a:pt x="17058" y="0"/>
                    <a:pt x="38100" y="0"/>
                  </a:cubicBezTo>
                  <a:close/>
                </a:path>
              </a:pathLst>
            </a:custGeom>
            <a:solidFill>
              <a:srgbClr val="FFFFFF"/>
            </a:solidFill>
          </p:spPr>
        </p:sp>
        <p:sp>
          <p:nvSpPr>
            <p:cNvPr name="TextBox 43" id="43"/>
            <p:cNvSpPr txBox="true"/>
            <p:nvPr/>
          </p:nvSpPr>
          <p:spPr>
            <a:xfrm>
              <a:off x="0" y="-47625"/>
              <a:ext cx="355600" cy="136525"/>
            </a:xfrm>
            <a:prstGeom prst="rect">
              <a:avLst/>
            </a:prstGeom>
          </p:spPr>
          <p:txBody>
            <a:bodyPr anchor="ctr" rtlCol="false" tIns="50800" lIns="50800" bIns="50800" rIns="50800"/>
            <a:lstStyle/>
            <a:p>
              <a:pPr algn="l">
                <a:lnSpc>
                  <a:spcPts val="2239"/>
                </a:lnSpc>
              </a:pPr>
            </a:p>
          </p:txBody>
        </p:sp>
      </p:grpSp>
      <p:grpSp>
        <p:nvGrpSpPr>
          <p:cNvPr name="Group 44" id="44"/>
          <p:cNvGrpSpPr/>
          <p:nvPr/>
        </p:nvGrpSpPr>
        <p:grpSpPr>
          <a:xfrm rot="0">
            <a:off x="1378966" y="1985403"/>
            <a:ext cx="266700" cy="66675"/>
            <a:chOff x="0" y="0"/>
            <a:chExt cx="355600" cy="88900"/>
          </a:xfrm>
        </p:grpSpPr>
        <p:sp>
          <p:nvSpPr>
            <p:cNvPr name="Freeform 45" id="45"/>
            <p:cNvSpPr/>
            <p:nvPr/>
          </p:nvSpPr>
          <p:spPr>
            <a:xfrm flipH="false" flipV="false" rot="0">
              <a:off x="0" y="0"/>
              <a:ext cx="355600" cy="88900"/>
            </a:xfrm>
            <a:custGeom>
              <a:avLst/>
              <a:gdLst/>
              <a:ahLst/>
              <a:cxnLst/>
              <a:rect r="r" b="b" t="t" l="l"/>
              <a:pathLst>
                <a:path h="88900" w="355600">
                  <a:moveTo>
                    <a:pt x="38100" y="0"/>
                  </a:moveTo>
                  <a:lnTo>
                    <a:pt x="317500" y="0"/>
                  </a:lnTo>
                  <a:cubicBezTo>
                    <a:pt x="338542" y="0"/>
                    <a:pt x="355600" y="17058"/>
                    <a:pt x="355600" y="38100"/>
                  </a:cubicBezTo>
                  <a:lnTo>
                    <a:pt x="355600" y="50800"/>
                  </a:lnTo>
                  <a:cubicBezTo>
                    <a:pt x="355600" y="71842"/>
                    <a:pt x="338542" y="88900"/>
                    <a:pt x="317500" y="88900"/>
                  </a:cubicBezTo>
                  <a:lnTo>
                    <a:pt x="38100" y="88900"/>
                  </a:lnTo>
                  <a:cubicBezTo>
                    <a:pt x="17058" y="88900"/>
                    <a:pt x="0" y="71842"/>
                    <a:pt x="0" y="50800"/>
                  </a:cubicBezTo>
                  <a:lnTo>
                    <a:pt x="0" y="38100"/>
                  </a:lnTo>
                  <a:cubicBezTo>
                    <a:pt x="0" y="17058"/>
                    <a:pt x="17058" y="0"/>
                    <a:pt x="38100" y="0"/>
                  </a:cubicBezTo>
                  <a:close/>
                </a:path>
              </a:pathLst>
            </a:custGeom>
            <a:solidFill>
              <a:srgbClr val="FFFFFF"/>
            </a:solidFill>
          </p:spPr>
        </p:sp>
        <p:sp>
          <p:nvSpPr>
            <p:cNvPr name="TextBox 46" id="46"/>
            <p:cNvSpPr txBox="true"/>
            <p:nvPr/>
          </p:nvSpPr>
          <p:spPr>
            <a:xfrm>
              <a:off x="0" y="-47625"/>
              <a:ext cx="355600" cy="136525"/>
            </a:xfrm>
            <a:prstGeom prst="rect">
              <a:avLst/>
            </a:prstGeom>
          </p:spPr>
          <p:txBody>
            <a:bodyPr anchor="ctr" rtlCol="false" tIns="50800" lIns="50800" bIns="50800" rIns="50800"/>
            <a:lstStyle/>
            <a:p>
              <a:pPr algn="l">
                <a:lnSpc>
                  <a:spcPts val="2239"/>
                </a:lnSpc>
              </a:pPr>
            </a:p>
          </p:txBody>
        </p:sp>
      </p:grpSp>
      <p:grpSp>
        <p:nvGrpSpPr>
          <p:cNvPr name="Group 47" id="47"/>
          <p:cNvGrpSpPr/>
          <p:nvPr/>
        </p:nvGrpSpPr>
        <p:grpSpPr>
          <a:xfrm rot="0">
            <a:off x="1378966" y="2255437"/>
            <a:ext cx="266700" cy="66675"/>
            <a:chOff x="0" y="0"/>
            <a:chExt cx="355600" cy="88900"/>
          </a:xfrm>
        </p:grpSpPr>
        <p:sp>
          <p:nvSpPr>
            <p:cNvPr name="Freeform 48" id="48"/>
            <p:cNvSpPr/>
            <p:nvPr/>
          </p:nvSpPr>
          <p:spPr>
            <a:xfrm flipH="false" flipV="false" rot="0">
              <a:off x="0" y="0"/>
              <a:ext cx="355600" cy="88900"/>
            </a:xfrm>
            <a:custGeom>
              <a:avLst/>
              <a:gdLst/>
              <a:ahLst/>
              <a:cxnLst/>
              <a:rect r="r" b="b" t="t" l="l"/>
              <a:pathLst>
                <a:path h="88900" w="355600">
                  <a:moveTo>
                    <a:pt x="38100" y="0"/>
                  </a:moveTo>
                  <a:lnTo>
                    <a:pt x="317500" y="0"/>
                  </a:lnTo>
                  <a:cubicBezTo>
                    <a:pt x="338542" y="0"/>
                    <a:pt x="355600" y="17058"/>
                    <a:pt x="355600" y="38100"/>
                  </a:cubicBezTo>
                  <a:lnTo>
                    <a:pt x="355600" y="50800"/>
                  </a:lnTo>
                  <a:cubicBezTo>
                    <a:pt x="355600" y="71842"/>
                    <a:pt x="338542" y="88900"/>
                    <a:pt x="317500" y="88900"/>
                  </a:cubicBezTo>
                  <a:lnTo>
                    <a:pt x="38100" y="88900"/>
                  </a:lnTo>
                  <a:cubicBezTo>
                    <a:pt x="17058" y="88900"/>
                    <a:pt x="0" y="71842"/>
                    <a:pt x="0" y="50800"/>
                  </a:cubicBezTo>
                  <a:lnTo>
                    <a:pt x="0" y="38100"/>
                  </a:lnTo>
                  <a:cubicBezTo>
                    <a:pt x="0" y="17058"/>
                    <a:pt x="17058" y="0"/>
                    <a:pt x="38100" y="0"/>
                  </a:cubicBezTo>
                  <a:close/>
                </a:path>
              </a:pathLst>
            </a:custGeom>
            <a:solidFill>
              <a:srgbClr val="FFFFFF"/>
            </a:solidFill>
          </p:spPr>
        </p:sp>
        <p:sp>
          <p:nvSpPr>
            <p:cNvPr name="TextBox 49" id="49"/>
            <p:cNvSpPr txBox="true"/>
            <p:nvPr/>
          </p:nvSpPr>
          <p:spPr>
            <a:xfrm>
              <a:off x="0" y="-47625"/>
              <a:ext cx="355600" cy="136525"/>
            </a:xfrm>
            <a:prstGeom prst="rect">
              <a:avLst/>
            </a:prstGeom>
          </p:spPr>
          <p:txBody>
            <a:bodyPr anchor="ctr" rtlCol="false" tIns="50800" lIns="50800" bIns="50800" rIns="50800"/>
            <a:lstStyle/>
            <a:p>
              <a:pPr algn="l">
                <a:lnSpc>
                  <a:spcPts val="2239"/>
                </a:lnSpc>
              </a:pPr>
            </a:p>
          </p:txBody>
        </p:sp>
      </p:grpSp>
      <p:sp>
        <p:nvSpPr>
          <p:cNvPr name="TextBox 50" id="50"/>
          <p:cNvSpPr txBox="true"/>
          <p:nvPr/>
        </p:nvSpPr>
        <p:spPr>
          <a:xfrm rot="0">
            <a:off x="1979041" y="2055412"/>
            <a:ext cx="3181350" cy="329565"/>
          </a:xfrm>
          <a:prstGeom prst="rect">
            <a:avLst/>
          </a:prstGeom>
        </p:spPr>
        <p:txBody>
          <a:bodyPr anchor="t" rtlCol="false" tIns="0" lIns="0" bIns="0" rIns="0">
            <a:spAutoFit/>
          </a:bodyPr>
          <a:lstStyle/>
          <a:p>
            <a:pPr algn="l">
              <a:lnSpc>
                <a:spcPts val="2414"/>
              </a:lnSpc>
            </a:pPr>
            <a:r>
              <a:rPr lang="en-US" sz="2299" b="true">
                <a:solidFill>
                  <a:srgbClr val="173A78"/>
                </a:solidFill>
                <a:latin typeface="Roboto Condensed Bold"/>
                <a:ea typeface="Roboto Condensed Bold"/>
                <a:cs typeface="Roboto Condensed Bold"/>
                <a:sym typeface="Roboto Condensed Bold"/>
              </a:rPr>
              <a:t>CÔNG NGHỆ SỬ DỤNG</a:t>
            </a:r>
          </a:p>
        </p:txBody>
      </p:sp>
      <p:sp>
        <p:nvSpPr>
          <p:cNvPr name="AutoShape 51" id="51"/>
          <p:cNvSpPr/>
          <p:nvPr/>
        </p:nvSpPr>
        <p:spPr>
          <a:xfrm>
            <a:off x="1217041" y="2731687"/>
            <a:ext cx="3943350" cy="0"/>
          </a:xfrm>
          <a:prstGeom prst="line">
            <a:avLst/>
          </a:prstGeom>
          <a:ln cap="flat" w="9525">
            <a:solidFill>
              <a:srgbClr val="C8D9EA"/>
            </a:solidFill>
            <a:prstDash val="solid"/>
            <a:headEnd type="none" len="sm" w="sm"/>
            <a:tailEnd type="none" len="sm" w="sm"/>
          </a:ln>
        </p:spPr>
      </p:sp>
      <p:grpSp>
        <p:nvGrpSpPr>
          <p:cNvPr name="Group 52" id="52"/>
          <p:cNvGrpSpPr/>
          <p:nvPr/>
        </p:nvGrpSpPr>
        <p:grpSpPr>
          <a:xfrm rot="0">
            <a:off x="1236091" y="3122212"/>
            <a:ext cx="171450" cy="171450"/>
            <a:chOff x="0" y="0"/>
            <a:chExt cx="228600" cy="228600"/>
          </a:xfrm>
        </p:grpSpPr>
        <p:sp>
          <p:nvSpPr>
            <p:cNvPr name="Freeform 53" id="53"/>
            <p:cNvSpPr/>
            <p:nvPr/>
          </p:nvSpPr>
          <p:spPr>
            <a:xfrm flipH="false" flipV="false" rot="0">
              <a:off x="0" y="0"/>
              <a:ext cx="228600" cy="228600"/>
            </a:xfrm>
            <a:custGeom>
              <a:avLst/>
              <a:gdLst/>
              <a:ahLst/>
              <a:cxnLst/>
              <a:rect r="r" b="b" t="t" l="l"/>
              <a:pathLst>
                <a:path h="228600" w="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close/>
                </a:path>
              </a:pathLst>
            </a:custGeom>
            <a:solidFill>
              <a:srgbClr val="2D91B8"/>
            </a:solidFill>
          </p:spPr>
        </p:sp>
        <p:sp>
          <p:nvSpPr>
            <p:cNvPr name="TextBox 54" id="54"/>
            <p:cNvSpPr txBox="true"/>
            <p:nvPr/>
          </p:nvSpPr>
          <p:spPr>
            <a:xfrm>
              <a:off x="0" y="-47625"/>
              <a:ext cx="228600" cy="276225"/>
            </a:xfrm>
            <a:prstGeom prst="rect">
              <a:avLst/>
            </a:prstGeom>
          </p:spPr>
          <p:txBody>
            <a:bodyPr anchor="ctr" rtlCol="false" tIns="50800" lIns="50800" bIns="50800" rIns="50800"/>
            <a:lstStyle/>
            <a:p>
              <a:pPr algn="l">
                <a:lnSpc>
                  <a:spcPts val="2239"/>
                </a:lnSpc>
              </a:pPr>
            </a:p>
          </p:txBody>
        </p:sp>
      </p:grpSp>
      <p:sp>
        <p:nvSpPr>
          <p:cNvPr name="TextBox 55" id="55"/>
          <p:cNvSpPr txBox="true"/>
          <p:nvPr/>
        </p:nvSpPr>
        <p:spPr>
          <a:xfrm rot="0">
            <a:off x="1540891" y="3046012"/>
            <a:ext cx="3812159" cy="585978"/>
          </a:xfrm>
          <a:prstGeom prst="rect">
            <a:avLst/>
          </a:prstGeom>
        </p:spPr>
        <p:txBody>
          <a:bodyPr anchor="t" rtlCol="false" tIns="0" lIns="0" bIns="0" rIns="0">
            <a:spAutoFit/>
          </a:bodyPr>
          <a:lstStyle/>
          <a:p>
            <a:pPr algn="l">
              <a:lnSpc>
                <a:spcPts val="2300"/>
              </a:lnSpc>
            </a:pPr>
            <a:r>
              <a:rPr lang="en-US" sz="1949">
                <a:solidFill>
                  <a:srgbClr val="26384F"/>
                </a:solidFill>
                <a:latin typeface="Public Sans"/>
                <a:ea typeface="Public Sans"/>
                <a:cs typeface="Public Sans"/>
                <a:sym typeface="Public Sans"/>
              </a:rPr>
              <a:t>HTML · CSS · JavaScript — xây dựng giao diện cho từng vai trò.</a:t>
            </a:r>
          </a:p>
        </p:txBody>
      </p:sp>
      <p:grpSp>
        <p:nvGrpSpPr>
          <p:cNvPr name="Group 56" id="56"/>
          <p:cNvGrpSpPr/>
          <p:nvPr/>
        </p:nvGrpSpPr>
        <p:grpSpPr>
          <a:xfrm rot="0">
            <a:off x="1207516" y="3936600"/>
            <a:ext cx="171450" cy="171450"/>
            <a:chOff x="0" y="0"/>
            <a:chExt cx="228600" cy="228600"/>
          </a:xfrm>
        </p:grpSpPr>
        <p:sp>
          <p:nvSpPr>
            <p:cNvPr name="Freeform 57" id="57"/>
            <p:cNvSpPr/>
            <p:nvPr/>
          </p:nvSpPr>
          <p:spPr>
            <a:xfrm flipH="false" flipV="false" rot="0">
              <a:off x="0" y="0"/>
              <a:ext cx="228600" cy="228600"/>
            </a:xfrm>
            <a:custGeom>
              <a:avLst/>
              <a:gdLst/>
              <a:ahLst/>
              <a:cxnLst/>
              <a:rect r="r" b="b" t="t" l="l"/>
              <a:pathLst>
                <a:path h="228600" w="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close/>
                </a:path>
              </a:pathLst>
            </a:custGeom>
            <a:solidFill>
              <a:srgbClr val="2D91B8"/>
            </a:solidFill>
          </p:spPr>
        </p:sp>
        <p:sp>
          <p:nvSpPr>
            <p:cNvPr name="TextBox 58" id="58"/>
            <p:cNvSpPr txBox="true"/>
            <p:nvPr/>
          </p:nvSpPr>
          <p:spPr>
            <a:xfrm>
              <a:off x="0" y="-47625"/>
              <a:ext cx="228600" cy="276225"/>
            </a:xfrm>
            <a:prstGeom prst="rect">
              <a:avLst/>
            </a:prstGeom>
          </p:spPr>
          <p:txBody>
            <a:bodyPr anchor="ctr" rtlCol="false" tIns="50800" lIns="50800" bIns="50800" rIns="50800"/>
            <a:lstStyle/>
            <a:p>
              <a:pPr algn="l">
                <a:lnSpc>
                  <a:spcPts val="2239"/>
                </a:lnSpc>
              </a:pPr>
            </a:p>
          </p:txBody>
        </p:sp>
      </p:grpSp>
      <p:sp>
        <p:nvSpPr>
          <p:cNvPr name="TextBox 59" id="59"/>
          <p:cNvSpPr txBox="true"/>
          <p:nvPr/>
        </p:nvSpPr>
        <p:spPr>
          <a:xfrm rot="0">
            <a:off x="1512316" y="3782231"/>
            <a:ext cx="3600450" cy="585978"/>
          </a:xfrm>
          <a:prstGeom prst="rect">
            <a:avLst/>
          </a:prstGeom>
        </p:spPr>
        <p:txBody>
          <a:bodyPr anchor="t" rtlCol="false" tIns="0" lIns="0" bIns="0" rIns="0">
            <a:spAutoFit/>
          </a:bodyPr>
          <a:lstStyle/>
          <a:p>
            <a:pPr algn="l">
              <a:lnSpc>
                <a:spcPts val="2300"/>
              </a:lnSpc>
            </a:pPr>
            <a:r>
              <a:rPr lang="en-US" sz="1949">
                <a:solidFill>
                  <a:srgbClr val="26384F"/>
                </a:solidFill>
                <a:latin typeface="Public Sans"/>
                <a:ea typeface="Public Sans"/>
                <a:cs typeface="Public Sans"/>
                <a:sym typeface="Public Sans"/>
              </a:rPr>
              <a:t>Node.js · Express — cung cấp API và xử lý yêu cầu.</a:t>
            </a:r>
          </a:p>
        </p:txBody>
      </p:sp>
      <p:grpSp>
        <p:nvGrpSpPr>
          <p:cNvPr name="Group 60" id="60"/>
          <p:cNvGrpSpPr/>
          <p:nvPr/>
        </p:nvGrpSpPr>
        <p:grpSpPr>
          <a:xfrm rot="0">
            <a:off x="1217041" y="4672882"/>
            <a:ext cx="171450" cy="171450"/>
            <a:chOff x="0" y="0"/>
            <a:chExt cx="228600" cy="228600"/>
          </a:xfrm>
        </p:grpSpPr>
        <p:sp>
          <p:nvSpPr>
            <p:cNvPr name="Freeform 61" id="61"/>
            <p:cNvSpPr/>
            <p:nvPr/>
          </p:nvSpPr>
          <p:spPr>
            <a:xfrm flipH="false" flipV="false" rot="0">
              <a:off x="0" y="0"/>
              <a:ext cx="228600" cy="228600"/>
            </a:xfrm>
            <a:custGeom>
              <a:avLst/>
              <a:gdLst/>
              <a:ahLst/>
              <a:cxnLst/>
              <a:rect r="r" b="b" t="t" l="l"/>
              <a:pathLst>
                <a:path h="228600" w="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close/>
                </a:path>
              </a:pathLst>
            </a:custGeom>
            <a:solidFill>
              <a:srgbClr val="2D91B8"/>
            </a:solidFill>
          </p:spPr>
        </p:sp>
        <p:sp>
          <p:nvSpPr>
            <p:cNvPr name="TextBox 62" id="62"/>
            <p:cNvSpPr txBox="true"/>
            <p:nvPr/>
          </p:nvSpPr>
          <p:spPr>
            <a:xfrm>
              <a:off x="0" y="-47625"/>
              <a:ext cx="228600" cy="276225"/>
            </a:xfrm>
            <a:prstGeom prst="rect">
              <a:avLst/>
            </a:prstGeom>
          </p:spPr>
          <p:txBody>
            <a:bodyPr anchor="ctr" rtlCol="false" tIns="50800" lIns="50800" bIns="50800" rIns="50800"/>
            <a:lstStyle/>
            <a:p>
              <a:pPr algn="l">
                <a:lnSpc>
                  <a:spcPts val="2239"/>
                </a:lnSpc>
              </a:pPr>
            </a:p>
          </p:txBody>
        </p:sp>
      </p:grpSp>
      <p:sp>
        <p:nvSpPr>
          <p:cNvPr name="TextBox 63" id="63"/>
          <p:cNvSpPr txBox="true"/>
          <p:nvPr/>
        </p:nvSpPr>
        <p:spPr>
          <a:xfrm rot="0">
            <a:off x="1512316" y="4519593"/>
            <a:ext cx="3600450" cy="585978"/>
          </a:xfrm>
          <a:prstGeom prst="rect">
            <a:avLst/>
          </a:prstGeom>
        </p:spPr>
        <p:txBody>
          <a:bodyPr anchor="t" rtlCol="false" tIns="0" lIns="0" bIns="0" rIns="0">
            <a:spAutoFit/>
          </a:bodyPr>
          <a:lstStyle/>
          <a:p>
            <a:pPr algn="l">
              <a:lnSpc>
                <a:spcPts val="2300"/>
              </a:lnSpc>
            </a:pPr>
            <a:r>
              <a:rPr lang="en-US" sz="1949">
                <a:solidFill>
                  <a:srgbClr val="26384F"/>
                </a:solidFill>
                <a:latin typeface="Public Sans"/>
                <a:ea typeface="Public Sans"/>
                <a:cs typeface="Public Sans"/>
                <a:sym typeface="Public Sans"/>
              </a:rPr>
              <a:t>Zod — kiểm tra dữ liệu đầu vào trước khi xử lý nghiệp vụ.</a:t>
            </a:r>
          </a:p>
        </p:txBody>
      </p:sp>
      <p:grpSp>
        <p:nvGrpSpPr>
          <p:cNvPr name="Group 64" id="64"/>
          <p:cNvGrpSpPr/>
          <p:nvPr/>
        </p:nvGrpSpPr>
        <p:grpSpPr>
          <a:xfrm rot="0">
            <a:off x="1236091" y="5416531"/>
            <a:ext cx="171450" cy="171450"/>
            <a:chOff x="0" y="0"/>
            <a:chExt cx="228600" cy="228600"/>
          </a:xfrm>
        </p:grpSpPr>
        <p:sp>
          <p:nvSpPr>
            <p:cNvPr name="Freeform 65" id="65"/>
            <p:cNvSpPr/>
            <p:nvPr/>
          </p:nvSpPr>
          <p:spPr>
            <a:xfrm flipH="false" flipV="false" rot="0">
              <a:off x="0" y="0"/>
              <a:ext cx="228600" cy="228600"/>
            </a:xfrm>
            <a:custGeom>
              <a:avLst/>
              <a:gdLst/>
              <a:ahLst/>
              <a:cxnLst/>
              <a:rect r="r" b="b" t="t" l="l"/>
              <a:pathLst>
                <a:path h="228600" w="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close/>
                </a:path>
              </a:pathLst>
            </a:custGeom>
            <a:solidFill>
              <a:srgbClr val="2D91B8"/>
            </a:solidFill>
          </p:spPr>
        </p:sp>
        <p:sp>
          <p:nvSpPr>
            <p:cNvPr name="TextBox 66" id="66"/>
            <p:cNvSpPr txBox="true"/>
            <p:nvPr/>
          </p:nvSpPr>
          <p:spPr>
            <a:xfrm>
              <a:off x="0" y="-47625"/>
              <a:ext cx="228600" cy="276225"/>
            </a:xfrm>
            <a:prstGeom prst="rect">
              <a:avLst/>
            </a:prstGeom>
          </p:spPr>
          <p:txBody>
            <a:bodyPr anchor="ctr" rtlCol="false" tIns="50800" lIns="50800" bIns="50800" rIns="50800"/>
            <a:lstStyle/>
            <a:p>
              <a:pPr algn="l">
                <a:lnSpc>
                  <a:spcPts val="2239"/>
                </a:lnSpc>
              </a:pPr>
            </a:p>
          </p:txBody>
        </p:sp>
      </p:grpSp>
      <p:sp>
        <p:nvSpPr>
          <p:cNvPr name="TextBox 67" id="67"/>
          <p:cNvSpPr txBox="true"/>
          <p:nvPr/>
        </p:nvSpPr>
        <p:spPr>
          <a:xfrm rot="0">
            <a:off x="1512316" y="5262162"/>
            <a:ext cx="3725611" cy="871728"/>
          </a:xfrm>
          <a:prstGeom prst="rect">
            <a:avLst/>
          </a:prstGeom>
        </p:spPr>
        <p:txBody>
          <a:bodyPr anchor="t" rtlCol="false" tIns="0" lIns="0" bIns="0" rIns="0">
            <a:spAutoFit/>
          </a:bodyPr>
          <a:lstStyle/>
          <a:p>
            <a:pPr algn="l">
              <a:lnSpc>
                <a:spcPts val="2300"/>
              </a:lnSpc>
            </a:pPr>
            <a:r>
              <a:rPr lang="en-US" sz="1949">
                <a:solidFill>
                  <a:srgbClr val="26384F"/>
                </a:solidFill>
                <a:latin typeface="Public Sans"/>
                <a:ea typeface="Public Sans"/>
                <a:cs typeface="Public Sans"/>
                <a:sym typeface="Public Sans"/>
              </a:rPr>
              <a:t>SQL Server — lưu dữ liệu, </a:t>
            </a:r>
          </a:p>
          <a:p>
            <a:pPr algn="l">
              <a:lnSpc>
                <a:spcPts val="2300"/>
              </a:lnSpc>
            </a:pPr>
            <a:r>
              <a:rPr lang="en-US" sz="1949">
                <a:solidFill>
                  <a:srgbClr val="26384F"/>
                </a:solidFill>
                <a:latin typeface="Public Sans"/>
                <a:ea typeface="Public Sans"/>
                <a:cs typeface="Public Sans"/>
                <a:sym typeface="Public Sans"/>
              </a:rPr>
              <a:t>thực thi procedure và bảo vệ ràng buộc.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sp>
          <p:nvSpPr>
            <p:cNvPr name="TextBox 5" id="5"/>
            <p:cNvSpPr txBox="true"/>
            <p:nvPr/>
          </p:nvSpPr>
          <p:spPr>
            <a:xfrm>
              <a:off x="0" y="-38100"/>
              <a:ext cx="24384000" cy="13754100"/>
            </a:xfrm>
            <a:prstGeom prst="rect">
              <a:avLst/>
            </a:prstGeom>
          </p:spPr>
          <p:txBody>
            <a:bodyPr anchor="ctr" rtlCol="false" tIns="50800" lIns="50800" bIns="50800" rIns="50800"/>
            <a:lstStyle/>
            <a:p>
              <a:pPr algn="l">
                <a:lnSpc>
                  <a:spcPts val="2799"/>
                </a:lnSpc>
              </a:pPr>
            </a:p>
          </p:txBody>
        </p:sp>
      </p:grpSp>
      <p:sp>
        <p:nvSpPr>
          <p:cNvPr name="TextBox 6" id="6"/>
          <p:cNvSpPr txBox="true"/>
          <p:nvPr/>
        </p:nvSpPr>
        <p:spPr>
          <a:xfrm rot="0">
            <a:off x="952500" y="219075"/>
            <a:ext cx="16383000" cy="738505"/>
          </a:xfrm>
          <a:prstGeom prst="rect">
            <a:avLst/>
          </a:prstGeom>
        </p:spPr>
        <p:txBody>
          <a:bodyPr anchor="t" rtlCol="false" tIns="0" lIns="0" bIns="0" rIns="0">
            <a:spAutoFit/>
          </a:bodyPr>
          <a:lstStyle/>
          <a:p>
            <a:pPr algn="ctr">
              <a:lnSpc>
                <a:spcPts val="6019"/>
              </a:lnSpc>
            </a:pPr>
            <a:r>
              <a:rPr lang="en-US" sz="4299" b="true">
                <a:solidFill>
                  <a:srgbClr val="173A78"/>
                </a:solidFill>
                <a:latin typeface="Canva Sans Bold"/>
                <a:ea typeface="Canva Sans Bold"/>
                <a:cs typeface="Canva Sans Bold"/>
                <a:sym typeface="Canva Sans Bold"/>
              </a:rPr>
              <a:t>KẾT QUẢ &amp; HƯỚNG PHÁT TRIỂN</a:t>
            </a:r>
          </a:p>
        </p:txBody>
      </p:sp>
      <p:sp>
        <p:nvSpPr>
          <p:cNvPr name="TextBox 7" id="7"/>
          <p:cNvSpPr txBox="true"/>
          <p:nvPr/>
        </p:nvSpPr>
        <p:spPr>
          <a:xfrm rot="0">
            <a:off x="952500" y="914400"/>
            <a:ext cx="16383000" cy="681990"/>
          </a:xfrm>
          <a:prstGeom prst="rect">
            <a:avLst/>
          </a:prstGeom>
        </p:spPr>
        <p:txBody>
          <a:bodyPr anchor="t" rtlCol="false" tIns="0" lIns="0" bIns="0" rIns="0">
            <a:spAutoFit/>
          </a:bodyPr>
          <a:lstStyle/>
          <a:p>
            <a:pPr algn="ctr">
              <a:lnSpc>
                <a:spcPts val="2759"/>
              </a:lnSpc>
            </a:pPr>
            <a:r>
              <a:rPr lang="en-US" sz="2399">
                <a:solidFill>
                  <a:srgbClr val="59697A"/>
                </a:solidFill>
                <a:latin typeface="Canva Sans"/>
                <a:ea typeface="Canva Sans"/>
                <a:cs typeface="Canva Sans"/>
                <a:sym typeface="Canva Sans"/>
              </a:rPr>
              <a:t>Nhóm đã hoàn thành nền tảng dữ liệu và ứng dụng quản lý học vụ, đồng thời xác định các bước tiếp theo để hệ thống sẵn sàng sử dụng rộng hơn.</a:t>
            </a:r>
          </a:p>
        </p:txBody>
      </p:sp>
      <p:sp>
        <p:nvSpPr>
          <p:cNvPr name="AutoShape 8" id="8"/>
          <p:cNvSpPr/>
          <p:nvPr/>
        </p:nvSpPr>
        <p:spPr>
          <a:xfrm>
            <a:off x="1028700" y="1695450"/>
            <a:ext cx="16383000" cy="0"/>
          </a:xfrm>
          <a:prstGeom prst="line">
            <a:avLst/>
          </a:prstGeom>
          <a:ln cap="flat" w="19050">
            <a:solidFill>
              <a:srgbClr val="2D91B8"/>
            </a:solidFill>
            <a:prstDash val="solid"/>
            <a:headEnd type="none" len="sm" w="sm"/>
            <a:tailEnd type="none" len="sm" w="sm"/>
          </a:ln>
        </p:spPr>
      </p:sp>
      <p:grpSp>
        <p:nvGrpSpPr>
          <p:cNvPr name="Group 9" id="9"/>
          <p:cNvGrpSpPr/>
          <p:nvPr/>
        </p:nvGrpSpPr>
        <p:grpSpPr>
          <a:xfrm rot="0">
            <a:off x="952500" y="2609850"/>
            <a:ext cx="7981950" cy="5429250"/>
            <a:chOff x="0" y="0"/>
            <a:chExt cx="10642600" cy="7239000"/>
          </a:xfrm>
        </p:grpSpPr>
        <p:sp>
          <p:nvSpPr>
            <p:cNvPr name="Freeform 10" id="10"/>
            <p:cNvSpPr/>
            <p:nvPr/>
          </p:nvSpPr>
          <p:spPr>
            <a:xfrm flipH="false" flipV="false" rot="0">
              <a:off x="0" y="0"/>
              <a:ext cx="10642600" cy="7239000"/>
            </a:xfrm>
            <a:custGeom>
              <a:avLst/>
              <a:gdLst/>
              <a:ahLst/>
              <a:cxnLst/>
              <a:rect r="r" b="b" t="t" l="l"/>
              <a:pathLst>
                <a:path h="7239000" w="10642600">
                  <a:moveTo>
                    <a:pt x="203200" y="0"/>
                  </a:moveTo>
                  <a:lnTo>
                    <a:pt x="10439400" y="0"/>
                  </a:lnTo>
                  <a:cubicBezTo>
                    <a:pt x="10551624" y="0"/>
                    <a:pt x="10642600" y="90976"/>
                    <a:pt x="10642600" y="203200"/>
                  </a:cubicBezTo>
                  <a:lnTo>
                    <a:pt x="10642600" y="7035800"/>
                  </a:lnTo>
                  <a:cubicBezTo>
                    <a:pt x="10642600" y="7148024"/>
                    <a:pt x="10551624" y="7239000"/>
                    <a:pt x="10439400" y="7239000"/>
                  </a:cubicBezTo>
                  <a:lnTo>
                    <a:pt x="203200" y="7239000"/>
                  </a:lnTo>
                  <a:cubicBezTo>
                    <a:pt x="90976" y="7239000"/>
                    <a:pt x="0" y="7148024"/>
                    <a:pt x="0" y="7035800"/>
                  </a:cubicBezTo>
                  <a:lnTo>
                    <a:pt x="0" y="203200"/>
                  </a:lnTo>
                  <a:cubicBezTo>
                    <a:pt x="0" y="90976"/>
                    <a:pt x="90976" y="0"/>
                    <a:pt x="203200" y="0"/>
                  </a:cubicBezTo>
                  <a:close/>
                </a:path>
              </a:pathLst>
            </a:custGeom>
            <a:solidFill>
              <a:srgbClr val="EAF4FF"/>
            </a:solidFill>
            <a:ln w="14288" cap="sq">
              <a:solidFill>
                <a:srgbClr val="3978C8"/>
              </a:solidFill>
              <a:prstDash val="solid"/>
              <a:miter/>
            </a:ln>
          </p:spPr>
        </p:sp>
        <p:sp>
          <p:nvSpPr>
            <p:cNvPr name="TextBox 11" id="11"/>
            <p:cNvSpPr txBox="true"/>
            <p:nvPr/>
          </p:nvSpPr>
          <p:spPr>
            <a:xfrm>
              <a:off x="0" y="-38100"/>
              <a:ext cx="10642600" cy="7277100"/>
            </a:xfrm>
            <a:prstGeom prst="rect">
              <a:avLst/>
            </a:prstGeom>
          </p:spPr>
          <p:txBody>
            <a:bodyPr anchor="ctr" rtlCol="false" tIns="50800" lIns="50800" bIns="50800" rIns="50800"/>
            <a:lstStyle/>
            <a:p>
              <a:pPr algn="l">
                <a:lnSpc>
                  <a:spcPts val="2799"/>
                </a:lnSpc>
              </a:pPr>
            </a:p>
          </p:txBody>
        </p:sp>
      </p:grpSp>
      <p:grpSp>
        <p:nvGrpSpPr>
          <p:cNvPr name="Group 12" id="12"/>
          <p:cNvGrpSpPr/>
          <p:nvPr/>
        </p:nvGrpSpPr>
        <p:grpSpPr>
          <a:xfrm rot="0">
            <a:off x="1276350" y="2895600"/>
            <a:ext cx="781050" cy="781050"/>
            <a:chOff x="0" y="0"/>
            <a:chExt cx="1041400" cy="1041400"/>
          </a:xfrm>
        </p:grpSpPr>
        <p:sp>
          <p:nvSpPr>
            <p:cNvPr name="Freeform 13" id="13"/>
            <p:cNvSpPr/>
            <p:nvPr/>
          </p:nvSpPr>
          <p:spPr>
            <a:xfrm flipH="false" flipV="false" rot="0">
              <a:off x="0" y="0"/>
              <a:ext cx="1041400" cy="1041400"/>
            </a:xfrm>
            <a:custGeom>
              <a:avLst/>
              <a:gdLst/>
              <a:ahLst/>
              <a:cxnLst/>
              <a:rect r="r" b="b" t="t" l="l"/>
              <a:pathLst>
                <a:path h="1041400" w="1041400">
                  <a:moveTo>
                    <a:pt x="0" y="520700"/>
                  </a:moveTo>
                  <a:cubicBezTo>
                    <a:pt x="0" y="808275"/>
                    <a:pt x="233125" y="1041400"/>
                    <a:pt x="520700" y="1041400"/>
                  </a:cubicBezTo>
                  <a:cubicBezTo>
                    <a:pt x="808275" y="1041400"/>
                    <a:pt x="1041400" y="808275"/>
                    <a:pt x="1041400" y="520700"/>
                  </a:cubicBezTo>
                  <a:cubicBezTo>
                    <a:pt x="1041400" y="233125"/>
                    <a:pt x="808275" y="0"/>
                    <a:pt x="520700" y="0"/>
                  </a:cubicBezTo>
                  <a:cubicBezTo>
                    <a:pt x="233125" y="0"/>
                    <a:pt x="0" y="233125"/>
                    <a:pt x="0" y="520700"/>
                  </a:cubicBezTo>
                  <a:close/>
                </a:path>
              </a:pathLst>
            </a:custGeom>
            <a:solidFill>
              <a:srgbClr val="3978C8"/>
            </a:solidFill>
          </p:spPr>
        </p:sp>
        <p:sp>
          <p:nvSpPr>
            <p:cNvPr name="TextBox 14" id="14"/>
            <p:cNvSpPr txBox="true"/>
            <p:nvPr/>
          </p:nvSpPr>
          <p:spPr>
            <a:xfrm>
              <a:off x="0" y="-38100"/>
              <a:ext cx="1041400" cy="1079500"/>
            </a:xfrm>
            <a:prstGeom prst="rect">
              <a:avLst/>
            </a:prstGeom>
          </p:spPr>
          <p:txBody>
            <a:bodyPr anchor="ctr" rtlCol="false" tIns="50800" lIns="50800" bIns="50800" rIns="50800"/>
            <a:lstStyle/>
            <a:p>
              <a:pPr algn="l">
                <a:lnSpc>
                  <a:spcPts val="2799"/>
                </a:lnSpc>
              </a:pPr>
            </a:p>
          </p:txBody>
        </p:sp>
      </p:grpSp>
      <p:grpSp>
        <p:nvGrpSpPr>
          <p:cNvPr name="Group 15" id="15"/>
          <p:cNvGrpSpPr/>
          <p:nvPr/>
        </p:nvGrpSpPr>
        <p:grpSpPr>
          <a:xfrm rot="0">
            <a:off x="1495425" y="3105150"/>
            <a:ext cx="342900" cy="95250"/>
            <a:chOff x="0" y="0"/>
            <a:chExt cx="457200" cy="127000"/>
          </a:xfrm>
        </p:grpSpPr>
        <p:sp>
          <p:nvSpPr>
            <p:cNvPr name="Freeform 16" id="16"/>
            <p:cNvSpPr/>
            <p:nvPr/>
          </p:nvSpPr>
          <p:spPr>
            <a:xfrm flipH="false" flipV="false" rot="0">
              <a:off x="0" y="0"/>
              <a:ext cx="457200" cy="127000"/>
            </a:xfrm>
            <a:custGeom>
              <a:avLst/>
              <a:gdLst/>
              <a:ahLst/>
              <a:cxnLst/>
              <a:rect r="r" b="b" t="t" l="l"/>
              <a:pathLst>
                <a:path h="127000" w="457200">
                  <a:moveTo>
                    <a:pt x="50800" y="0"/>
                  </a:moveTo>
                  <a:lnTo>
                    <a:pt x="406400" y="0"/>
                  </a:lnTo>
                  <a:cubicBezTo>
                    <a:pt x="434456" y="0"/>
                    <a:pt x="457200" y="22744"/>
                    <a:pt x="457200" y="50800"/>
                  </a:cubicBezTo>
                  <a:lnTo>
                    <a:pt x="457200" y="76200"/>
                  </a:lnTo>
                  <a:cubicBezTo>
                    <a:pt x="457200" y="104256"/>
                    <a:pt x="434456" y="127000"/>
                    <a:pt x="406400" y="127000"/>
                  </a:cubicBezTo>
                  <a:lnTo>
                    <a:pt x="50800" y="127000"/>
                  </a:lnTo>
                  <a:cubicBezTo>
                    <a:pt x="22744" y="127000"/>
                    <a:pt x="0" y="104256"/>
                    <a:pt x="0" y="76200"/>
                  </a:cubicBezTo>
                  <a:lnTo>
                    <a:pt x="0" y="50800"/>
                  </a:lnTo>
                  <a:cubicBezTo>
                    <a:pt x="0" y="22744"/>
                    <a:pt x="22744" y="0"/>
                    <a:pt x="50800" y="0"/>
                  </a:cubicBezTo>
                  <a:close/>
                </a:path>
              </a:pathLst>
            </a:custGeom>
            <a:solidFill>
              <a:srgbClr val="FFFFFF"/>
            </a:solidFill>
          </p:spPr>
        </p:sp>
        <p:sp>
          <p:nvSpPr>
            <p:cNvPr name="TextBox 17" id="17"/>
            <p:cNvSpPr txBox="true"/>
            <p:nvPr/>
          </p:nvSpPr>
          <p:spPr>
            <a:xfrm>
              <a:off x="0" y="-38100"/>
              <a:ext cx="457200" cy="165100"/>
            </a:xfrm>
            <a:prstGeom prst="rect">
              <a:avLst/>
            </a:prstGeom>
          </p:spPr>
          <p:txBody>
            <a:bodyPr anchor="ctr" rtlCol="false" tIns="50800" lIns="50800" bIns="50800" rIns="50800"/>
            <a:lstStyle/>
            <a:p>
              <a:pPr algn="l">
                <a:lnSpc>
                  <a:spcPts val="2799"/>
                </a:lnSpc>
              </a:pPr>
            </a:p>
          </p:txBody>
        </p:sp>
      </p:grpSp>
      <p:grpSp>
        <p:nvGrpSpPr>
          <p:cNvPr name="Group 18" id="18"/>
          <p:cNvGrpSpPr/>
          <p:nvPr/>
        </p:nvGrpSpPr>
        <p:grpSpPr>
          <a:xfrm rot="0">
            <a:off x="1495425" y="3257550"/>
            <a:ext cx="342900" cy="95250"/>
            <a:chOff x="0" y="0"/>
            <a:chExt cx="457200" cy="127000"/>
          </a:xfrm>
        </p:grpSpPr>
        <p:sp>
          <p:nvSpPr>
            <p:cNvPr name="Freeform 19" id="19"/>
            <p:cNvSpPr/>
            <p:nvPr/>
          </p:nvSpPr>
          <p:spPr>
            <a:xfrm flipH="false" flipV="false" rot="0">
              <a:off x="0" y="0"/>
              <a:ext cx="457200" cy="127000"/>
            </a:xfrm>
            <a:custGeom>
              <a:avLst/>
              <a:gdLst/>
              <a:ahLst/>
              <a:cxnLst/>
              <a:rect r="r" b="b" t="t" l="l"/>
              <a:pathLst>
                <a:path h="127000" w="457200">
                  <a:moveTo>
                    <a:pt x="50800" y="0"/>
                  </a:moveTo>
                  <a:lnTo>
                    <a:pt x="406400" y="0"/>
                  </a:lnTo>
                  <a:cubicBezTo>
                    <a:pt x="434456" y="0"/>
                    <a:pt x="457200" y="22744"/>
                    <a:pt x="457200" y="50800"/>
                  </a:cubicBezTo>
                  <a:lnTo>
                    <a:pt x="457200" y="76200"/>
                  </a:lnTo>
                  <a:cubicBezTo>
                    <a:pt x="457200" y="104256"/>
                    <a:pt x="434456" y="127000"/>
                    <a:pt x="406400" y="127000"/>
                  </a:cubicBezTo>
                  <a:lnTo>
                    <a:pt x="50800" y="127000"/>
                  </a:lnTo>
                  <a:cubicBezTo>
                    <a:pt x="22744" y="127000"/>
                    <a:pt x="0" y="104256"/>
                    <a:pt x="0" y="76200"/>
                  </a:cubicBezTo>
                  <a:lnTo>
                    <a:pt x="0" y="50800"/>
                  </a:lnTo>
                  <a:cubicBezTo>
                    <a:pt x="0" y="22744"/>
                    <a:pt x="22744" y="0"/>
                    <a:pt x="50800" y="0"/>
                  </a:cubicBezTo>
                  <a:close/>
                </a:path>
              </a:pathLst>
            </a:custGeom>
            <a:solidFill>
              <a:srgbClr val="FFFFFF"/>
            </a:solidFill>
          </p:spPr>
        </p:sp>
        <p:sp>
          <p:nvSpPr>
            <p:cNvPr name="TextBox 20" id="20"/>
            <p:cNvSpPr txBox="true"/>
            <p:nvPr/>
          </p:nvSpPr>
          <p:spPr>
            <a:xfrm>
              <a:off x="0" y="-38100"/>
              <a:ext cx="457200" cy="165100"/>
            </a:xfrm>
            <a:prstGeom prst="rect">
              <a:avLst/>
            </a:prstGeom>
          </p:spPr>
          <p:txBody>
            <a:bodyPr anchor="ctr" rtlCol="false" tIns="50800" lIns="50800" bIns="50800" rIns="50800"/>
            <a:lstStyle/>
            <a:p>
              <a:pPr algn="l">
                <a:lnSpc>
                  <a:spcPts val="2799"/>
                </a:lnSpc>
              </a:pPr>
            </a:p>
          </p:txBody>
        </p:sp>
      </p:grpSp>
      <p:grpSp>
        <p:nvGrpSpPr>
          <p:cNvPr name="Group 21" id="21"/>
          <p:cNvGrpSpPr/>
          <p:nvPr/>
        </p:nvGrpSpPr>
        <p:grpSpPr>
          <a:xfrm rot="0">
            <a:off x="1495425" y="3409950"/>
            <a:ext cx="342900" cy="95250"/>
            <a:chOff x="0" y="0"/>
            <a:chExt cx="457200" cy="127000"/>
          </a:xfrm>
        </p:grpSpPr>
        <p:sp>
          <p:nvSpPr>
            <p:cNvPr name="Freeform 22" id="22"/>
            <p:cNvSpPr/>
            <p:nvPr/>
          </p:nvSpPr>
          <p:spPr>
            <a:xfrm flipH="false" flipV="false" rot="0">
              <a:off x="0" y="0"/>
              <a:ext cx="457200" cy="127000"/>
            </a:xfrm>
            <a:custGeom>
              <a:avLst/>
              <a:gdLst/>
              <a:ahLst/>
              <a:cxnLst/>
              <a:rect r="r" b="b" t="t" l="l"/>
              <a:pathLst>
                <a:path h="127000" w="457200">
                  <a:moveTo>
                    <a:pt x="50800" y="0"/>
                  </a:moveTo>
                  <a:lnTo>
                    <a:pt x="406400" y="0"/>
                  </a:lnTo>
                  <a:cubicBezTo>
                    <a:pt x="434456" y="0"/>
                    <a:pt x="457200" y="22744"/>
                    <a:pt x="457200" y="50800"/>
                  </a:cubicBezTo>
                  <a:lnTo>
                    <a:pt x="457200" y="76200"/>
                  </a:lnTo>
                  <a:cubicBezTo>
                    <a:pt x="457200" y="104256"/>
                    <a:pt x="434456" y="127000"/>
                    <a:pt x="406400" y="127000"/>
                  </a:cubicBezTo>
                  <a:lnTo>
                    <a:pt x="50800" y="127000"/>
                  </a:lnTo>
                  <a:cubicBezTo>
                    <a:pt x="22744" y="127000"/>
                    <a:pt x="0" y="104256"/>
                    <a:pt x="0" y="76200"/>
                  </a:cubicBezTo>
                  <a:lnTo>
                    <a:pt x="0" y="50800"/>
                  </a:lnTo>
                  <a:cubicBezTo>
                    <a:pt x="0" y="22744"/>
                    <a:pt x="22744" y="0"/>
                    <a:pt x="50800" y="0"/>
                  </a:cubicBezTo>
                  <a:close/>
                </a:path>
              </a:pathLst>
            </a:custGeom>
            <a:solidFill>
              <a:srgbClr val="FFFFFF"/>
            </a:solidFill>
          </p:spPr>
        </p:sp>
        <p:sp>
          <p:nvSpPr>
            <p:cNvPr name="TextBox 23" id="23"/>
            <p:cNvSpPr txBox="true"/>
            <p:nvPr/>
          </p:nvSpPr>
          <p:spPr>
            <a:xfrm>
              <a:off x="0" y="-38100"/>
              <a:ext cx="457200" cy="165100"/>
            </a:xfrm>
            <a:prstGeom prst="rect">
              <a:avLst/>
            </a:prstGeom>
          </p:spPr>
          <p:txBody>
            <a:bodyPr anchor="ctr" rtlCol="false" tIns="50800" lIns="50800" bIns="50800" rIns="50800"/>
            <a:lstStyle/>
            <a:p>
              <a:pPr algn="l">
                <a:lnSpc>
                  <a:spcPts val="2799"/>
                </a:lnSpc>
              </a:pPr>
            </a:p>
          </p:txBody>
        </p:sp>
      </p:grpSp>
      <p:sp>
        <p:nvSpPr>
          <p:cNvPr name="TextBox 24" id="24"/>
          <p:cNvSpPr txBox="true"/>
          <p:nvPr/>
        </p:nvSpPr>
        <p:spPr>
          <a:xfrm rot="0">
            <a:off x="2305050" y="3057525"/>
            <a:ext cx="6305550" cy="511810"/>
          </a:xfrm>
          <a:prstGeom prst="rect">
            <a:avLst/>
          </a:prstGeom>
        </p:spPr>
        <p:txBody>
          <a:bodyPr anchor="t" rtlCol="false" tIns="0" lIns="0" bIns="0" rIns="0">
            <a:spAutoFit/>
          </a:bodyPr>
          <a:lstStyle/>
          <a:p>
            <a:pPr algn="l">
              <a:lnSpc>
                <a:spcPts val="4339"/>
              </a:lnSpc>
            </a:pPr>
            <a:r>
              <a:rPr lang="en-US" sz="3099" b="true">
                <a:solidFill>
                  <a:srgbClr val="3978C8"/>
                </a:solidFill>
                <a:latin typeface="Canva Sans Bold"/>
                <a:ea typeface="Canva Sans Bold"/>
                <a:cs typeface="Canva Sans Bold"/>
                <a:sym typeface="Canva Sans Bold"/>
              </a:rPr>
              <a:t>NHÓM ĐÃ THỰC HIỆN</a:t>
            </a:r>
          </a:p>
        </p:txBody>
      </p:sp>
      <p:sp>
        <p:nvSpPr>
          <p:cNvPr name="AutoShape 25" id="25"/>
          <p:cNvSpPr/>
          <p:nvPr/>
        </p:nvSpPr>
        <p:spPr>
          <a:xfrm>
            <a:off x="1276350" y="3905250"/>
            <a:ext cx="7334250" cy="0"/>
          </a:xfrm>
          <a:prstGeom prst="line">
            <a:avLst/>
          </a:prstGeom>
          <a:ln cap="flat" w="9525">
            <a:solidFill>
              <a:srgbClr val="C8D9EA"/>
            </a:solidFill>
            <a:prstDash val="solid"/>
            <a:headEnd type="none" len="sm" w="sm"/>
            <a:tailEnd type="none" len="sm" w="sm"/>
          </a:ln>
        </p:spPr>
      </p:sp>
      <p:grpSp>
        <p:nvGrpSpPr>
          <p:cNvPr name="Group 26" id="26"/>
          <p:cNvGrpSpPr/>
          <p:nvPr/>
        </p:nvGrpSpPr>
        <p:grpSpPr>
          <a:xfrm rot="0">
            <a:off x="9353550" y="2609850"/>
            <a:ext cx="7981950" cy="5429250"/>
            <a:chOff x="0" y="0"/>
            <a:chExt cx="10642600" cy="7239000"/>
          </a:xfrm>
        </p:grpSpPr>
        <p:sp>
          <p:nvSpPr>
            <p:cNvPr name="Freeform 27" id="27"/>
            <p:cNvSpPr/>
            <p:nvPr/>
          </p:nvSpPr>
          <p:spPr>
            <a:xfrm flipH="false" flipV="false" rot="0">
              <a:off x="0" y="0"/>
              <a:ext cx="10642600" cy="7239000"/>
            </a:xfrm>
            <a:custGeom>
              <a:avLst/>
              <a:gdLst/>
              <a:ahLst/>
              <a:cxnLst/>
              <a:rect r="r" b="b" t="t" l="l"/>
              <a:pathLst>
                <a:path h="7239000" w="10642600">
                  <a:moveTo>
                    <a:pt x="203200" y="0"/>
                  </a:moveTo>
                  <a:lnTo>
                    <a:pt x="10439400" y="0"/>
                  </a:lnTo>
                  <a:cubicBezTo>
                    <a:pt x="10551624" y="0"/>
                    <a:pt x="10642600" y="90976"/>
                    <a:pt x="10642600" y="203200"/>
                  </a:cubicBezTo>
                  <a:lnTo>
                    <a:pt x="10642600" y="7035800"/>
                  </a:lnTo>
                  <a:cubicBezTo>
                    <a:pt x="10642600" y="7148024"/>
                    <a:pt x="10551624" y="7239000"/>
                    <a:pt x="10439400" y="7239000"/>
                  </a:cubicBezTo>
                  <a:lnTo>
                    <a:pt x="203200" y="7239000"/>
                  </a:lnTo>
                  <a:cubicBezTo>
                    <a:pt x="90976" y="7239000"/>
                    <a:pt x="0" y="7148024"/>
                    <a:pt x="0" y="7035800"/>
                  </a:cubicBezTo>
                  <a:lnTo>
                    <a:pt x="0" y="203200"/>
                  </a:lnTo>
                  <a:cubicBezTo>
                    <a:pt x="0" y="90976"/>
                    <a:pt x="90976" y="0"/>
                    <a:pt x="203200" y="0"/>
                  </a:cubicBezTo>
                  <a:close/>
                </a:path>
              </a:pathLst>
            </a:custGeom>
            <a:solidFill>
              <a:srgbClr val="F4F8FF"/>
            </a:solidFill>
            <a:ln w="14288" cap="sq">
              <a:solidFill>
                <a:srgbClr val="2D91B8"/>
              </a:solidFill>
              <a:prstDash val="solid"/>
              <a:miter/>
            </a:ln>
          </p:spPr>
        </p:sp>
        <p:sp>
          <p:nvSpPr>
            <p:cNvPr name="TextBox 28" id="28"/>
            <p:cNvSpPr txBox="true"/>
            <p:nvPr/>
          </p:nvSpPr>
          <p:spPr>
            <a:xfrm>
              <a:off x="0" y="-38100"/>
              <a:ext cx="10642600" cy="7277100"/>
            </a:xfrm>
            <a:prstGeom prst="rect">
              <a:avLst/>
            </a:prstGeom>
          </p:spPr>
          <p:txBody>
            <a:bodyPr anchor="ctr" rtlCol="false" tIns="50800" lIns="50800" bIns="50800" rIns="50800"/>
            <a:lstStyle/>
            <a:p>
              <a:pPr algn="l">
                <a:lnSpc>
                  <a:spcPts val="2799"/>
                </a:lnSpc>
              </a:pPr>
            </a:p>
          </p:txBody>
        </p:sp>
      </p:grpSp>
      <p:grpSp>
        <p:nvGrpSpPr>
          <p:cNvPr name="Group 29" id="29"/>
          <p:cNvGrpSpPr/>
          <p:nvPr/>
        </p:nvGrpSpPr>
        <p:grpSpPr>
          <a:xfrm rot="0">
            <a:off x="9677400" y="2895600"/>
            <a:ext cx="781050" cy="781050"/>
            <a:chOff x="0" y="0"/>
            <a:chExt cx="1041400" cy="1041400"/>
          </a:xfrm>
        </p:grpSpPr>
        <p:sp>
          <p:nvSpPr>
            <p:cNvPr name="Freeform 30" id="30"/>
            <p:cNvSpPr/>
            <p:nvPr/>
          </p:nvSpPr>
          <p:spPr>
            <a:xfrm flipH="false" flipV="false" rot="0">
              <a:off x="0" y="0"/>
              <a:ext cx="1041400" cy="1041400"/>
            </a:xfrm>
            <a:custGeom>
              <a:avLst/>
              <a:gdLst/>
              <a:ahLst/>
              <a:cxnLst/>
              <a:rect r="r" b="b" t="t" l="l"/>
              <a:pathLst>
                <a:path h="1041400" w="1041400">
                  <a:moveTo>
                    <a:pt x="0" y="520700"/>
                  </a:moveTo>
                  <a:cubicBezTo>
                    <a:pt x="0" y="808275"/>
                    <a:pt x="233125" y="1041400"/>
                    <a:pt x="520700" y="1041400"/>
                  </a:cubicBezTo>
                  <a:cubicBezTo>
                    <a:pt x="808275" y="1041400"/>
                    <a:pt x="1041400" y="808275"/>
                    <a:pt x="1041400" y="520700"/>
                  </a:cubicBezTo>
                  <a:cubicBezTo>
                    <a:pt x="1041400" y="233125"/>
                    <a:pt x="808275" y="0"/>
                    <a:pt x="520700" y="0"/>
                  </a:cubicBezTo>
                  <a:cubicBezTo>
                    <a:pt x="233125" y="0"/>
                    <a:pt x="0" y="233125"/>
                    <a:pt x="0" y="520700"/>
                  </a:cubicBezTo>
                  <a:close/>
                </a:path>
              </a:pathLst>
            </a:custGeom>
            <a:solidFill>
              <a:srgbClr val="2D91B8"/>
            </a:solidFill>
          </p:spPr>
        </p:sp>
        <p:sp>
          <p:nvSpPr>
            <p:cNvPr name="TextBox 31" id="31"/>
            <p:cNvSpPr txBox="true"/>
            <p:nvPr/>
          </p:nvSpPr>
          <p:spPr>
            <a:xfrm>
              <a:off x="0" y="-38100"/>
              <a:ext cx="1041400" cy="1079500"/>
            </a:xfrm>
            <a:prstGeom prst="rect">
              <a:avLst/>
            </a:prstGeom>
          </p:spPr>
          <p:txBody>
            <a:bodyPr anchor="ctr" rtlCol="false" tIns="50800" lIns="50800" bIns="50800" rIns="50800"/>
            <a:lstStyle/>
            <a:p>
              <a:pPr algn="l">
                <a:lnSpc>
                  <a:spcPts val="2799"/>
                </a:lnSpc>
              </a:pPr>
            </a:p>
          </p:txBody>
        </p:sp>
      </p:grpSp>
      <p:grpSp>
        <p:nvGrpSpPr>
          <p:cNvPr name="Group 32" id="32"/>
          <p:cNvGrpSpPr/>
          <p:nvPr/>
        </p:nvGrpSpPr>
        <p:grpSpPr>
          <a:xfrm rot="0">
            <a:off x="9896475" y="3086100"/>
            <a:ext cx="342900" cy="400050"/>
            <a:chOff x="0" y="0"/>
            <a:chExt cx="457200" cy="533400"/>
          </a:xfrm>
        </p:grpSpPr>
        <p:sp>
          <p:nvSpPr>
            <p:cNvPr name="Freeform 33" id="33"/>
            <p:cNvSpPr/>
            <p:nvPr/>
          </p:nvSpPr>
          <p:spPr>
            <a:xfrm flipH="false" flipV="false" rot="0">
              <a:off x="0" y="0"/>
              <a:ext cx="457200" cy="533400"/>
            </a:xfrm>
            <a:custGeom>
              <a:avLst/>
              <a:gdLst/>
              <a:ahLst/>
              <a:cxnLst/>
              <a:rect r="r" b="b" t="t" l="l"/>
              <a:pathLst>
                <a:path h="533400" w="457200">
                  <a:moveTo>
                    <a:pt x="228600" y="0"/>
                  </a:moveTo>
                  <a:lnTo>
                    <a:pt x="457200" y="266700"/>
                  </a:lnTo>
                  <a:lnTo>
                    <a:pt x="228600" y="533400"/>
                  </a:lnTo>
                  <a:lnTo>
                    <a:pt x="0" y="266700"/>
                  </a:lnTo>
                  <a:close/>
                </a:path>
              </a:pathLst>
            </a:custGeom>
            <a:solidFill>
              <a:srgbClr val="FFFFFF"/>
            </a:solidFill>
          </p:spPr>
        </p:sp>
        <p:sp>
          <p:nvSpPr>
            <p:cNvPr name="TextBox 34" id="34"/>
            <p:cNvSpPr txBox="true"/>
            <p:nvPr/>
          </p:nvSpPr>
          <p:spPr>
            <a:xfrm>
              <a:off x="0" y="-38100"/>
              <a:ext cx="457200" cy="571500"/>
            </a:xfrm>
            <a:prstGeom prst="rect">
              <a:avLst/>
            </a:prstGeom>
          </p:spPr>
          <p:txBody>
            <a:bodyPr anchor="ctr" rtlCol="false" tIns="50800" lIns="50800" bIns="50800" rIns="50800"/>
            <a:lstStyle/>
            <a:p>
              <a:pPr algn="l">
                <a:lnSpc>
                  <a:spcPts val="2799"/>
                </a:lnSpc>
              </a:pPr>
            </a:p>
          </p:txBody>
        </p:sp>
      </p:grpSp>
      <p:sp>
        <p:nvSpPr>
          <p:cNvPr name="AutoShape 35" id="35"/>
          <p:cNvSpPr/>
          <p:nvPr/>
        </p:nvSpPr>
        <p:spPr>
          <a:xfrm>
            <a:off x="9982200" y="3324225"/>
            <a:ext cx="85725" cy="95250"/>
          </a:xfrm>
          <a:prstGeom prst="line">
            <a:avLst/>
          </a:prstGeom>
          <a:ln cap="flat" w="38100">
            <a:solidFill>
              <a:srgbClr val="2D91B8"/>
            </a:solidFill>
            <a:prstDash val="solid"/>
            <a:headEnd type="none" len="sm" w="sm"/>
            <a:tailEnd type="none" len="sm" w="sm"/>
          </a:ln>
        </p:spPr>
      </p:sp>
      <p:sp>
        <p:nvSpPr>
          <p:cNvPr name="AutoShape 36" id="36"/>
          <p:cNvSpPr/>
          <p:nvPr/>
        </p:nvSpPr>
        <p:spPr>
          <a:xfrm flipV="true">
            <a:off x="10067925" y="3219450"/>
            <a:ext cx="104775" cy="200025"/>
          </a:xfrm>
          <a:prstGeom prst="line">
            <a:avLst/>
          </a:prstGeom>
          <a:ln cap="flat" w="38100">
            <a:solidFill>
              <a:srgbClr val="2D91B8"/>
            </a:solidFill>
            <a:prstDash val="solid"/>
            <a:headEnd type="none" len="sm" w="sm"/>
            <a:tailEnd type="none" len="sm" w="sm"/>
          </a:ln>
        </p:spPr>
      </p:sp>
      <p:sp>
        <p:nvSpPr>
          <p:cNvPr name="TextBox 37" id="37"/>
          <p:cNvSpPr txBox="true"/>
          <p:nvPr/>
        </p:nvSpPr>
        <p:spPr>
          <a:xfrm rot="0">
            <a:off x="10706100" y="3057525"/>
            <a:ext cx="6305550" cy="511810"/>
          </a:xfrm>
          <a:prstGeom prst="rect">
            <a:avLst/>
          </a:prstGeom>
        </p:spPr>
        <p:txBody>
          <a:bodyPr anchor="t" rtlCol="false" tIns="0" lIns="0" bIns="0" rIns="0">
            <a:spAutoFit/>
          </a:bodyPr>
          <a:lstStyle/>
          <a:p>
            <a:pPr algn="l">
              <a:lnSpc>
                <a:spcPts val="4339"/>
              </a:lnSpc>
            </a:pPr>
            <a:r>
              <a:rPr lang="en-US" sz="3099" b="true">
                <a:solidFill>
                  <a:srgbClr val="2D91B8"/>
                </a:solidFill>
                <a:latin typeface="Canva Sans Bold"/>
                <a:ea typeface="Canva Sans Bold"/>
                <a:cs typeface="Canva Sans Bold"/>
                <a:sym typeface="Canva Sans Bold"/>
              </a:rPr>
              <a:t>HƯỚNG PHÁT TRIỂN</a:t>
            </a:r>
          </a:p>
        </p:txBody>
      </p:sp>
      <p:sp>
        <p:nvSpPr>
          <p:cNvPr name="AutoShape 38" id="38"/>
          <p:cNvSpPr/>
          <p:nvPr/>
        </p:nvSpPr>
        <p:spPr>
          <a:xfrm>
            <a:off x="9677400" y="3905250"/>
            <a:ext cx="7334250" cy="0"/>
          </a:xfrm>
          <a:prstGeom prst="line">
            <a:avLst/>
          </a:prstGeom>
          <a:ln cap="flat" w="9525">
            <a:solidFill>
              <a:srgbClr val="C8D9EA"/>
            </a:solidFill>
            <a:prstDash val="solid"/>
            <a:headEnd type="none" len="sm" w="sm"/>
            <a:tailEnd type="none" len="sm" w="sm"/>
          </a:ln>
        </p:spPr>
      </p:sp>
      <p:grpSp>
        <p:nvGrpSpPr>
          <p:cNvPr name="Group 39" id="39"/>
          <p:cNvGrpSpPr/>
          <p:nvPr/>
        </p:nvGrpSpPr>
        <p:grpSpPr>
          <a:xfrm rot="0">
            <a:off x="1295400" y="4314825"/>
            <a:ext cx="247650" cy="247650"/>
            <a:chOff x="0" y="0"/>
            <a:chExt cx="330200" cy="330200"/>
          </a:xfrm>
        </p:grpSpPr>
        <p:sp>
          <p:nvSpPr>
            <p:cNvPr name="Freeform 40" id="40"/>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3978C8"/>
            </a:solidFill>
          </p:spPr>
        </p:sp>
        <p:sp>
          <p:nvSpPr>
            <p:cNvPr name="TextBox 41" id="41"/>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42" id="42"/>
          <p:cNvSpPr txBox="true"/>
          <p:nvPr/>
        </p:nvSpPr>
        <p:spPr>
          <a:xfrm rot="0">
            <a:off x="1276350" y="4249737"/>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1</a:t>
            </a:r>
          </a:p>
        </p:txBody>
      </p:sp>
      <p:sp>
        <p:nvSpPr>
          <p:cNvPr name="TextBox 43" id="43"/>
          <p:cNvSpPr txBox="true"/>
          <p:nvPr/>
        </p:nvSpPr>
        <p:spPr>
          <a:xfrm rot="0">
            <a:off x="1733550" y="4267200"/>
            <a:ext cx="6858000" cy="749300"/>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Thiết kế CSDL 19 bảng với khóa và ràng buộc toàn vẹn.</a:t>
            </a:r>
          </a:p>
        </p:txBody>
      </p:sp>
      <p:grpSp>
        <p:nvGrpSpPr>
          <p:cNvPr name="Group 44" id="44"/>
          <p:cNvGrpSpPr/>
          <p:nvPr/>
        </p:nvGrpSpPr>
        <p:grpSpPr>
          <a:xfrm rot="0">
            <a:off x="1295400" y="5133975"/>
            <a:ext cx="247650" cy="247650"/>
            <a:chOff x="0" y="0"/>
            <a:chExt cx="330200" cy="330200"/>
          </a:xfrm>
        </p:grpSpPr>
        <p:sp>
          <p:nvSpPr>
            <p:cNvPr name="Freeform 45" id="45"/>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3978C8"/>
            </a:solidFill>
          </p:spPr>
        </p:sp>
        <p:sp>
          <p:nvSpPr>
            <p:cNvPr name="TextBox 46" id="46"/>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47" id="47"/>
          <p:cNvSpPr txBox="true"/>
          <p:nvPr/>
        </p:nvSpPr>
        <p:spPr>
          <a:xfrm rot="0">
            <a:off x="1295400" y="5095875"/>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2</a:t>
            </a:r>
          </a:p>
        </p:txBody>
      </p:sp>
      <p:sp>
        <p:nvSpPr>
          <p:cNvPr name="TextBox 48" id="48"/>
          <p:cNvSpPr txBox="true"/>
          <p:nvPr/>
        </p:nvSpPr>
        <p:spPr>
          <a:xfrm rot="0">
            <a:off x="1733550" y="5086350"/>
            <a:ext cx="6858000" cy="749300"/>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Xây dựng 14 trigger, 6 view, 7 function, 9 stored procedure và 19 index nghiệp vụ.</a:t>
            </a:r>
          </a:p>
        </p:txBody>
      </p:sp>
      <p:grpSp>
        <p:nvGrpSpPr>
          <p:cNvPr name="Group 49" id="49"/>
          <p:cNvGrpSpPr/>
          <p:nvPr/>
        </p:nvGrpSpPr>
        <p:grpSpPr>
          <a:xfrm rot="0">
            <a:off x="1295400" y="5953125"/>
            <a:ext cx="247650" cy="247650"/>
            <a:chOff x="0" y="0"/>
            <a:chExt cx="330200" cy="330200"/>
          </a:xfrm>
        </p:grpSpPr>
        <p:sp>
          <p:nvSpPr>
            <p:cNvPr name="Freeform 50" id="50"/>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3978C8"/>
            </a:solidFill>
          </p:spPr>
        </p:sp>
        <p:sp>
          <p:nvSpPr>
            <p:cNvPr name="TextBox 51" id="51"/>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52" id="52"/>
          <p:cNvSpPr txBox="true"/>
          <p:nvPr/>
        </p:nvSpPr>
        <p:spPr>
          <a:xfrm rot="0">
            <a:off x="1295400" y="5892801"/>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3</a:t>
            </a:r>
          </a:p>
        </p:txBody>
      </p:sp>
      <p:sp>
        <p:nvSpPr>
          <p:cNvPr name="TextBox 53" id="53"/>
          <p:cNvSpPr txBox="true"/>
          <p:nvPr/>
        </p:nvSpPr>
        <p:spPr>
          <a:xfrm rot="0">
            <a:off x="1733550" y="5905500"/>
            <a:ext cx="6858000" cy="749300"/>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Phân quyền 4 database role; ứng dụng web kết nối SQL Server.</a:t>
            </a:r>
          </a:p>
        </p:txBody>
      </p:sp>
      <p:grpSp>
        <p:nvGrpSpPr>
          <p:cNvPr name="Group 54" id="54"/>
          <p:cNvGrpSpPr/>
          <p:nvPr/>
        </p:nvGrpSpPr>
        <p:grpSpPr>
          <a:xfrm rot="0">
            <a:off x="1295400" y="6772275"/>
            <a:ext cx="247650" cy="247650"/>
            <a:chOff x="0" y="0"/>
            <a:chExt cx="330200" cy="330200"/>
          </a:xfrm>
        </p:grpSpPr>
        <p:sp>
          <p:nvSpPr>
            <p:cNvPr name="Freeform 55" id="55"/>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3978C8"/>
            </a:solidFill>
          </p:spPr>
        </p:sp>
        <p:sp>
          <p:nvSpPr>
            <p:cNvPr name="TextBox 56" id="56"/>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57" id="57"/>
          <p:cNvSpPr txBox="true"/>
          <p:nvPr/>
        </p:nvSpPr>
        <p:spPr>
          <a:xfrm rot="0">
            <a:off x="1295400" y="6708776"/>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4</a:t>
            </a:r>
          </a:p>
        </p:txBody>
      </p:sp>
      <p:sp>
        <p:nvSpPr>
          <p:cNvPr name="TextBox 58" id="58"/>
          <p:cNvSpPr txBox="true"/>
          <p:nvPr/>
        </p:nvSpPr>
        <p:spPr>
          <a:xfrm rot="0">
            <a:off x="1733550" y="6724650"/>
            <a:ext cx="6858000" cy="377825"/>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Kiểm thử API: 26/26 bộ test, 173/173 ca đạt.</a:t>
            </a:r>
          </a:p>
        </p:txBody>
      </p:sp>
      <p:grpSp>
        <p:nvGrpSpPr>
          <p:cNvPr name="Group 59" id="59"/>
          <p:cNvGrpSpPr/>
          <p:nvPr/>
        </p:nvGrpSpPr>
        <p:grpSpPr>
          <a:xfrm rot="0">
            <a:off x="9696450" y="4314825"/>
            <a:ext cx="247650" cy="247650"/>
            <a:chOff x="0" y="0"/>
            <a:chExt cx="330200" cy="330200"/>
          </a:xfrm>
        </p:grpSpPr>
        <p:sp>
          <p:nvSpPr>
            <p:cNvPr name="Freeform 60" id="60"/>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2D91B8"/>
            </a:solidFill>
          </p:spPr>
        </p:sp>
        <p:sp>
          <p:nvSpPr>
            <p:cNvPr name="TextBox 61" id="61"/>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62" id="62"/>
          <p:cNvSpPr txBox="true"/>
          <p:nvPr/>
        </p:nvSpPr>
        <p:spPr>
          <a:xfrm rot="0">
            <a:off x="9696450" y="4276725"/>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1</a:t>
            </a:r>
          </a:p>
        </p:txBody>
      </p:sp>
      <p:sp>
        <p:nvSpPr>
          <p:cNvPr name="TextBox 63" id="63"/>
          <p:cNvSpPr txBox="true"/>
          <p:nvPr/>
        </p:nvSpPr>
        <p:spPr>
          <a:xfrm rot="0">
            <a:off x="10134600" y="4267200"/>
            <a:ext cx="6858000" cy="749300"/>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Hoàn thiện giao diện quản trị để thao tác đầy đủ với môn học và lớp học phần.</a:t>
            </a:r>
          </a:p>
        </p:txBody>
      </p:sp>
      <p:grpSp>
        <p:nvGrpSpPr>
          <p:cNvPr name="Group 64" id="64"/>
          <p:cNvGrpSpPr/>
          <p:nvPr/>
        </p:nvGrpSpPr>
        <p:grpSpPr>
          <a:xfrm rot="0">
            <a:off x="9696450" y="5133975"/>
            <a:ext cx="247650" cy="247650"/>
            <a:chOff x="0" y="0"/>
            <a:chExt cx="330200" cy="330200"/>
          </a:xfrm>
        </p:grpSpPr>
        <p:sp>
          <p:nvSpPr>
            <p:cNvPr name="Freeform 65" id="65"/>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2D91B8"/>
            </a:solidFill>
          </p:spPr>
        </p:sp>
        <p:sp>
          <p:nvSpPr>
            <p:cNvPr name="TextBox 66" id="66"/>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67" id="67"/>
          <p:cNvSpPr txBox="true"/>
          <p:nvPr/>
        </p:nvSpPr>
        <p:spPr>
          <a:xfrm rot="0">
            <a:off x="9696450" y="5068887"/>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2</a:t>
            </a:r>
          </a:p>
        </p:txBody>
      </p:sp>
      <p:sp>
        <p:nvSpPr>
          <p:cNvPr name="TextBox 68" id="68"/>
          <p:cNvSpPr txBox="true"/>
          <p:nvPr/>
        </p:nvSpPr>
        <p:spPr>
          <a:xfrm rot="0">
            <a:off x="10134600" y="5086350"/>
            <a:ext cx="6858000" cy="749300"/>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Đo hiệu năng index và tự động hóa kiểm thử đăng ký đồng thời.</a:t>
            </a:r>
          </a:p>
        </p:txBody>
      </p:sp>
      <p:grpSp>
        <p:nvGrpSpPr>
          <p:cNvPr name="Group 69" id="69"/>
          <p:cNvGrpSpPr/>
          <p:nvPr/>
        </p:nvGrpSpPr>
        <p:grpSpPr>
          <a:xfrm rot="0">
            <a:off x="9696450" y="5953125"/>
            <a:ext cx="247650" cy="247650"/>
            <a:chOff x="0" y="0"/>
            <a:chExt cx="330200" cy="330200"/>
          </a:xfrm>
        </p:grpSpPr>
        <p:sp>
          <p:nvSpPr>
            <p:cNvPr name="Freeform 70" id="70"/>
            <p:cNvSpPr/>
            <p:nvPr/>
          </p:nvSpPr>
          <p:spPr>
            <a:xfrm flipH="false" flipV="false" rot="0">
              <a:off x="0" y="0"/>
              <a:ext cx="330200" cy="330200"/>
            </a:xfrm>
            <a:custGeom>
              <a:avLst/>
              <a:gdLst/>
              <a:ahLst/>
              <a:cxnLst/>
              <a:rect r="r" b="b" t="t" l="l"/>
              <a:pathLst>
                <a:path h="330200" w="330200">
                  <a:moveTo>
                    <a:pt x="0" y="165100"/>
                  </a:moveTo>
                  <a:cubicBezTo>
                    <a:pt x="0" y="256282"/>
                    <a:pt x="73918" y="330200"/>
                    <a:pt x="165100" y="330200"/>
                  </a:cubicBezTo>
                  <a:cubicBezTo>
                    <a:pt x="256282" y="330200"/>
                    <a:pt x="330200" y="256282"/>
                    <a:pt x="330200" y="165100"/>
                  </a:cubicBezTo>
                  <a:cubicBezTo>
                    <a:pt x="330200" y="73918"/>
                    <a:pt x="256282" y="0"/>
                    <a:pt x="165100" y="0"/>
                  </a:cubicBezTo>
                  <a:cubicBezTo>
                    <a:pt x="73918" y="0"/>
                    <a:pt x="0" y="73918"/>
                    <a:pt x="0" y="165100"/>
                  </a:cubicBezTo>
                  <a:close/>
                </a:path>
              </a:pathLst>
            </a:custGeom>
            <a:solidFill>
              <a:srgbClr val="2D91B8"/>
            </a:solidFill>
          </p:spPr>
        </p:sp>
        <p:sp>
          <p:nvSpPr>
            <p:cNvPr name="TextBox 71" id="71"/>
            <p:cNvSpPr txBox="true"/>
            <p:nvPr/>
          </p:nvSpPr>
          <p:spPr>
            <a:xfrm>
              <a:off x="0" y="-38100"/>
              <a:ext cx="330200" cy="368300"/>
            </a:xfrm>
            <a:prstGeom prst="rect">
              <a:avLst/>
            </a:prstGeom>
          </p:spPr>
          <p:txBody>
            <a:bodyPr anchor="ctr" rtlCol="false" tIns="50800" lIns="50800" bIns="50800" rIns="50800"/>
            <a:lstStyle/>
            <a:p>
              <a:pPr algn="l">
                <a:lnSpc>
                  <a:spcPts val="2799"/>
                </a:lnSpc>
              </a:pPr>
            </a:p>
          </p:txBody>
        </p:sp>
      </p:grpSp>
      <p:sp>
        <p:nvSpPr>
          <p:cNvPr name="TextBox 72" id="72"/>
          <p:cNvSpPr txBox="true"/>
          <p:nvPr/>
        </p:nvSpPr>
        <p:spPr>
          <a:xfrm rot="0">
            <a:off x="9696450" y="5888037"/>
            <a:ext cx="247650" cy="339726"/>
          </a:xfrm>
          <a:prstGeom prst="rect">
            <a:avLst/>
          </a:prstGeom>
        </p:spPr>
        <p:txBody>
          <a:bodyPr anchor="t" rtlCol="false" tIns="0" lIns="0" bIns="0" rIns="0">
            <a:spAutoFit/>
          </a:bodyPr>
          <a:lstStyle/>
          <a:p>
            <a:pPr algn="ctr">
              <a:lnSpc>
                <a:spcPts val="2799"/>
              </a:lnSpc>
            </a:pPr>
            <a:r>
              <a:rPr lang="en-US" sz="1999" b="true">
                <a:solidFill>
                  <a:srgbClr val="FFFFFF"/>
                </a:solidFill>
                <a:latin typeface="Canva Sans Bold"/>
                <a:ea typeface="Canva Sans Bold"/>
                <a:cs typeface="Canva Sans Bold"/>
                <a:sym typeface="Canva Sans Bold"/>
              </a:rPr>
              <a:t>3</a:t>
            </a:r>
          </a:p>
        </p:txBody>
      </p:sp>
      <p:sp>
        <p:nvSpPr>
          <p:cNvPr name="TextBox 73" id="73"/>
          <p:cNvSpPr txBox="true"/>
          <p:nvPr/>
        </p:nvSpPr>
        <p:spPr>
          <a:xfrm rot="0">
            <a:off x="10134600" y="5905500"/>
            <a:ext cx="6858000" cy="749300"/>
          </a:xfrm>
          <a:prstGeom prst="rect">
            <a:avLst/>
          </a:prstGeom>
        </p:spPr>
        <p:txBody>
          <a:bodyPr anchor="t" rtlCol="false" tIns="0" lIns="0" bIns="0" rIns="0">
            <a:spAutoFit/>
          </a:bodyPr>
          <a:lstStyle/>
          <a:p>
            <a:pPr algn="l">
              <a:lnSpc>
                <a:spcPts val="2949"/>
              </a:lnSpc>
            </a:pPr>
            <a:r>
              <a:rPr lang="en-US" sz="2499">
                <a:solidFill>
                  <a:srgbClr val="26384F"/>
                </a:solidFill>
                <a:latin typeface="Canva Sans"/>
                <a:ea typeface="Canva Sans"/>
                <a:cs typeface="Canva Sans"/>
                <a:sym typeface="Canva Sans"/>
              </a:rPr>
              <a:t>Mở rộng báo cáo học vụ, học phí và hoàn thiện quy trình triển khai, sao lưu.</a:t>
            </a:r>
          </a:p>
        </p:txBody>
      </p:sp>
      <p:grpSp>
        <p:nvGrpSpPr>
          <p:cNvPr name="Group 74" id="74"/>
          <p:cNvGrpSpPr/>
          <p:nvPr/>
        </p:nvGrpSpPr>
        <p:grpSpPr>
          <a:xfrm rot="0">
            <a:off x="952500" y="8420100"/>
            <a:ext cx="16383000" cy="1066800"/>
            <a:chOff x="0" y="0"/>
            <a:chExt cx="21844000" cy="1422400"/>
          </a:xfrm>
        </p:grpSpPr>
        <p:sp>
          <p:nvSpPr>
            <p:cNvPr name="Freeform 75" id="75"/>
            <p:cNvSpPr/>
            <p:nvPr/>
          </p:nvSpPr>
          <p:spPr>
            <a:xfrm flipH="false" flipV="false" rot="0">
              <a:off x="0" y="0"/>
              <a:ext cx="21844000" cy="1422400"/>
            </a:xfrm>
            <a:custGeom>
              <a:avLst/>
              <a:gdLst/>
              <a:ahLst/>
              <a:cxnLst/>
              <a:rect r="r" b="b" t="t" l="l"/>
              <a:pathLst>
                <a:path h="1422400" w="21844000">
                  <a:moveTo>
                    <a:pt x="203200" y="0"/>
                  </a:moveTo>
                  <a:lnTo>
                    <a:pt x="21640800" y="0"/>
                  </a:lnTo>
                  <a:cubicBezTo>
                    <a:pt x="21753024" y="0"/>
                    <a:pt x="21844000" y="90976"/>
                    <a:pt x="21844000" y="203200"/>
                  </a:cubicBezTo>
                  <a:lnTo>
                    <a:pt x="21844000" y="1219200"/>
                  </a:lnTo>
                  <a:cubicBezTo>
                    <a:pt x="21844000" y="1331424"/>
                    <a:pt x="21753024" y="1422400"/>
                    <a:pt x="21640800" y="1422400"/>
                  </a:cubicBezTo>
                  <a:lnTo>
                    <a:pt x="203200" y="1422400"/>
                  </a:lnTo>
                  <a:cubicBezTo>
                    <a:pt x="90976" y="1422400"/>
                    <a:pt x="0" y="1331424"/>
                    <a:pt x="0" y="1219200"/>
                  </a:cubicBezTo>
                  <a:lnTo>
                    <a:pt x="0" y="203200"/>
                  </a:lnTo>
                  <a:cubicBezTo>
                    <a:pt x="0" y="90976"/>
                    <a:pt x="90976" y="0"/>
                    <a:pt x="203200" y="0"/>
                  </a:cubicBezTo>
                  <a:close/>
                </a:path>
              </a:pathLst>
            </a:custGeom>
            <a:solidFill>
              <a:srgbClr val="173A78"/>
            </a:solidFill>
          </p:spPr>
        </p:sp>
        <p:sp>
          <p:nvSpPr>
            <p:cNvPr name="TextBox 76" id="76"/>
            <p:cNvSpPr txBox="true"/>
            <p:nvPr/>
          </p:nvSpPr>
          <p:spPr>
            <a:xfrm>
              <a:off x="0" y="-38100"/>
              <a:ext cx="21844000" cy="1460500"/>
            </a:xfrm>
            <a:prstGeom prst="rect">
              <a:avLst/>
            </a:prstGeom>
          </p:spPr>
          <p:txBody>
            <a:bodyPr anchor="ctr" rtlCol="false" tIns="50800" lIns="50800" bIns="50800" rIns="50800"/>
            <a:lstStyle/>
            <a:p>
              <a:pPr algn="l">
                <a:lnSpc>
                  <a:spcPts val="2799"/>
                </a:lnSpc>
              </a:pPr>
            </a:p>
          </p:txBody>
        </p:sp>
      </p:grpSp>
      <p:sp>
        <p:nvSpPr>
          <p:cNvPr name="TextBox 77" id="77"/>
          <p:cNvSpPr txBox="true"/>
          <p:nvPr/>
        </p:nvSpPr>
        <p:spPr>
          <a:xfrm rot="0">
            <a:off x="1276350" y="8582025"/>
            <a:ext cx="15582900" cy="790575"/>
          </a:xfrm>
          <a:prstGeom prst="rect">
            <a:avLst/>
          </a:prstGeom>
        </p:spPr>
        <p:txBody>
          <a:bodyPr anchor="t" rtlCol="false" tIns="0" lIns="0" bIns="0" rIns="0">
            <a:spAutoFit/>
          </a:bodyPr>
          <a:lstStyle/>
          <a:p>
            <a:pPr algn="ctr">
              <a:lnSpc>
                <a:spcPts val="3119"/>
              </a:lnSpc>
            </a:pPr>
            <a:r>
              <a:rPr lang="en-US" sz="2599" b="true">
                <a:solidFill>
                  <a:srgbClr val="FFFFFF"/>
                </a:solidFill>
                <a:latin typeface="Canva Sans Bold"/>
                <a:ea typeface="Canva Sans Bold"/>
                <a:cs typeface="Canva Sans Bold"/>
                <a:sym typeface="Canva Sans Bold"/>
              </a:rPr>
              <a:t>Hệ thống đã có nền tảng nghiệp vụ và dữ liệu; giai đoạn tiếp theo tập trung vào trải nghiệm sử dụng và kiểm chứng khi vận hành thực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DAHX4Gm0mIs</dc:identifier>
  <dcterms:modified xsi:type="dcterms:W3CDTF">2011-08-01T06:04:30Z</dcterms:modified>
  <cp:revision>1</cp:revision>
  <dc:title>Nhóm 16 - Hệ thống quản lý học vụ và đăng ký tín chỉ</dc:title>
</cp:coreProperties>
</file>